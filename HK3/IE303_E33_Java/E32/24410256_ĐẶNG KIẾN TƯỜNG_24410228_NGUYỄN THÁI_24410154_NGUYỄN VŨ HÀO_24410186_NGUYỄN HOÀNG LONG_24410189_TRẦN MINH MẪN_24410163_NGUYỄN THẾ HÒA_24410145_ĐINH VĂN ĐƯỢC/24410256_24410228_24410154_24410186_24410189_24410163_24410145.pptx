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63" r:id="rId4"/>
    <p:sldId id="306" r:id="rId5"/>
    <p:sldId id="307" r:id="rId6"/>
    <p:sldId id="308" r:id="rId7"/>
    <p:sldId id="276" r:id="rId8"/>
    <p:sldId id="304" r:id="rId9"/>
    <p:sldId id="277" r:id="rId10"/>
    <p:sldId id="274" r:id="rId11"/>
    <p:sldId id="278" r:id="rId12"/>
    <p:sldId id="279" r:id="rId13"/>
    <p:sldId id="309" r:id="rId14"/>
    <p:sldId id="310" r:id="rId15"/>
    <p:sldId id="280" r:id="rId16"/>
    <p:sldId id="311" r:id="rId17"/>
    <p:sldId id="282" r:id="rId18"/>
    <p:sldId id="312" r:id="rId19"/>
    <p:sldId id="313" r:id="rId20"/>
    <p:sldId id="281" r:id="rId21"/>
    <p:sldId id="283" r:id="rId22"/>
    <p:sldId id="275" r:id="rId23"/>
    <p:sldId id="285" r:id="rId24"/>
    <p:sldId id="303" r:id="rId25"/>
    <p:sldId id="286" r:id="rId26"/>
    <p:sldId id="284" r:id="rId27"/>
    <p:sldId id="287" r:id="rId28"/>
    <p:sldId id="288" r:id="rId29"/>
    <p:sldId id="314" r:id="rId30"/>
    <p:sldId id="289" r:id="rId31"/>
    <p:sldId id="290" r:id="rId32"/>
    <p:sldId id="315" r:id="rId33"/>
    <p:sldId id="291" r:id="rId34"/>
    <p:sldId id="292" r:id="rId35"/>
    <p:sldId id="316" r:id="rId36"/>
  </p:sldIdLst>
  <p:sldSz cx="12649200" cy="6856413"/>
  <p:notesSz cx="12649200" cy="9474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64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481638" cy="4746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164388" y="0"/>
            <a:ext cx="5481637" cy="474663"/>
          </a:xfrm>
          <a:prstGeom prst="rect">
            <a:avLst/>
          </a:prstGeom>
        </p:spPr>
        <p:txBody>
          <a:bodyPr vert="horz" lIns="91440" tIns="45720" rIns="91440" bIns="45720" rtlCol="0"/>
          <a:lstStyle>
            <a:lvl1pPr algn="r">
              <a:defRPr sz="1200"/>
            </a:lvl1pPr>
          </a:lstStyle>
          <a:p>
            <a:fld id="{02EA9C70-FD8F-4661-8648-A935C78E217A}" type="datetimeFigureOut">
              <a:rPr lang="en-US" smtClean="0"/>
              <a:t>02/08/2025</a:t>
            </a:fld>
            <a:endParaRPr lang="en-US"/>
          </a:p>
        </p:txBody>
      </p:sp>
      <p:sp>
        <p:nvSpPr>
          <p:cNvPr id="4" name="Slide Image Placeholder 3"/>
          <p:cNvSpPr>
            <a:spLocks noGrp="1" noRot="1" noChangeAspect="1"/>
          </p:cNvSpPr>
          <p:nvPr>
            <p:ph type="sldImg" idx="2"/>
          </p:nvPr>
        </p:nvSpPr>
        <p:spPr>
          <a:xfrm>
            <a:off x="3375025" y="1184275"/>
            <a:ext cx="5899150" cy="31972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65238" y="4559300"/>
            <a:ext cx="10118725" cy="37306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99538"/>
            <a:ext cx="5481638" cy="4746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164388" y="8999538"/>
            <a:ext cx="5481637" cy="474662"/>
          </a:xfrm>
          <a:prstGeom prst="rect">
            <a:avLst/>
          </a:prstGeom>
        </p:spPr>
        <p:txBody>
          <a:bodyPr vert="horz" lIns="91440" tIns="45720" rIns="91440" bIns="45720" rtlCol="0" anchor="b"/>
          <a:lstStyle>
            <a:lvl1pPr algn="r">
              <a:defRPr sz="1200"/>
            </a:lvl1pPr>
          </a:lstStyle>
          <a:p>
            <a:fld id="{D58F941D-AD26-4F26-AF43-DEF54D98BE30}" type="slidenum">
              <a:rPr lang="en-US" smtClean="0"/>
              <a:t>‹#›</a:t>
            </a:fld>
            <a:endParaRPr lang="en-US"/>
          </a:p>
        </p:txBody>
      </p:sp>
    </p:spTree>
    <p:extLst>
      <p:ext uri="{BB962C8B-B14F-4D97-AF65-F5344CB8AC3E}">
        <p14:creationId xmlns:p14="http://schemas.microsoft.com/office/powerpoint/2010/main" val="1862897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Actors?</a:t>
            </a:r>
          </a:p>
          <a:p>
            <a:r>
              <a:rPr lang="en-US" dirty="0"/>
              <a:t>Customer?</a:t>
            </a:r>
          </a:p>
          <a:p>
            <a:r>
              <a:rPr lang="en-US" dirty="0"/>
              <a:t>Pool/Swimlane</a:t>
            </a:r>
          </a:p>
          <a:p>
            <a:r>
              <a:rPr lang="en-US" dirty="0" err="1"/>
              <a:t>Mô</a:t>
            </a:r>
            <a:r>
              <a:rPr lang="en-US" dirty="0"/>
              <a:t> </a:t>
            </a:r>
            <a:r>
              <a:rPr lang="en-US" dirty="0" err="1"/>
              <a:t>tả</a:t>
            </a:r>
            <a:endParaRPr lang="en-US" dirty="0"/>
          </a:p>
        </p:txBody>
      </p:sp>
      <p:sp>
        <p:nvSpPr>
          <p:cNvPr id="4" name="Slide Number Placeholder 3"/>
          <p:cNvSpPr>
            <a:spLocks noGrp="1"/>
          </p:cNvSpPr>
          <p:nvPr>
            <p:ph type="sldNum" sz="quarter" idx="5"/>
          </p:nvPr>
        </p:nvSpPr>
        <p:spPr/>
        <p:txBody>
          <a:bodyPr/>
          <a:lstStyle/>
          <a:p>
            <a:fld id="{D58F941D-AD26-4F26-AF43-DEF54D98BE30}" type="slidenum">
              <a:rPr lang="en-US" smtClean="0"/>
              <a:t>10</a:t>
            </a:fld>
            <a:endParaRPr lang="en-US"/>
          </a:p>
        </p:txBody>
      </p:sp>
    </p:spTree>
    <p:extLst>
      <p:ext uri="{BB962C8B-B14F-4D97-AF65-F5344CB8AC3E}">
        <p14:creationId xmlns:p14="http://schemas.microsoft.com/office/powerpoint/2010/main" val="198780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42975" y="2125980"/>
            <a:ext cx="10687050" cy="1440180"/>
          </a:xfrm>
          <a:prstGeom prst="rect">
            <a:avLst/>
          </a:prstGeom>
        </p:spPr>
        <p:txBody>
          <a:bodyPr wrap="square" lIns="0" tIns="0" rIns="0" bIns="0">
            <a:spAutoFit/>
          </a:bodyPr>
          <a:lstStyle>
            <a:lvl1pPr>
              <a:defRPr sz="2500" b="1" i="0">
                <a:solidFill>
                  <a:schemeClr val="bg1"/>
                </a:solidFill>
                <a:latin typeface="Roboto"/>
                <a:cs typeface="Roboto"/>
              </a:defRPr>
            </a:lvl1pPr>
          </a:lstStyle>
          <a:p>
            <a:endParaRPr/>
          </a:p>
        </p:txBody>
      </p:sp>
      <p:sp>
        <p:nvSpPr>
          <p:cNvPr id="3" name="Holder 3"/>
          <p:cNvSpPr>
            <a:spLocks noGrp="1"/>
          </p:cNvSpPr>
          <p:nvPr>
            <p:ph type="subTitle" idx="4"/>
          </p:nvPr>
        </p:nvSpPr>
        <p:spPr>
          <a:xfrm>
            <a:off x="1885950" y="3840480"/>
            <a:ext cx="8801100" cy="1714500"/>
          </a:xfrm>
          <a:prstGeom prst="rect">
            <a:avLst/>
          </a:prstGeom>
        </p:spPr>
        <p:txBody>
          <a:bodyPr wrap="square" lIns="0" tIns="0" rIns="0" bIns="0">
            <a:spAutoFit/>
          </a:bodyPr>
          <a:lstStyle>
            <a:lvl1pPr>
              <a:defRPr sz="1300" b="0" i="0">
                <a:solidFill>
                  <a:schemeClr val="bg1"/>
                </a:solidFill>
                <a:latin typeface="Roboto"/>
                <a:cs typeface="Roboto"/>
              </a:defRPr>
            </a:lvl1pPr>
          </a:lstStyle>
          <a:p>
            <a:endParaRPr/>
          </a:p>
        </p:txBody>
      </p:sp>
      <p:sp>
        <p:nvSpPr>
          <p:cNvPr id="4" name="Holder 4"/>
          <p:cNvSpPr>
            <a:spLocks noGrp="1"/>
          </p:cNvSpPr>
          <p:nvPr>
            <p:ph type="ftr" sz="quarter" idx="5"/>
          </p:nvPr>
        </p:nvSpPr>
        <p:spPr/>
        <p:txBody>
          <a:bodyPr lIns="0" tIns="0" rIns="0" bIns="0"/>
          <a:lstStyle>
            <a:lvl1pPr>
              <a:defRPr sz="1150" b="0" i="0">
                <a:solidFill>
                  <a:schemeClr val="bg1"/>
                </a:solidFill>
                <a:latin typeface="Roboto"/>
                <a:cs typeface="Roboto"/>
              </a:defRPr>
            </a:lvl1p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sz="1300" b="0" i="0">
                <a:solidFill>
                  <a:schemeClr val="bg1"/>
                </a:solidFill>
                <a:latin typeface="Roboto"/>
                <a:cs typeface="Roboto"/>
              </a:defRPr>
            </a:lvl1pPr>
          </a:lstStyle>
          <a:p>
            <a:endParaRPr/>
          </a:p>
        </p:txBody>
      </p:sp>
      <p:sp>
        <p:nvSpPr>
          <p:cNvPr id="4" name="Holder 4"/>
          <p:cNvSpPr>
            <a:spLocks noGrp="1"/>
          </p:cNvSpPr>
          <p:nvPr>
            <p:ph type="ftr" sz="quarter" idx="5"/>
          </p:nvPr>
        </p:nvSpPr>
        <p:spPr/>
        <p:txBody>
          <a:bodyPr lIns="0" tIns="0" rIns="0" bIns="0"/>
          <a:lstStyle>
            <a:lvl1pPr>
              <a:defRPr sz="1150" b="0" i="0">
                <a:solidFill>
                  <a:schemeClr val="bg1"/>
                </a:solidFill>
                <a:latin typeface="Roboto"/>
                <a:cs typeface="Roboto"/>
              </a:defRPr>
            </a:lvl1p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573000" cy="6858000"/>
          </a:xfrm>
          <a:custGeom>
            <a:avLst/>
            <a:gdLst/>
            <a:ahLst/>
            <a:cxnLst/>
            <a:rect l="l" t="t" r="r" b="b"/>
            <a:pathLst>
              <a:path w="12573000" h="6858000">
                <a:moveTo>
                  <a:pt x="12572999" y="6857999"/>
                </a:moveTo>
                <a:lnTo>
                  <a:pt x="0" y="6857999"/>
                </a:lnTo>
                <a:lnTo>
                  <a:pt x="0" y="0"/>
                </a:lnTo>
                <a:lnTo>
                  <a:pt x="12572999" y="0"/>
                </a:lnTo>
                <a:lnTo>
                  <a:pt x="12572999" y="6857999"/>
                </a:lnTo>
                <a:close/>
              </a:path>
            </a:pathLst>
          </a:custGeom>
          <a:solidFill>
            <a:srgbClr val="092962"/>
          </a:solidFill>
        </p:spPr>
        <p:txBody>
          <a:bodyPr wrap="square" lIns="0" tIns="0" rIns="0" bIns="0" rtlCol="0"/>
          <a:lstStyle/>
          <a:p>
            <a:endParaRPr/>
          </a:p>
        </p:txBody>
      </p:sp>
      <p:sp>
        <p:nvSpPr>
          <p:cNvPr id="17" name="bg object 17"/>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500" b="1" i="0">
                <a:solidFill>
                  <a:schemeClr val="bg1"/>
                </a:solidFill>
                <a:latin typeface="Roboto"/>
                <a:cs typeface="Roboto"/>
              </a:defRPr>
            </a:lvl1pPr>
          </a:lstStyle>
          <a:p>
            <a:endParaRPr/>
          </a:p>
        </p:txBody>
      </p:sp>
      <p:sp>
        <p:nvSpPr>
          <p:cNvPr id="3" name="Holder 3"/>
          <p:cNvSpPr>
            <a:spLocks noGrp="1"/>
          </p:cNvSpPr>
          <p:nvPr>
            <p:ph sz="half" idx="2"/>
          </p:nvPr>
        </p:nvSpPr>
        <p:spPr>
          <a:xfrm>
            <a:off x="787399" y="1284605"/>
            <a:ext cx="5201285" cy="3712210"/>
          </a:xfrm>
          <a:prstGeom prst="rect">
            <a:avLst/>
          </a:prstGeom>
        </p:spPr>
        <p:txBody>
          <a:bodyPr wrap="square" lIns="0" tIns="0" rIns="0" bIns="0">
            <a:spAutoFit/>
          </a:bodyPr>
          <a:lstStyle>
            <a:lvl1pPr>
              <a:defRPr sz="1300" b="1" i="0">
                <a:solidFill>
                  <a:schemeClr val="bg1"/>
                </a:solidFill>
                <a:latin typeface="Roboto"/>
                <a:cs typeface="Roboto"/>
              </a:defRPr>
            </a:lvl1pPr>
          </a:lstStyle>
          <a:p>
            <a:endParaRPr/>
          </a:p>
        </p:txBody>
      </p:sp>
      <p:sp>
        <p:nvSpPr>
          <p:cNvPr id="4" name="Holder 4"/>
          <p:cNvSpPr>
            <a:spLocks noGrp="1"/>
          </p:cNvSpPr>
          <p:nvPr>
            <p:ph sz="half" idx="3"/>
          </p:nvPr>
        </p:nvSpPr>
        <p:spPr>
          <a:xfrm>
            <a:off x="6475095" y="1577340"/>
            <a:ext cx="5469255"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50" b="0" i="0">
                <a:solidFill>
                  <a:schemeClr val="bg1"/>
                </a:solidFill>
                <a:latin typeface="Roboto"/>
                <a:cs typeface="Roboto"/>
              </a:defRPr>
            </a:lvl1p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defRPr sz="1150" b="0" i="0">
                <a:solidFill>
                  <a:schemeClr val="bg1"/>
                </a:solidFill>
                <a:latin typeface="Roboto"/>
                <a:cs typeface="Roboto"/>
              </a:defRPr>
            </a:lvl1p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50" b="0" i="0">
                <a:solidFill>
                  <a:schemeClr val="bg1"/>
                </a:solidFill>
                <a:latin typeface="Roboto"/>
                <a:cs typeface="Roboto"/>
              </a:defRPr>
            </a:lvl1p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573000" cy="6858000"/>
          </a:xfrm>
          <a:custGeom>
            <a:avLst/>
            <a:gdLst/>
            <a:ahLst/>
            <a:cxnLst/>
            <a:rect l="l" t="t" r="r" b="b"/>
            <a:pathLst>
              <a:path w="12573000" h="6858000">
                <a:moveTo>
                  <a:pt x="12572999" y="6857999"/>
                </a:moveTo>
                <a:lnTo>
                  <a:pt x="0" y="6857999"/>
                </a:lnTo>
                <a:lnTo>
                  <a:pt x="0" y="0"/>
                </a:lnTo>
                <a:lnTo>
                  <a:pt x="12572999" y="0"/>
                </a:lnTo>
                <a:lnTo>
                  <a:pt x="12572999" y="6857999"/>
                </a:lnTo>
                <a:close/>
              </a:path>
            </a:pathLst>
          </a:custGeom>
          <a:solidFill>
            <a:srgbClr val="092962"/>
          </a:solidFill>
        </p:spPr>
        <p:txBody>
          <a:bodyPr wrap="square" lIns="0" tIns="0" rIns="0" bIns="0" rtlCol="0"/>
          <a:lstStyle/>
          <a:p>
            <a:endParaRPr/>
          </a:p>
        </p:txBody>
      </p:sp>
      <p:sp>
        <p:nvSpPr>
          <p:cNvPr id="2" name="Holder 2"/>
          <p:cNvSpPr>
            <a:spLocks noGrp="1"/>
          </p:cNvSpPr>
          <p:nvPr>
            <p:ph type="title"/>
          </p:nvPr>
        </p:nvSpPr>
        <p:spPr>
          <a:xfrm>
            <a:off x="558800" y="316995"/>
            <a:ext cx="5703570" cy="407034"/>
          </a:xfrm>
          <a:prstGeom prst="rect">
            <a:avLst/>
          </a:prstGeom>
        </p:spPr>
        <p:txBody>
          <a:bodyPr wrap="square" lIns="0" tIns="0" rIns="0" bIns="0">
            <a:spAutoFit/>
          </a:bodyPr>
          <a:lstStyle>
            <a:lvl1pPr>
              <a:defRPr sz="2500" b="1" i="0">
                <a:solidFill>
                  <a:schemeClr val="bg1"/>
                </a:solidFill>
                <a:latin typeface="Roboto"/>
                <a:cs typeface="Roboto"/>
              </a:defRPr>
            </a:lvl1pPr>
          </a:lstStyle>
          <a:p>
            <a:endParaRPr/>
          </a:p>
        </p:txBody>
      </p:sp>
      <p:sp>
        <p:nvSpPr>
          <p:cNvPr id="3" name="Holder 3"/>
          <p:cNvSpPr>
            <a:spLocks noGrp="1"/>
          </p:cNvSpPr>
          <p:nvPr>
            <p:ph type="body" idx="1"/>
          </p:nvPr>
        </p:nvSpPr>
        <p:spPr>
          <a:xfrm>
            <a:off x="1206499" y="1792858"/>
            <a:ext cx="6384290" cy="1854200"/>
          </a:xfrm>
          <a:prstGeom prst="rect">
            <a:avLst/>
          </a:prstGeom>
        </p:spPr>
        <p:txBody>
          <a:bodyPr wrap="square" lIns="0" tIns="0" rIns="0" bIns="0">
            <a:spAutoFit/>
          </a:bodyPr>
          <a:lstStyle>
            <a:lvl1pPr>
              <a:defRPr sz="1300" b="0" i="0">
                <a:solidFill>
                  <a:schemeClr val="bg1"/>
                </a:solidFill>
                <a:latin typeface="Roboto"/>
                <a:cs typeface="Roboto"/>
              </a:defRPr>
            </a:lvl1pPr>
          </a:lstStyle>
          <a:p>
            <a:endParaRPr/>
          </a:p>
        </p:txBody>
      </p:sp>
      <p:sp>
        <p:nvSpPr>
          <p:cNvPr id="4" name="Holder 4"/>
          <p:cNvSpPr>
            <a:spLocks noGrp="1"/>
          </p:cNvSpPr>
          <p:nvPr>
            <p:ph type="ftr" sz="quarter" idx="5"/>
          </p:nvPr>
        </p:nvSpPr>
        <p:spPr>
          <a:xfrm>
            <a:off x="5241825" y="6485851"/>
            <a:ext cx="2851784" cy="327660"/>
          </a:xfrm>
          <a:prstGeom prst="rect">
            <a:avLst/>
          </a:prstGeom>
        </p:spPr>
        <p:txBody>
          <a:bodyPr wrap="square" lIns="0" tIns="0" rIns="0" bIns="0">
            <a:spAutoFit/>
          </a:bodyPr>
          <a:lstStyle>
            <a:lvl1pPr>
              <a:defRPr sz="1150" b="0" i="0">
                <a:solidFill>
                  <a:schemeClr val="bg1"/>
                </a:solidFill>
                <a:latin typeface="Roboto"/>
                <a:cs typeface="Roboto"/>
              </a:defRPr>
            </a:lvl1p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
        <p:nvSpPr>
          <p:cNvPr id="5" name="Holder 5"/>
          <p:cNvSpPr>
            <a:spLocks noGrp="1"/>
          </p:cNvSpPr>
          <p:nvPr>
            <p:ph type="dt" sz="half" idx="6"/>
          </p:nvPr>
        </p:nvSpPr>
        <p:spPr>
          <a:xfrm>
            <a:off x="628650" y="6377940"/>
            <a:ext cx="289179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02/08/2025</a:t>
            </a:fld>
            <a:endParaRPr lang="en-US"/>
          </a:p>
        </p:txBody>
      </p:sp>
      <p:sp>
        <p:nvSpPr>
          <p:cNvPr id="6" name="Holder 6"/>
          <p:cNvSpPr>
            <a:spLocks noGrp="1"/>
          </p:cNvSpPr>
          <p:nvPr>
            <p:ph type="sldNum" sz="quarter" idx="7"/>
          </p:nvPr>
        </p:nvSpPr>
        <p:spPr>
          <a:xfrm>
            <a:off x="9052560" y="6377940"/>
            <a:ext cx="289179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9582149" y="476250"/>
            <a:ext cx="2419349" cy="571499"/>
          </a:xfrm>
          <a:prstGeom prst="rect">
            <a:avLst/>
          </a:prstGeom>
        </p:spPr>
      </p:pic>
      <p:sp>
        <p:nvSpPr>
          <p:cNvPr id="4" name="object 4"/>
          <p:cNvSpPr txBox="1">
            <a:spLocks noGrp="1"/>
          </p:cNvSpPr>
          <p:nvPr>
            <p:ph type="title"/>
          </p:nvPr>
        </p:nvSpPr>
        <p:spPr>
          <a:xfrm>
            <a:off x="1625302" y="2056606"/>
            <a:ext cx="9312910" cy="940001"/>
          </a:xfrm>
          <a:prstGeom prst="rect">
            <a:avLst/>
          </a:prstGeom>
        </p:spPr>
        <p:txBody>
          <a:bodyPr vert="horz" wrap="square" lIns="0" tIns="16510" rIns="0" bIns="0" rtlCol="0">
            <a:spAutoFit/>
          </a:bodyPr>
          <a:lstStyle/>
          <a:p>
            <a:pPr algn="ctr"/>
            <a:r>
              <a:rPr lang="en-US" sz="3000" dirty="0">
                <a:latin typeface="Times New Roman" panose="02020603050405020304" pitchFamily="18" charset="0"/>
                <a:cs typeface="Times New Roman" panose="02020603050405020304" pitchFamily="18" charset="0"/>
              </a:rPr>
              <a:t>TÌM HIỂU HỆ THỐNG QUY TRÌNH NGHIỆP VỤ CỦA CÔNG TY BOSCH</a:t>
            </a:r>
          </a:p>
        </p:txBody>
      </p:sp>
      <p:sp>
        <p:nvSpPr>
          <p:cNvPr id="5" name="object 5"/>
          <p:cNvSpPr/>
          <p:nvPr/>
        </p:nvSpPr>
        <p:spPr>
          <a:xfrm>
            <a:off x="2019299" y="3067048"/>
            <a:ext cx="8534400" cy="2494757"/>
          </a:xfrm>
          <a:custGeom>
            <a:avLst/>
            <a:gdLst/>
            <a:ahLst/>
            <a:cxnLst/>
            <a:rect l="l" t="t" r="r" b="b"/>
            <a:pathLst>
              <a:path w="8534400" h="1943100">
                <a:moveTo>
                  <a:pt x="8463202" y="1943099"/>
                </a:moveTo>
                <a:lnTo>
                  <a:pt x="71196" y="1943099"/>
                </a:lnTo>
                <a:lnTo>
                  <a:pt x="66241" y="1942612"/>
                </a:lnTo>
                <a:lnTo>
                  <a:pt x="29705" y="1927477"/>
                </a:lnTo>
                <a:lnTo>
                  <a:pt x="3885" y="1891437"/>
                </a:lnTo>
                <a:lnTo>
                  <a:pt x="0" y="1871903"/>
                </a:lnTo>
                <a:lnTo>
                  <a:pt x="0" y="1866899"/>
                </a:lnTo>
                <a:lnTo>
                  <a:pt x="0" y="71196"/>
                </a:lnTo>
                <a:lnTo>
                  <a:pt x="15621" y="29704"/>
                </a:lnTo>
                <a:lnTo>
                  <a:pt x="51661" y="3885"/>
                </a:lnTo>
                <a:lnTo>
                  <a:pt x="71196" y="0"/>
                </a:lnTo>
                <a:lnTo>
                  <a:pt x="8463202" y="0"/>
                </a:lnTo>
                <a:lnTo>
                  <a:pt x="8504694" y="15621"/>
                </a:lnTo>
                <a:lnTo>
                  <a:pt x="8530513" y="51661"/>
                </a:lnTo>
                <a:lnTo>
                  <a:pt x="8534398" y="71196"/>
                </a:lnTo>
                <a:lnTo>
                  <a:pt x="8534398" y="1871903"/>
                </a:lnTo>
                <a:lnTo>
                  <a:pt x="8518777" y="1913393"/>
                </a:lnTo>
                <a:lnTo>
                  <a:pt x="8482736" y="1939214"/>
                </a:lnTo>
                <a:lnTo>
                  <a:pt x="8468158" y="1942612"/>
                </a:lnTo>
                <a:lnTo>
                  <a:pt x="8463202" y="1943099"/>
                </a:lnTo>
                <a:close/>
              </a:path>
            </a:pathLst>
          </a:custGeom>
          <a:solidFill>
            <a:srgbClr val="FFFFFF">
              <a:alpha val="10198"/>
            </a:srgbClr>
          </a:solidFill>
        </p:spPr>
        <p:txBody>
          <a:bodyPr wrap="square" lIns="0" tIns="0" rIns="0" bIns="0" rtlCol="0"/>
          <a:lstStyle/>
          <a:p>
            <a:endParaRPr/>
          </a:p>
        </p:txBody>
      </p:sp>
      <p:sp>
        <p:nvSpPr>
          <p:cNvPr id="6" name="object 6"/>
          <p:cNvSpPr txBox="1"/>
          <p:nvPr/>
        </p:nvSpPr>
        <p:spPr>
          <a:xfrm>
            <a:off x="4483248" y="3347243"/>
            <a:ext cx="4279752" cy="322523"/>
          </a:xfrm>
          <a:prstGeom prst="rect">
            <a:avLst/>
          </a:prstGeom>
        </p:spPr>
        <p:txBody>
          <a:bodyPr vert="horz" wrap="square" lIns="0" tIns="14604" rIns="0" bIns="0" rtlCol="0">
            <a:spAutoFit/>
          </a:bodyPr>
          <a:lstStyle/>
          <a:p>
            <a:pPr marL="12700">
              <a:lnSpc>
                <a:spcPct val="100000"/>
              </a:lnSpc>
              <a:spcBef>
                <a:spcPts val="114"/>
              </a:spcBef>
            </a:pPr>
            <a:r>
              <a:rPr sz="2000" spc="-95" dirty="0">
                <a:solidFill>
                  <a:srgbClr val="FFFFFF"/>
                </a:solidFill>
                <a:latin typeface="Times New Roman" panose="02020603050405020304" pitchFamily="18" charset="0"/>
                <a:cs typeface="Times New Roman" panose="02020603050405020304" pitchFamily="18" charset="0"/>
              </a:rPr>
              <a:t>Môn:</a:t>
            </a:r>
            <a:r>
              <a:rPr sz="2000" spc="-15" dirty="0">
                <a:solidFill>
                  <a:srgbClr val="FFFFFF"/>
                </a:solidFill>
                <a:latin typeface="Times New Roman" panose="02020603050405020304" pitchFamily="18" charset="0"/>
                <a:cs typeface="Times New Roman" panose="02020603050405020304" pitchFamily="18" charset="0"/>
              </a:rPr>
              <a:t> </a:t>
            </a:r>
            <a:r>
              <a:rPr sz="2000" spc="-114" dirty="0">
                <a:solidFill>
                  <a:srgbClr val="FFFFFF"/>
                </a:solidFill>
                <a:latin typeface="Times New Roman" panose="02020603050405020304" pitchFamily="18" charset="0"/>
                <a:cs typeface="Times New Roman" panose="02020603050405020304" pitchFamily="18" charset="0"/>
              </a:rPr>
              <a:t>Hệ</a:t>
            </a:r>
            <a:r>
              <a:rPr sz="2000" spc="-45" dirty="0">
                <a:solidFill>
                  <a:srgbClr val="FFFFFF"/>
                </a:solidFill>
                <a:latin typeface="Times New Roman" panose="02020603050405020304" pitchFamily="18" charset="0"/>
                <a:cs typeface="Times New Roman" panose="02020603050405020304" pitchFamily="18" charset="0"/>
              </a:rPr>
              <a:t> </a:t>
            </a:r>
            <a:r>
              <a:rPr sz="2000" spc="-75" dirty="0">
                <a:solidFill>
                  <a:srgbClr val="FFFFFF"/>
                </a:solidFill>
                <a:latin typeface="Times New Roman" panose="02020603050405020304" pitchFamily="18" charset="0"/>
                <a:cs typeface="Times New Roman" panose="02020603050405020304" pitchFamily="18" charset="0"/>
              </a:rPr>
              <a:t>thống</a:t>
            </a:r>
            <a:r>
              <a:rPr sz="2000" spc="-15" dirty="0">
                <a:solidFill>
                  <a:srgbClr val="FFFFFF"/>
                </a:solidFill>
                <a:latin typeface="Times New Roman" panose="02020603050405020304" pitchFamily="18" charset="0"/>
                <a:cs typeface="Times New Roman" panose="02020603050405020304" pitchFamily="18" charset="0"/>
              </a:rPr>
              <a:t> </a:t>
            </a:r>
            <a:r>
              <a:rPr sz="2000" spc="-90" dirty="0">
                <a:solidFill>
                  <a:srgbClr val="FFFFFF"/>
                </a:solidFill>
                <a:latin typeface="Times New Roman" panose="02020603050405020304" pitchFamily="18" charset="0"/>
                <a:cs typeface="Times New Roman" panose="02020603050405020304" pitchFamily="18" charset="0"/>
              </a:rPr>
              <a:t>quản</a:t>
            </a:r>
            <a:r>
              <a:rPr sz="2000" spc="-10" dirty="0">
                <a:solidFill>
                  <a:srgbClr val="FFFFFF"/>
                </a:solidFill>
                <a:latin typeface="Times New Roman" panose="02020603050405020304" pitchFamily="18" charset="0"/>
                <a:cs typeface="Times New Roman" panose="02020603050405020304" pitchFamily="18" charset="0"/>
              </a:rPr>
              <a:t> </a:t>
            </a:r>
            <a:r>
              <a:rPr sz="2000" spc="-40" dirty="0">
                <a:solidFill>
                  <a:srgbClr val="FFFFFF"/>
                </a:solidFill>
                <a:latin typeface="Times New Roman" panose="02020603050405020304" pitchFamily="18" charset="0"/>
                <a:cs typeface="Times New Roman" panose="02020603050405020304" pitchFamily="18" charset="0"/>
              </a:rPr>
              <a:t>trị</a:t>
            </a:r>
            <a:r>
              <a:rPr sz="2000" spc="-50" dirty="0">
                <a:solidFill>
                  <a:srgbClr val="FFFFFF"/>
                </a:solidFill>
                <a:latin typeface="Times New Roman" panose="02020603050405020304" pitchFamily="18" charset="0"/>
                <a:cs typeface="Times New Roman" panose="02020603050405020304" pitchFamily="18" charset="0"/>
              </a:rPr>
              <a:t> </a:t>
            </a:r>
            <a:r>
              <a:rPr sz="2000" spc="-90" dirty="0">
                <a:solidFill>
                  <a:srgbClr val="FFFFFF"/>
                </a:solidFill>
                <a:latin typeface="Times New Roman" panose="02020603050405020304" pitchFamily="18" charset="0"/>
                <a:cs typeface="Times New Roman" panose="02020603050405020304" pitchFamily="18" charset="0"/>
              </a:rPr>
              <a:t>quy</a:t>
            </a:r>
            <a:r>
              <a:rPr sz="2000" spc="-10" dirty="0">
                <a:solidFill>
                  <a:srgbClr val="FFFFFF"/>
                </a:solidFill>
                <a:latin typeface="Times New Roman" panose="02020603050405020304" pitchFamily="18" charset="0"/>
                <a:cs typeface="Times New Roman" panose="02020603050405020304" pitchFamily="18" charset="0"/>
              </a:rPr>
              <a:t> </a:t>
            </a:r>
            <a:r>
              <a:rPr sz="2000" spc="-65" dirty="0">
                <a:solidFill>
                  <a:srgbClr val="FFFFFF"/>
                </a:solidFill>
                <a:latin typeface="Times New Roman" panose="02020603050405020304" pitchFamily="18" charset="0"/>
                <a:cs typeface="Times New Roman" panose="02020603050405020304" pitchFamily="18" charset="0"/>
              </a:rPr>
              <a:t>trình</a:t>
            </a:r>
            <a:r>
              <a:rPr sz="2000" spc="-15" dirty="0">
                <a:solidFill>
                  <a:srgbClr val="FFFFFF"/>
                </a:solidFill>
                <a:latin typeface="Times New Roman" panose="02020603050405020304" pitchFamily="18" charset="0"/>
                <a:cs typeface="Times New Roman" panose="02020603050405020304" pitchFamily="18" charset="0"/>
              </a:rPr>
              <a:t> </a:t>
            </a:r>
            <a:r>
              <a:rPr sz="2000" spc="-85" dirty="0">
                <a:solidFill>
                  <a:srgbClr val="FFFFFF"/>
                </a:solidFill>
                <a:latin typeface="Times New Roman" panose="02020603050405020304" pitchFamily="18" charset="0"/>
                <a:cs typeface="Times New Roman" panose="02020603050405020304" pitchFamily="18" charset="0"/>
              </a:rPr>
              <a:t>nghiệp</a:t>
            </a:r>
            <a:r>
              <a:rPr sz="2000" spc="-10" dirty="0">
                <a:solidFill>
                  <a:srgbClr val="FFFFFF"/>
                </a:solidFill>
                <a:latin typeface="Times New Roman" panose="02020603050405020304" pitchFamily="18" charset="0"/>
                <a:cs typeface="Times New Roman" panose="02020603050405020304" pitchFamily="18" charset="0"/>
              </a:rPr>
              <a:t> </a:t>
            </a:r>
            <a:r>
              <a:rPr sz="2000" spc="-25" dirty="0">
                <a:solidFill>
                  <a:srgbClr val="FFFFFF"/>
                </a:solidFill>
                <a:latin typeface="Times New Roman" panose="02020603050405020304" pitchFamily="18" charset="0"/>
                <a:cs typeface="Times New Roman" panose="02020603050405020304" pitchFamily="18" charset="0"/>
              </a:rPr>
              <a:t>vụ</a:t>
            </a:r>
            <a:endParaRPr sz="20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2311400" y="3974083"/>
            <a:ext cx="3556000" cy="1304203"/>
          </a:xfrm>
          <a:prstGeom prst="rect">
            <a:avLst/>
          </a:prstGeom>
        </p:spPr>
        <p:txBody>
          <a:bodyPr vert="horz" wrap="square" lIns="0" tIns="11430" rIns="0" bIns="0" rtlCol="0">
            <a:spAutoFit/>
          </a:bodyPr>
          <a:lstStyle/>
          <a:p>
            <a:r>
              <a:rPr lang="en-US" sz="1200" b="1" dirty="0">
                <a:solidFill>
                  <a:schemeClr val="bg1"/>
                </a:solidFill>
                <a:latin typeface="Times New Roman" panose="02020603050405020304" pitchFamily="18" charset="0"/>
                <a:cs typeface="Times New Roman" panose="02020603050405020304" pitchFamily="18" charset="0"/>
              </a:rPr>
              <a:t>24410256 – ĐẶNG KIẾN TƯỜNG (</a:t>
            </a:r>
            <a:r>
              <a:rPr lang="en-US" sz="1200" b="1" dirty="0" err="1">
                <a:solidFill>
                  <a:schemeClr val="bg1"/>
                </a:solidFill>
                <a:latin typeface="Times New Roman" panose="02020603050405020304" pitchFamily="18" charset="0"/>
                <a:cs typeface="Times New Roman" panose="02020603050405020304" pitchFamily="18" charset="0"/>
              </a:rPr>
              <a:t>Nhóm</a:t>
            </a:r>
            <a:r>
              <a:rPr lang="en-US" sz="1200" b="1" dirty="0">
                <a:solidFill>
                  <a:schemeClr val="bg1"/>
                </a:solidFill>
                <a:latin typeface="Times New Roman" panose="02020603050405020304" pitchFamily="18" charset="0"/>
                <a:cs typeface="Times New Roman" panose="02020603050405020304" pitchFamily="18" charset="0"/>
              </a:rPr>
              <a:t> </a:t>
            </a:r>
            <a:r>
              <a:rPr lang="en-US" sz="1200" b="1" dirty="0" err="1">
                <a:solidFill>
                  <a:schemeClr val="bg1"/>
                </a:solidFill>
                <a:latin typeface="Times New Roman" panose="02020603050405020304" pitchFamily="18" charset="0"/>
                <a:cs typeface="Times New Roman" panose="02020603050405020304" pitchFamily="18" charset="0"/>
              </a:rPr>
              <a:t>trưởng</a:t>
            </a:r>
            <a:r>
              <a:rPr lang="en-US" sz="1200" b="1"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a:p>
            <a:r>
              <a:rPr lang="en-US" sz="1200" b="1" dirty="0">
                <a:solidFill>
                  <a:schemeClr val="bg1"/>
                </a:solidFill>
                <a:latin typeface="Times New Roman" panose="02020603050405020304" pitchFamily="18" charset="0"/>
                <a:cs typeface="Times New Roman" panose="02020603050405020304" pitchFamily="18" charset="0"/>
              </a:rPr>
              <a:t>24410228 - NGUYỄN THÁI </a:t>
            </a:r>
            <a:endParaRPr lang="en-US" sz="1200" dirty="0">
              <a:solidFill>
                <a:schemeClr val="bg1"/>
              </a:solidFill>
              <a:latin typeface="Times New Roman" panose="02020603050405020304" pitchFamily="18" charset="0"/>
              <a:cs typeface="Times New Roman" panose="02020603050405020304" pitchFamily="18" charset="0"/>
            </a:endParaRPr>
          </a:p>
          <a:p>
            <a:r>
              <a:rPr lang="en-US" sz="1200" b="1" dirty="0">
                <a:solidFill>
                  <a:schemeClr val="bg1"/>
                </a:solidFill>
                <a:latin typeface="Times New Roman" panose="02020603050405020304" pitchFamily="18" charset="0"/>
                <a:cs typeface="Times New Roman" panose="02020603050405020304" pitchFamily="18" charset="0"/>
              </a:rPr>
              <a:t>24410154 - NGUYỄN VŨ HÀO </a:t>
            </a:r>
            <a:endParaRPr lang="en-US" sz="1200" dirty="0">
              <a:solidFill>
                <a:schemeClr val="bg1"/>
              </a:solidFill>
              <a:latin typeface="Times New Roman" panose="02020603050405020304" pitchFamily="18" charset="0"/>
              <a:cs typeface="Times New Roman" panose="02020603050405020304" pitchFamily="18" charset="0"/>
            </a:endParaRPr>
          </a:p>
          <a:p>
            <a:r>
              <a:rPr lang="en-US" sz="1200" b="1" dirty="0">
                <a:solidFill>
                  <a:schemeClr val="bg1"/>
                </a:solidFill>
                <a:latin typeface="Times New Roman" panose="02020603050405020304" pitchFamily="18" charset="0"/>
                <a:cs typeface="Times New Roman" panose="02020603050405020304" pitchFamily="18" charset="0"/>
              </a:rPr>
              <a:t>24410186 - NGUYỄN HOÀNG LONG </a:t>
            </a:r>
            <a:endParaRPr lang="en-US" sz="1200" dirty="0">
              <a:solidFill>
                <a:schemeClr val="bg1"/>
              </a:solidFill>
              <a:latin typeface="Times New Roman" panose="02020603050405020304" pitchFamily="18" charset="0"/>
              <a:cs typeface="Times New Roman" panose="02020603050405020304" pitchFamily="18" charset="0"/>
            </a:endParaRPr>
          </a:p>
          <a:p>
            <a:r>
              <a:rPr lang="en-US" sz="1200" b="1" dirty="0">
                <a:solidFill>
                  <a:schemeClr val="bg1"/>
                </a:solidFill>
                <a:latin typeface="Times New Roman" panose="02020603050405020304" pitchFamily="18" charset="0"/>
                <a:cs typeface="Times New Roman" panose="02020603050405020304" pitchFamily="18" charset="0"/>
              </a:rPr>
              <a:t>24410189 - TRẦN MINH MẪN </a:t>
            </a:r>
            <a:endParaRPr lang="en-US" sz="1200" dirty="0">
              <a:solidFill>
                <a:schemeClr val="bg1"/>
              </a:solidFill>
              <a:latin typeface="Times New Roman" panose="02020603050405020304" pitchFamily="18" charset="0"/>
              <a:cs typeface="Times New Roman" panose="02020603050405020304" pitchFamily="18" charset="0"/>
            </a:endParaRPr>
          </a:p>
          <a:p>
            <a:r>
              <a:rPr lang="en-US" sz="1200" b="1" dirty="0">
                <a:solidFill>
                  <a:schemeClr val="bg1"/>
                </a:solidFill>
                <a:latin typeface="Times New Roman" panose="02020603050405020304" pitchFamily="18" charset="0"/>
                <a:cs typeface="Times New Roman" panose="02020603050405020304" pitchFamily="18" charset="0"/>
              </a:rPr>
              <a:t>24410163 - NGUYỄN THẾ HÒA </a:t>
            </a:r>
            <a:endParaRPr lang="en-US" sz="1200" dirty="0">
              <a:solidFill>
                <a:schemeClr val="bg1"/>
              </a:solidFill>
              <a:latin typeface="Times New Roman" panose="02020603050405020304" pitchFamily="18" charset="0"/>
              <a:cs typeface="Times New Roman" panose="02020603050405020304" pitchFamily="18" charset="0"/>
            </a:endParaRPr>
          </a:p>
          <a:p>
            <a:r>
              <a:rPr lang="en-US" sz="1200" b="1" dirty="0">
                <a:solidFill>
                  <a:schemeClr val="bg1"/>
                </a:solidFill>
                <a:latin typeface="Times New Roman" panose="02020603050405020304" pitchFamily="18" charset="0"/>
                <a:cs typeface="Times New Roman" panose="02020603050405020304" pitchFamily="18" charset="0"/>
              </a:rPr>
              <a:t>24410145 - ĐINH VĂN ĐƯỢC</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6426199" y="3974083"/>
            <a:ext cx="3673475" cy="422295"/>
          </a:xfrm>
          <a:prstGeom prst="rect">
            <a:avLst/>
          </a:prstGeom>
        </p:spPr>
        <p:txBody>
          <a:bodyPr vert="horz" wrap="square" lIns="0" tIns="41910" rIns="0" bIns="0" rtlCol="0">
            <a:spAutoFit/>
          </a:bodyPr>
          <a:lstStyle/>
          <a:p>
            <a:pPr marL="12700">
              <a:spcBef>
                <a:spcPts val="330"/>
              </a:spcBef>
            </a:pPr>
            <a:r>
              <a:rPr sz="1200" b="1" spc="-80" dirty="0">
                <a:solidFill>
                  <a:schemeClr val="bg1"/>
                </a:solidFill>
                <a:latin typeface="Times New Roman" panose="02020603050405020304" pitchFamily="18" charset="0"/>
                <a:cs typeface="Times New Roman" panose="02020603050405020304" pitchFamily="18" charset="0"/>
              </a:rPr>
              <a:t>Lớp:</a:t>
            </a:r>
            <a:r>
              <a:rPr sz="1200" b="1" spc="-15" dirty="0">
                <a:solidFill>
                  <a:schemeClr val="bg1"/>
                </a:solidFill>
                <a:latin typeface="Times New Roman" panose="02020603050405020304" pitchFamily="18" charset="0"/>
                <a:cs typeface="Times New Roman" panose="02020603050405020304" pitchFamily="18" charset="0"/>
              </a:rPr>
              <a:t> </a:t>
            </a:r>
            <a:r>
              <a:rPr lang="en-US" sz="1200" dirty="0">
                <a:solidFill>
                  <a:schemeClr val="bg1"/>
                </a:solidFill>
                <a:latin typeface="Times New Roman" panose="02020603050405020304" pitchFamily="18" charset="0"/>
                <a:cs typeface="Times New Roman" panose="02020603050405020304" pitchFamily="18" charset="0"/>
              </a:rPr>
              <a:t>IE203.E32.LT.CNTT</a:t>
            </a:r>
            <a:endParaRPr sz="1200" dirty="0">
              <a:solidFill>
                <a:schemeClr val="bg1"/>
              </a:solidFill>
              <a:latin typeface="Times New Roman" panose="02020603050405020304" pitchFamily="18" charset="0"/>
              <a:cs typeface="Times New Roman" panose="02020603050405020304" pitchFamily="18" charset="0"/>
            </a:endParaRPr>
          </a:p>
          <a:p>
            <a:pPr marL="12700" marR="5080">
              <a:lnSpc>
                <a:spcPct val="115399"/>
              </a:lnSpc>
            </a:pPr>
            <a:r>
              <a:rPr sz="1200" b="1" spc="-80" dirty="0">
                <a:solidFill>
                  <a:schemeClr val="bg1"/>
                </a:solidFill>
                <a:latin typeface="Times New Roman" panose="02020603050405020304" pitchFamily="18" charset="0"/>
                <a:cs typeface="Times New Roman" panose="02020603050405020304" pitchFamily="18" charset="0"/>
              </a:rPr>
              <a:t>Trường:</a:t>
            </a:r>
            <a:r>
              <a:rPr sz="1200" b="1" spc="-25" dirty="0">
                <a:solidFill>
                  <a:schemeClr val="bg1"/>
                </a:solidFill>
                <a:latin typeface="Times New Roman" panose="02020603050405020304" pitchFamily="18" charset="0"/>
                <a:cs typeface="Times New Roman" panose="02020603050405020304" pitchFamily="18" charset="0"/>
              </a:rPr>
              <a:t> </a:t>
            </a:r>
            <a:r>
              <a:rPr sz="1200" spc="-20" dirty="0">
                <a:solidFill>
                  <a:schemeClr val="bg1"/>
                </a:solidFill>
                <a:latin typeface="Times New Roman" panose="02020603050405020304" pitchFamily="18" charset="0"/>
                <a:cs typeface="Times New Roman" panose="02020603050405020304" pitchFamily="18" charset="0"/>
              </a:rPr>
              <a:t>Đại </a:t>
            </a:r>
            <a:r>
              <a:rPr sz="1200" spc="-40" dirty="0">
                <a:solidFill>
                  <a:schemeClr val="bg1"/>
                </a:solidFill>
                <a:latin typeface="Times New Roman" panose="02020603050405020304" pitchFamily="18" charset="0"/>
                <a:cs typeface="Times New Roman" panose="02020603050405020304" pitchFamily="18" charset="0"/>
              </a:rPr>
              <a:t>học</a:t>
            </a:r>
            <a:r>
              <a:rPr sz="1200" spc="-20" dirty="0">
                <a:solidFill>
                  <a:schemeClr val="bg1"/>
                </a:solidFill>
                <a:latin typeface="Times New Roman" panose="02020603050405020304" pitchFamily="18" charset="0"/>
                <a:cs typeface="Times New Roman" panose="02020603050405020304" pitchFamily="18" charset="0"/>
              </a:rPr>
              <a:t> </a:t>
            </a:r>
            <a:r>
              <a:rPr sz="1200" spc="-65" dirty="0">
                <a:solidFill>
                  <a:schemeClr val="bg1"/>
                </a:solidFill>
                <a:latin typeface="Times New Roman" panose="02020603050405020304" pitchFamily="18" charset="0"/>
                <a:cs typeface="Times New Roman" panose="02020603050405020304" pitchFamily="18" charset="0"/>
              </a:rPr>
              <a:t>Công</a:t>
            </a:r>
            <a:r>
              <a:rPr sz="1200" spc="-20" dirty="0">
                <a:solidFill>
                  <a:schemeClr val="bg1"/>
                </a:solidFill>
                <a:latin typeface="Times New Roman" panose="02020603050405020304" pitchFamily="18" charset="0"/>
                <a:cs typeface="Times New Roman" panose="02020603050405020304" pitchFamily="18" charset="0"/>
              </a:rPr>
              <a:t> </a:t>
            </a:r>
            <a:r>
              <a:rPr sz="1200" spc="-60" dirty="0">
                <a:solidFill>
                  <a:schemeClr val="bg1"/>
                </a:solidFill>
                <a:latin typeface="Times New Roman" panose="02020603050405020304" pitchFamily="18" charset="0"/>
                <a:cs typeface="Times New Roman" panose="02020603050405020304" pitchFamily="18" charset="0"/>
              </a:rPr>
              <a:t>nghệ</a:t>
            </a:r>
            <a:r>
              <a:rPr sz="1200" spc="-75" dirty="0">
                <a:solidFill>
                  <a:schemeClr val="bg1"/>
                </a:solidFill>
                <a:latin typeface="Times New Roman" panose="02020603050405020304" pitchFamily="18" charset="0"/>
                <a:cs typeface="Times New Roman" panose="02020603050405020304" pitchFamily="18" charset="0"/>
              </a:rPr>
              <a:t> </a:t>
            </a:r>
            <a:r>
              <a:rPr sz="1200" spc="-65" dirty="0">
                <a:solidFill>
                  <a:schemeClr val="bg1"/>
                </a:solidFill>
                <a:latin typeface="Times New Roman" panose="02020603050405020304" pitchFamily="18" charset="0"/>
                <a:cs typeface="Times New Roman" panose="02020603050405020304" pitchFamily="18" charset="0"/>
              </a:rPr>
              <a:t>Thông</a:t>
            </a:r>
            <a:r>
              <a:rPr sz="1200" spc="-20" dirty="0">
                <a:solidFill>
                  <a:schemeClr val="bg1"/>
                </a:solidFill>
                <a:latin typeface="Times New Roman" panose="02020603050405020304" pitchFamily="18" charset="0"/>
                <a:cs typeface="Times New Roman" panose="02020603050405020304" pitchFamily="18" charset="0"/>
              </a:rPr>
              <a:t> </a:t>
            </a:r>
            <a:r>
              <a:rPr sz="1200" spc="-35" dirty="0">
                <a:solidFill>
                  <a:schemeClr val="bg1"/>
                </a:solidFill>
                <a:latin typeface="Times New Roman" panose="02020603050405020304" pitchFamily="18" charset="0"/>
                <a:cs typeface="Times New Roman" panose="02020603050405020304" pitchFamily="18" charset="0"/>
              </a:rPr>
              <a:t>tin</a:t>
            </a:r>
            <a:r>
              <a:rPr sz="1200" spc="-20" dirty="0">
                <a:solidFill>
                  <a:schemeClr val="bg1"/>
                </a:solidFill>
                <a:latin typeface="Times New Roman" panose="02020603050405020304" pitchFamily="18" charset="0"/>
                <a:cs typeface="Times New Roman" panose="02020603050405020304" pitchFamily="18" charset="0"/>
              </a:rPr>
              <a:t> </a:t>
            </a:r>
            <a:r>
              <a:rPr sz="1200" dirty="0">
                <a:solidFill>
                  <a:schemeClr val="bg1"/>
                </a:solidFill>
                <a:latin typeface="Times New Roman" panose="02020603050405020304" pitchFamily="18" charset="0"/>
                <a:cs typeface="Times New Roman" panose="02020603050405020304" pitchFamily="18" charset="0"/>
              </a:rPr>
              <a:t>-</a:t>
            </a:r>
            <a:r>
              <a:rPr sz="1200" spc="-20" dirty="0">
                <a:solidFill>
                  <a:schemeClr val="bg1"/>
                </a:solidFill>
                <a:latin typeface="Times New Roman" panose="02020603050405020304" pitchFamily="18" charset="0"/>
                <a:cs typeface="Times New Roman" panose="02020603050405020304" pitchFamily="18" charset="0"/>
              </a:rPr>
              <a:t> </a:t>
            </a:r>
            <a:r>
              <a:rPr sz="1200" spc="-70" dirty="0">
                <a:solidFill>
                  <a:schemeClr val="bg1"/>
                </a:solidFill>
                <a:latin typeface="Times New Roman" panose="02020603050405020304" pitchFamily="18" charset="0"/>
                <a:cs typeface="Times New Roman" panose="02020603050405020304" pitchFamily="18" charset="0"/>
              </a:rPr>
              <a:t>ĐHQG</a:t>
            </a:r>
            <a:r>
              <a:rPr sz="1200" spc="-45" dirty="0">
                <a:solidFill>
                  <a:schemeClr val="bg1"/>
                </a:solidFill>
                <a:latin typeface="Times New Roman" panose="02020603050405020304" pitchFamily="18" charset="0"/>
                <a:cs typeface="Times New Roman" panose="02020603050405020304" pitchFamily="18" charset="0"/>
              </a:rPr>
              <a:t> </a:t>
            </a:r>
            <a:r>
              <a:rPr sz="1200" spc="-90" dirty="0">
                <a:solidFill>
                  <a:schemeClr val="bg1"/>
                </a:solidFill>
                <a:latin typeface="Times New Roman" panose="02020603050405020304" pitchFamily="18" charset="0"/>
                <a:cs typeface="Times New Roman" panose="02020603050405020304" pitchFamily="18" charset="0"/>
              </a:rPr>
              <a:t>TP.HCM </a:t>
            </a:r>
            <a:r>
              <a:rPr sz="1200" spc="-10" dirty="0">
                <a:solidFill>
                  <a:schemeClr val="bg1"/>
                </a:solidFill>
                <a:latin typeface="Times New Roman" panose="02020603050405020304" pitchFamily="18" charset="0"/>
                <a:cs typeface="Times New Roman" panose="02020603050405020304" pitchFamily="18" charset="0"/>
              </a:rPr>
              <a:t>(UIT)</a:t>
            </a:r>
            <a:endParaRPr sz="1200" dirty="0">
              <a:solidFill>
                <a:schemeClr val="bg1"/>
              </a:solidFill>
              <a:latin typeface="Times New Roman" panose="02020603050405020304" pitchFamily="18" charset="0"/>
              <a:cs typeface="Times New Roman" panose="02020603050405020304" pitchFamily="18" charset="0"/>
            </a:endParaRPr>
          </a:p>
        </p:txBody>
      </p:sp>
      <p:sp>
        <p:nvSpPr>
          <p:cNvPr id="10" name="object 8">
            <a:extLst>
              <a:ext uri="{FF2B5EF4-FFF2-40B4-BE49-F238E27FC236}">
                <a16:creationId xmlns:a16="http://schemas.microsoft.com/office/drawing/2014/main" id="{F4D29884-C01B-CFE1-6EE4-1443D6361B93}"/>
              </a:ext>
            </a:extLst>
          </p:cNvPr>
          <p:cNvSpPr txBox="1"/>
          <p:nvPr/>
        </p:nvSpPr>
        <p:spPr>
          <a:xfrm>
            <a:off x="6426198" y="4648394"/>
            <a:ext cx="3673475" cy="226985"/>
          </a:xfrm>
          <a:prstGeom prst="rect">
            <a:avLst/>
          </a:prstGeom>
        </p:spPr>
        <p:txBody>
          <a:bodyPr vert="horz" wrap="square" lIns="0" tIns="41910" rIns="0" bIns="0" rtlCol="0">
            <a:spAutoFit/>
          </a:bodyPr>
          <a:lstStyle/>
          <a:p>
            <a:pPr marL="12700">
              <a:spcBef>
                <a:spcPts val="330"/>
              </a:spcBef>
            </a:pPr>
            <a:r>
              <a:rPr lang="en-US" sz="1200" dirty="0">
                <a:solidFill>
                  <a:schemeClr val="bg1"/>
                </a:solidFill>
                <a:latin typeface="Times New Roman" panose="02020603050405020304" pitchFamily="18" charset="0"/>
                <a:cs typeface="Times New Roman" panose="02020603050405020304" pitchFamily="18" charset="0"/>
              </a:rPr>
              <a:t>GVHD: </a:t>
            </a:r>
            <a:r>
              <a:rPr lang="en-US" sz="1200" dirty="0" err="1">
                <a:solidFill>
                  <a:schemeClr val="bg1"/>
                </a:solidFill>
                <a:latin typeface="Times New Roman" panose="02020603050405020304" pitchFamily="18" charset="0"/>
                <a:cs typeface="Times New Roman" panose="02020603050405020304" pitchFamily="18" charset="0"/>
              </a:rPr>
              <a:t>Ths</a:t>
            </a:r>
            <a:r>
              <a:rPr lang="en-US" sz="1200" dirty="0">
                <a:solidFill>
                  <a:schemeClr val="bg1"/>
                </a:solidFill>
                <a:latin typeface="Times New Roman" panose="02020603050405020304" pitchFamily="18" charset="0"/>
                <a:cs typeface="Times New Roman" panose="02020603050405020304" pitchFamily="18" charset="0"/>
              </a:rPr>
              <a:t>. HÀ LÊ HOÀI TRUNG</a:t>
            </a:r>
            <a:endParaRPr sz="12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649200" cy="7086600"/>
          </a:xfrm>
          <a:custGeom>
            <a:avLst/>
            <a:gdLst/>
            <a:ahLst/>
            <a:cxnLst/>
            <a:rect l="l" t="t" r="r" b="b"/>
            <a:pathLst>
              <a:path w="12649200" h="7086600">
                <a:moveTo>
                  <a:pt x="12649198" y="7086599"/>
                </a:moveTo>
                <a:lnTo>
                  <a:pt x="0" y="7086599"/>
                </a:lnTo>
                <a:lnTo>
                  <a:pt x="0" y="0"/>
                </a:lnTo>
                <a:lnTo>
                  <a:pt x="12649198" y="0"/>
                </a:lnTo>
                <a:lnTo>
                  <a:pt x="12649198" y="7086599"/>
                </a:lnTo>
                <a:close/>
              </a:path>
            </a:pathLst>
          </a:custGeom>
          <a:solidFill>
            <a:srgbClr val="092962"/>
          </a:solidFill>
        </p:spPr>
        <p:txBody>
          <a:bodyPr wrap="square" lIns="0" tIns="0" rIns="0" bIns="0" rtlCol="0"/>
          <a:lstStyle/>
          <a:p>
            <a:endParaRPr/>
          </a:p>
        </p:txBody>
      </p:sp>
      <p:sp>
        <p:nvSpPr>
          <p:cNvPr id="3" name="object 3"/>
          <p:cNvSpPr/>
          <p:nvPr/>
        </p:nvSpPr>
        <p:spPr>
          <a:xfrm>
            <a:off x="685799" y="952499"/>
            <a:ext cx="11277600" cy="28575"/>
          </a:xfrm>
          <a:custGeom>
            <a:avLst/>
            <a:gdLst/>
            <a:ahLst/>
            <a:cxnLst/>
            <a:rect l="l" t="t" r="r" b="b"/>
            <a:pathLst>
              <a:path w="11277600" h="28575">
                <a:moveTo>
                  <a:pt x="11277599" y="28574"/>
                </a:moveTo>
                <a:lnTo>
                  <a:pt x="0" y="28574"/>
                </a:lnTo>
                <a:lnTo>
                  <a:pt x="0" y="0"/>
                </a:lnTo>
                <a:lnTo>
                  <a:pt x="11277599" y="0"/>
                </a:lnTo>
                <a:lnTo>
                  <a:pt x="11277599" y="28574"/>
                </a:lnTo>
                <a:close/>
              </a:path>
            </a:pathLst>
          </a:custGeom>
          <a:solidFill>
            <a:srgbClr val="FFFFFF">
              <a:alpha val="19999"/>
            </a:srgbClr>
          </a:solidFill>
        </p:spPr>
        <p:txBody>
          <a:bodyPr wrap="square" lIns="0" tIns="0" rIns="0" bIns="0" rtlCol="0"/>
          <a:lstStyle/>
          <a:p>
            <a:endParaRPr/>
          </a:p>
        </p:txBody>
      </p:sp>
      <p:sp>
        <p:nvSpPr>
          <p:cNvPr id="4" name="object 4"/>
          <p:cNvSpPr txBox="1">
            <a:spLocks noGrp="1"/>
          </p:cNvSpPr>
          <p:nvPr>
            <p:ph type="title"/>
          </p:nvPr>
        </p:nvSpPr>
        <p:spPr>
          <a:xfrm>
            <a:off x="673099" y="367823"/>
            <a:ext cx="1300480" cy="483234"/>
          </a:xfrm>
          <a:prstGeom prst="rect">
            <a:avLst/>
          </a:prstGeom>
        </p:spPr>
        <p:txBody>
          <a:bodyPr vert="horz" wrap="square" lIns="0" tIns="12700" rIns="0" bIns="0" rtlCol="0">
            <a:spAutoFit/>
          </a:bodyPr>
          <a:lstStyle/>
          <a:p>
            <a:pPr marL="12700">
              <a:lnSpc>
                <a:spcPct val="100000"/>
              </a:lnSpc>
              <a:spcBef>
                <a:spcPts val="100"/>
              </a:spcBef>
            </a:pPr>
            <a:r>
              <a:rPr sz="3000" spc="-125" dirty="0">
                <a:latin typeface="Comic Sans MS"/>
                <a:cs typeface="Comic Sans MS"/>
              </a:rPr>
              <a:t>M</a:t>
            </a:r>
            <a:r>
              <a:rPr sz="2600" spc="-125" dirty="0">
                <a:latin typeface="Arial"/>
                <a:cs typeface="Arial"/>
              </a:rPr>
              <a:t>ụ</a:t>
            </a:r>
            <a:r>
              <a:rPr sz="3000" spc="-125" dirty="0">
                <a:latin typeface="Comic Sans MS"/>
                <a:cs typeface="Comic Sans MS"/>
              </a:rPr>
              <a:t>c</a:t>
            </a:r>
            <a:r>
              <a:rPr sz="3000" spc="-465" dirty="0">
                <a:latin typeface="Comic Sans MS"/>
                <a:cs typeface="Comic Sans MS"/>
              </a:rPr>
              <a:t> </a:t>
            </a:r>
            <a:r>
              <a:rPr sz="3000" spc="-40" dirty="0">
                <a:latin typeface="Comic Sans MS"/>
                <a:cs typeface="Comic Sans MS"/>
              </a:rPr>
              <a:t>l</a:t>
            </a:r>
            <a:r>
              <a:rPr sz="2600" spc="-40" dirty="0">
                <a:latin typeface="Arial"/>
                <a:cs typeface="Arial"/>
              </a:rPr>
              <a:t>ụ</a:t>
            </a:r>
            <a:r>
              <a:rPr sz="3000" spc="-40" dirty="0">
                <a:latin typeface="Comic Sans MS"/>
                <a:cs typeface="Comic Sans MS"/>
              </a:rPr>
              <a:t>c</a:t>
            </a:r>
            <a:endParaRPr sz="3000">
              <a:latin typeface="Comic Sans MS"/>
              <a:cs typeface="Comic Sans MS"/>
            </a:endParaRPr>
          </a:p>
        </p:txBody>
      </p:sp>
      <p:sp>
        <p:nvSpPr>
          <p:cNvPr id="5" name="object 5"/>
          <p:cNvSpPr txBox="1"/>
          <p:nvPr/>
        </p:nvSpPr>
        <p:spPr>
          <a:xfrm>
            <a:off x="1282699" y="1451768"/>
            <a:ext cx="6108701" cy="2961707"/>
          </a:xfrm>
          <a:prstGeom prst="rect">
            <a:avLst/>
          </a:prstGeom>
        </p:spPr>
        <p:txBody>
          <a:bodyPr vert="horz" wrap="square" lIns="0" tIns="14604" rIns="0" bIns="0" rtlCol="0">
            <a:spAutoFit/>
          </a:bodyPr>
          <a:lstStyle/>
          <a:p>
            <a:pPr marL="338455" indent="-325755">
              <a:lnSpc>
                <a:spcPct val="100000"/>
              </a:lnSpc>
              <a:spcBef>
                <a:spcPts val="114"/>
              </a:spcBef>
              <a:buSzPct val="96969"/>
              <a:buFont typeface="Arial Nova"/>
              <a:buAutoNum type="arabicPeriod"/>
              <a:tabLst>
                <a:tab pos="338455" algn="l"/>
              </a:tabLst>
            </a:pPr>
            <a:r>
              <a:rPr lang="en-US" sz="1650" spc="-105" dirty="0" err="1">
                <a:solidFill>
                  <a:srgbClr val="FFFFFF"/>
                </a:solidFill>
                <a:latin typeface="Roboto"/>
                <a:cs typeface="Roboto"/>
              </a:rPr>
              <a:t>Tổng</a:t>
            </a:r>
            <a:r>
              <a:rPr lang="en-US" sz="1650" spc="-105" dirty="0">
                <a:solidFill>
                  <a:srgbClr val="FFFFFF"/>
                </a:solidFill>
                <a:latin typeface="Roboto"/>
                <a:cs typeface="Roboto"/>
              </a:rPr>
              <a:t> </a:t>
            </a:r>
            <a:r>
              <a:rPr lang="en-US" sz="1650" spc="-105" dirty="0" err="1">
                <a:solidFill>
                  <a:srgbClr val="FFFFFF"/>
                </a:solidFill>
                <a:latin typeface="Roboto"/>
                <a:cs typeface="Roboto"/>
              </a:rPr>
              <a:t>quan</a:t>
            </a:r>
            <a:r>
              <a:rPr lang="en-US" sz="1650" spc="-105" dirty="0">
                <a:solidFill>
                  <a:srgbClr val="FFFFFF"/>
                </a:solidFill>
                <a:latin typeface="Roboto"/>
                <a:cs typeface="Roboto"/>
              </a:rPr>
              <a:t> </a:t>
            </a:r>
            <a:r>
              <a:rPr lang="en-US" sz="1650" spc="-105" dirty="0" err="1">
                <a:solidFill>
                  <a:srgbClr val="FFFFFF"/>
                </a:solidFill>
                <a:latin typeface="Roboto"/>
                <a:cs typeface="Roboto"/>
              </a:rPr>
              <a:t>về</a:t>
            </a:r>
            <a:r>
              <a:rPr lang="en-US" sz="1650" spc="-105" dirty="0">
                <a:solidFill>
                  <a:srgbClr val="FFFFFF"/>
                </a:solidFill>
                <a:latin typeface="Roboto"/>
                <a:cs typeface="Roboto"/>
              </a:rPr>
              <a:t> BOSCH</a:t>
            </a:r>
            <a:endParaRPr sz="1650" dirty="0">
              <a:latin typeface="Roboto"/>
              <a:cs typeface="Roboto"/>
            </a:endParaRPr>
          </a:p>
          <a:p>
            <a:pPr>
              <a:lnSpc>
                <a:spcPct val="100000"/>
              </a:lnSpc>
              <a:spcBef>
                <a:spcPts val="420"/>
              </a:spcBef>
              <a:buClr>
                <a:srgbClr val="FFFFFF"/>
              </a:buClr>
              <a:buFont typeface="Arial Nova"/>
              <a:buAutoNum type="arabicPeriod"/>
            </a:pPr>
            <a:endParaRPr sz="1500" dirty="0">
              <a:latin typeface="Roboto"/>
              <a:cs typeface="Roboto"/>
            </a:endParaRPr>
          </a:p>
          <a:p>
            <a:pPr marL="338455" indent="-325755">
              <a:lnSpc>
                <a:spcPct val="100000"/>
              </a:lnSpc>
              <a:buSzPct val="96969"/>
              <a:buFont typeface="Arial Nova"/>
              <a:buAutoNum type="arabicPeriod"/>
              <a:tabLst>
                <a:tab pos="338455" algn="l"/>
              </a:tabLst>
            </a:pPr>
            <a:r>
              <a:rPr lang="en-US" sz="1650" spc="-125" dirty="0" err="1">
                <a:solidFill>
                  <a:srgbClr val="FFFFFF"/>
                </a:solidFill>
                <a:latin typeface="Roboto"/>
                <a:cs typeface="Roboto"/>
              </a:rPr>
              <a:t>Phân</a:t>
            </a:r>
            <a:r>
              <a:rPr lang="en-US" sz="1650" spc="-125" dirty="0">
                <a:solidFill>
                  <a:srgbClr val="FFFFFF"/>
                </a:solidFill>
                <a:latin typeface="Roboto"/>
                <a:cs typeface="Roboto"/>
              </a:rPr>
              <a:t> </a:t>
            </a:r>
            <a:r>
              <a:rPr lang="en-US" sz="1650" spc="-125" dirty="0" err="1">
                <a:solidFill>
                  <a:srgbClr val="FFFFFF"/>
                </a:solidFill>
                <a:latin typeface="Roboto"/>
                <a:cs typeface="Roboto"/>
              </a:rPr>
              <a:t>loại</a:t>
            </a:r>
            <a:r>
              <a:rPr lang="en-US" sz="1650" spc="-125" dirty="0">
                <a:solidFill>
                  <a:srgbClr val="FFFFFF"/>
                </a:solidFill>
                <a:latin typeface="Roboto"/>
                <a:cs typeface="Roboto"/>
              </a:rPr>
              <a:t> </a:t>
            </a:r>
            <a:r>
              <a:rPr lang="en-US" sz="1650" spc="-125" dirty="0" err="1">
                <a:solidFill>
                  <a:srgbClr val="FFFFFF"/>
                </a:solidFill>
                <a:latin typeface="Roboto"/>
                <a:cs typeface="Roboto"/>
              </a:rPr>
              <a:t>một</a:t>
            </a:r>
            <a:r>
              <a:rPr lang="en-US" sz="1650" spc="-125" dirty="0">
                <a:solidFill>
                  <a:srgbClr val="FFFFFF"/>
                </a:solidFill>
                <a:latin typeface="Roboto"/>
                <a:cs typeface="Roboto"/>
              </a:rPr>
              <a:t> </a:t>
            </a:r>
            <a:r>
              <a:rPr lang="en-US" sz="1650" spc="-125" dirty="0" err="1">
                <a:solidFill>
                  <a:srgbClr val="FFFFFF"/>
                </a:solidFill>
                <a:latin typeface="Roboto"/>
                <a:cs typeface="Roboto"/>
              </a:rPr>
              <a:t>số</a:t>
            </a:r>
            <a:r>
              <a:rPr lang="en-US" sz="1650" spc="-125" dirty="0">
                <a:solidFill>
                  <a:srgbClr val="FFFFFF"/>
                </a:solidFill>
                <a:latin typeface="Roboto"/>
                <a:cs typeface="Roboto"/>
              </a:rPr>
              <a:t> </a:t>
            </a:r>
            <a:r>
              <a:rPr lang="en-US" sz="1650" spc="-125" dirty="0" err="1">
                <a:solidFill>
                  <a:srgbClr val="FFFFFF"/>
                </a:solidFill>
                <a:latin typeface="Roboto"/>
                <a:cs typeface="Roboto"/>
              </a:rPr>
              <a:t>quy</a:t>
            </a:r>
            <a:r>
              <a:rPr lang="en-US" sz="1650" spc="-125" dirty="0">
                <a:solidFill>
                  <a:srgbClr val="FFFFFF"/>
                </a:solidFill>
                <a:latin typeface="Roboto"/>
                <a:cs typeface="Roboto"/>
              </a:rPr>
              <a:t> </a:t>
            </a:r>
            <a:r>
              <a:rPr lang="en-US" sz="1650" spc="-125" dirty="0" err="1">
                <a:solidFill>
                  <a:srgbClr val="FFFFFF"/>
                </a:solidFill>
                <a:latin typeface="Roboto"/>
                <a:cs typeface="Roboto"/>
              </a:rPr>
              <a:t>trình</a:t>
            </a:r>
            <a:endParaRPr sz="1600" dirty="0">
              <a:latin typeface="Arial"/>
              <a:cs typeface="Arial"/>
            </a:endParaRPr>
          </a:p>
          <a:p>
            <a:pPr>
              <a:lnSpc>
                <a:spcPct val="100000"/>
              </a:lnSpc>
              <a:spcBef>
                <a:spcPts val="495"/>
              </a:spcBef>
              <a:buClr>
                <a:srgbClr val="FFFFFF"/>
              </a:buClr>
              <a:buFont typeface="Arial Nova"/>
              <a:buAutoNum type="arabicPeriod"/>
            </a:pPr>
            <a:endParaRPr sz="1500" dirty="0">
              <a:latin typeface="Arial"/>
              <a:cs typeface="Arial"/>
            </a:endParaRPr>
          </a:p>
          <a:p>
            <a:pPr marL="334645" indent="-321945">
              <a:lnSpc>
                <a:spcPct val="100000"/>
              </a:lnSpc>
              <a:buSzPct val="96969"/>
              <a:buFont typeface="Arial Nova"/>
              <a:buAutoNum type="arabicPeriod"/>
              <a:tabLst>
                <a:tab pos="334645" algn="l"/>
              </a:tabLst>
            </a:pPr>
            <a:r>
              <a:rPr lang="en-US" sz="1650" spc="-85" dirty="0">
                <a:solidFill>
                  <a:srgbClr val="FFFFFF"/>
                </a:solidFill>
                <a:latin typeface="Roboto"/>
                <a:cs typeface="Roboto"/>
              </a:rPr>
              <a:t>Kiến </a:t>
            </a:r>
            <a:r>
              <a:rPr lang="en-US" sz="1650" spc="-85" dirty="0" err="1">
                <a:solidFill>
                  <a:srgbClr val="FFFFFF"/>
                </a:solidFill>
                <a:latin typeface="Roboto"/>
                <a:cs typeface="Roboto"/>
              </a:rPr>
              <a:t>trúc</a:t>
            </a:r>
            <a:r>
              <a:rPr lang="en-US" sz="1650" spc="-85" dirty="0">
                <a:solidFill>
                  <a:srgbClr val="FFFFFF"/>
                </a:solidFill>
                <a:latin typeface="Roboto"/>
                <a:cs typeface="Roboto"/>
              </a:rPr>
              <a:t> </a:t>
            </a:r>
            <a:r>
              <a:rPr lang="en-US" sz="1650" spc="-85" dirty="0" err="1">
                <a:solidFill>
                  <a:srgbClr val="FFFFFF"/>
                </a:solidFill>
                <a:latin typeface="Roboto"/>
                <a:cs typeface="Roboto"/>
              </a:rPr>
              <a:t>một</a:t>
            </a:r>
            <a:r>
              <a:rPr lang="en-US" sz="1650" spc="-85" dirty="0">
                <a:solidFill>
                  <a:srgbClr val="FFFFFF"/>
                </a:solidFill>
                <a:latin typeface="Roboto"/>
                <a:cs typeface="Roboto"/>
              </a:rPr>
              <a:t> </a:t>
            </a:r>
            <a:r>
              <a:rPr lang="en-US" sz="1650" spc="-85" dirty="0" err="1">
                <a:solidFill>
                  <a:srgbClr val="FFFFFF"/>
                </a:solidFill>
                <a:latin typeface="Roboto"/>
                <a:cs typeface="Roboto"/>
              </a:rPr>
              <a:t>số</a:t>
            </a:r>
            <a:r>
              <a:rPr lang="en-US" sz="1650" spc="-85" dirty="0">
                <a:solidFill>
                  <a:srgbClr val="FFFFFF"/>
                </a:solidFill>
                <a:latin typeface="Roboto"/>
                <a:cs typeface="Roboto"/>
              </a:rPr>
              <a:t> </a:t>
            </a:r>
            <a:r>
              <a:rPr lang="en-US" sz="1650" spc="-85" dirty="0" err="1">
                <a:solidFill>
                  <a:srgbClr val="FFFFFF"/>
                </a:solidFill>
                <a:latin typeface="Roboto"/>
                <a:cs typeface="Roboto"/>
              </a:rPr>
              <a:t>quy</a:t>
            </a:r>
            <a:r>
              <a:rPr lang="en-US" sz="1650" spc="-85" dirty="0">
                <a:solidFill>
                  <a:srgbClr val="FFFFFF"/>
                </a:solidFill>
                <a:latin typeface="Roboto"/>
                <a:cs typeface="Roboto"/>
              </a:rPr>
              <a:t> </a:t>
            </a:r>
            <a:r>
              <a:rPr lang="en-US" sz="1650" spc="-85" dirty="0" err="1">
                <a:solidFill>
                  <a:srgbClr val="FFFFFF"/>
                </a:solidFill>
                <a:latin typeface="Roboto"/>
                <a:cs typeface="Roboto"/>
              </a:rPr>
              <a:t>trình</a:t>
            </a:r>
            <a:endParaRPr sz="1650" dirty="0">
              <a:latin typeface="Roboto"/>
              <a:cs typeface="Roboto"/>
            </a:endParaRPr>
          </a:p>
          <a:p>
            <a:pPr>
              <a:lnSpc>
                <a:spcPct val="100000"/>
              </a:lnSpc>
              <a:spcBef>
                <a:spcPts val="420"/>
              </a:spcBef>
              <a:buClr>
                <a:srgbClr val="FFFFFF"/>
              </a:buClr>
              <a:buFont typeface="Arial Nova"/>
              <a:buAutoNum type="arabicPeriod"/>
            </a:pPr>
            <a:endParaRPr sz="1500" dirty="0">
              <a:latin typeface="Roboto"/>
              <a:cs typeface="Roboto"/>
            </a:endParaRPr>
          </a:p>
          <a:p>
            <a:pPr marL="338455" indent="-325755">
              <a:lnSpc>
                <a:spcPct val="100000"/>
              </a:lnSpc>
              <a:buSzPct val="96969"/>
              <a:buFont typeface="Arial Nova"/>
              <a:buAutoNum type="arabicPeriod"/>
              <a:tabLst>
                <a:tab pos="338455" algn="l"/>
              </a:tabLst>
            </a:pPr>
            <a:r>
              <a:rPr lang="en-US" sz="1650" spc="-95" dirty="0" err="1">
                <a:solidFill>
                  <a:srgbClr val="FFFFFF"/>
                </a:solidFill>
                <a:latin typeface="Roboto"/>
                <a:cs typeface="Roboto"/>
              </a:rPr>
              <a:t>Mô</a:t>
            </a:r>
            <a:r>
              <a:rPr lang="en-US" sz="1650" spc="-95" dirty="0">
                <a:solidFill>
                  <a:srgbClr val="FFFFFF"/>
                </a:solidFill>
                <a:latin typeface="Roboto"/>
                <a:cs typeface="Roboto"/>
              </a:rPr>
              <a:t> </a:t>
            </a:r>
            <a:r>
              <a:rPr lang="en-US" sz="1650" spc="-95" dirty="0" err="1">
                <a:solidFill>
                  <a:srgbClr val="FFFFFF"/>
                </a:solidFill>
                <a:latin typeface="Roboto"/>
                <a:cs typeface="Roboto"/>
              </a:rPr>
              <a:t>hình</a:t>
            </a:r>
            <a:r>
              <a:rPr lang="en-US" sz="1650" spc="-95" dirty="0">
                <a:solidFill>
                  <a:srgbClr val="FFFFFF"/>
                </a:solidFill>
                <a:latin typeface="Roboto"/>
                <a:cs typeface="Roboto"/>
              </a:rPr>
              <a:t> </a:t>
            </a:r>
            <a:r>
              <a:rPr lang="en-US" sz="1650" spc="-95" dirty="0" err="1">
                <a:solidFill>
                  <a:srgbClr val="FFFFFF"/>
                </a:solidFill>
                <a:latin typeface="Roboto"/>
                <a:cs typeface="Roboto"/>
              </a:rPr>
              <a:t>hóa</a:t>
            </a:r>
            <a:r>
              <a:rPr lang="en-US" sz="1650" spc="-95" dirty="0">
                <a:solidFill>
                  <a:srgbClr val="FFFFFF"/>
                </a:solidFill>
                <a:latin typeface="Roboto"/>
                <a:cs typeface="Roboto"/>
              </a:rPr>
              <a:t> </a:t>
            </a:r>
            <a:r>
              <a:rPr lang="en-US" sz="1650" spc="-95" dirty="0" err="1">
                <a:solidFill>
                  <a:srgbClr val="FFFFFF"/>
                </a:solidFill>
                <a:latin typeface="Roboto"/>
                <a:cs typeface="Roboto"/>
              </a:rPr>
              <a:t>và</a:t>
            </a:r>
            <a:r>
              <a:rPr lang="en-US" sz="1650" spc="-95" dirty="0">
                <a:solidFill>
                  <a:srgbClr val="FFFFFF"/>
                </a:solidFill>
                <a:latin typeface="Roboto"/>
                <a:cs typeface="Roboto"/>
              </a:rPr>
              <a:t> </a:t>
            </a:r>
            <a:r>
              <a:rPr lang="en-US" sz="1650" spc="-95" dirty="0" err="1">
                <a:solidFill>
                  <a:srgbClr val="FFFFFF"/>
                </a:solidFill>
                <a:latin typeface="Roboto"/>
                <a:cs typeface="Roboto"/>
              </a:rPr>
              <a:t>phân</a:t>
            </a:r>
            <a:r>
              <a:rPr lang="en-US" sz="1650" spc="-95" dirty="0">
                <a:solidFill>
                  <a:srgbClr val="FFFFFF"/>
                </a:solidFill>
                <a:latin typeface="Roboto"/>
                <a:cs typeface="Roboto"/>
              </a:rPr>
              <a:t> </a:t>
            </a:r>
            <a:r>
              <a:rPr lang="en-US" sz="1650" spc="-95" dirty="0" err="1">
                <a:solidFill>
                  <a:srgbClr val="FFFFFF"/>
                </a:solidFill>
                <a:latin typeface="Roboto"/>
                <a:cs typeface="Roboto"/>
              </a:rPr>
              <a:t>tích</a:t>
            </a:r>
            <a:r>
              <a:rPr lang="en-US" sz="1650" spc="-95" dirty="0">
                <a:solidFill>
                  <a:srgbClr val="FFFFFF"/>
                </a:solidFill>
                <a:latin typeface="Roboto"/>
                <a:cs typeface="Roboto"/>
              </a:rPr>
              <a:t> </a:t>
            </a:r>
            <a:r>
              <a:rPr lang="en-US" sz="1650" spc="-95" dirty="0" err="1">
                <a:solidFill>
                  <a:srgbClr val="FFFFFF"/>
                </a:solidFill>
                <a:latin typeface="Roboto"/>
                <a:cs typeface="Roboto"/>
              </a:rPr>
              <a:t>quy</a:t>
            </a:r>
            <a:r>
              <a:rPr lang="en-US" sz="1650" spc="-95" dirty="0">
                <a:solidFill>
                  <a:srgbClr val="FFFFFF"/>
                </a:solidFill>
                <a:latin typeface="Roboto"/>
                <a:cs typeface="Roboto"/>
              </a:rPr>
              <a:t> </a:t>
            </a:r>
            <a:r>
              <a:rPr lang="en-US" sz="1650" spc="-95" dirty="0" err="1">
                <a:solidFill>
                  <a:srgbClr val="FFFFFF"/>
                </a:solidFill>
                <a:latin typeface="Roboto"/>
                <a:cs typeface="Roboto"/>
              </a:rPr>
              <a:t>trình</a:t>
            </a:r>
            <a:r>
              <a:rPr lang="en-US" sz="1650" spc="-95" dirty="0">
                <a:solidFill>
                  <a:srgbClr val="FFFFFF"/>
                </a:solidFill>
                <a:latin typeface="Roboto"/>
                <a:cs typeface="Roboto"/>
              </a:rPr>
              <a:t> </a:t>
            </a:r>
            <a:r>
              <a:rPr lang="en-US" sz="1650" spc="-95" dirty="0" err="1">
                <a:solidFill>
                  <a:srgbClr val="FFFFFF"/>
                </a:solidFill>
                <a:latin typeface="Roboto"/>
                <a:cs typeface="Roboto"/>
              </a:rPr>
              <a:t>quản</a:t>
            </a:r>
            <a:r>
              <a:rPr lang="en-US" sz="1650" spc="-95" dirty="0">
                <a:solidFill>
                  <a:srgbClr val="FFFFFF"/>
                </a:solidFill>
                <a:latin typeface="Roboto"/>
                <a:cs typeface="Roboto"/>
              </a:rPr>
              <a:t> </a:t>
            </a:r>
            <a:r>
              <a:rPr lang="en-US" sz="1650" spc="-95" dirty="0" err="1">
                <a:solidFill>
                  <a:srgbClr val="FFFFFF"/>
                </a:solidFill>
                <a:latin typeface="Roboto"/>
                <a:cs typeface="Roboto"/>
              </a:rPr>
              <a:t>lý</a:t>
            </a:r>
            <a:r>
              <a:rPr lang="en-US" sz="1650" spc="-95" dirty="0">
                <a:solidFill>
                  <a:srgbClr val="FFFFFF"/>
                </a:solidFill>
                <a:latin typeface="Roboto"/>
                <a:cs typeface="Roboto"/>
              </a:rPr>
              <a:t> </a:t>
            </a:r>
            <a:r>
              <a:rPr lang="en-US" sz="1650" spc="-95" dirty="0" err="1">
                <a:solidFill>
                  <a:srgbClr val="FFFFFF"/>
                </a:solidFill>
                <a:latin typeface="Roboto"/>
                <a:cs typeface="Roboto"/>
              </a:rPr>
              <a:t>chất</a:t>
            </a:r>
            <a:r>
              <a:rPr lang="en-US" sz="1650" spc="-95" dirty="0">
                <a:solidFill>
                  <a:srgbClr val="FFFFFF"/>
                </a:solidFill>
                <a:latin typeface="Roboto"/>
                <a:cs typeface="Roboto"/>
              </a:rPr>
              <a:t> </a:t>
            </a:r>
            <a:r>
              <a:rPr lang="en-US" sz="1650" spc="-95" dirty="0" err="1">
                <a:solidFill>
                  <a:srgbClr val="FFFFFF"/>
                </a:solidFill>
                <a:latin typeface="Roboto"/>
                <a:cs typeface="Roboto"/>
              </a:rPr>
              <a:t>lượng</a:t>
            </a:r>
            <a:r>
              <a:rPr lang="en-US" sz="1650" spc="-95" dirty="0">
                <a:solidFill>
                  <a:srgbClr val="FFFFFF"/>
                </a:solidFill>
                <a:latin typeface="Roboto"/>
                <a:cs typeface="Roboto"/>
              </a:rPr>
              <a:t> </a:t>
            </a:r>
            <a:r>
              <a:rPr lang="en-US" sz="1650" spc="-95" dirty="0" err="1">
                <a:solidFill>
                  <a:srgbClr val="FFFFFF"/>
                </a:solidFill>
                <a:latin typeface="Roboto"/>
                <a:cs typeface="Roboto"/>
              </a:rPr>
              <a:t>nhà</a:t>
            </a:r>
            <a:r>
              <a:rPr lang="en-US" sz="1650" spc="-95" dirty="0">
                <a:solidFill>
                  <a:srgbClr val="FFFFFF"/>
                </a:solidFill>
                <a:latin typeface="Roboto"/>
                <a:cs typeface="Roboto"/>
              </a:rPr>
              <a:t> </a:t>
            </a:r>
            <a:r>
              <a:rPr lang="en-US" sz="1650" spc="-95" dirty="0" err="1">
                <a:solidFill>
                  <a:srgbClr val="FFFFFF"/>
                </a:solidFill>
                <a:latin typeface="Roboto"/>
                <a:cs typeface="Roboto"/>
              </a:rPr>
              <a:t>cung</a:t>
            </a:r>
            <a:r>
              <a:rPr lang="en-US" sz="1650" spc="-95" dirty="0">
                <a:solidFill>
                  <a:srgbClr val="FFFFFF"/>
                </a:solidFill>
                <a:latin typeface="Roboto"/>
                <a:cs typeface="Roboto"/>
              </a:rPr>
              <a:t> </a:t>
            </a:r>
            <a:r>
              <a:rPr lang="en-US" sz="1650" spc="-95" dirty="0" err="1">
                <a:solidFill>
                  <a:srgbClr val="FFFFFF"/>
                </a:solidFill>
                <a:latin typeface="Roboto"/>
                <a:cs typeface="Roboto"/>
              </a:rPr>
              <a:t>cấp</a:t>
            </a:r>
            <a:endParaRPr sz="1650" dirty="0">
              <a:latin typeface="Roboto"/>
              <a:cs typeface="Roboto"/>
            </a:endParaRPr>
          </a:p>
          <a:p>
            <a:pPr>
              <a:lnSpc>
                <a:spcPct val="100000"/>
              </a:lnSpc>
              <a:spcBef>
                <a:spcPts val="420"/>
              </a:spcBef>
              <a:buClr>
                <a:srgbClr val="FFFFFF"/>
              </a:buClr>
              <a:buFont typeface="Arial Nova"/>
              <a:buAutoNum type="arabicPeriod"/>
            </a:pPr>
            <a:endParaRPr sz="1500" dirty="0">
              <a:latin typeface="Roboto"/>
              <a:cs typeface="Roboto"/>
            </a:endParaRPr>
          </a:p>
          <a:p>
            <a:pPr marL="338455" indent="-325755">
              <a:lnSpc>
                <a:spcPct val="100000"/>
              </a:lnSpc>
              <a:buSzPct val="96969"/>
              <a:buFont typeface="Arial Nova"/>
              <a:buAutoNum type="arabicPeriod"/>
              <a:tabLst>
                <a:tab pos="338455" algn="l"/>
              </a:tabLst>
            </a:pPr>
            <a:r>
              <a:rPr lang="en-US" sz="1650" spc="-95" dirty="0" err="1">
                <a:solidFill>
                  <a:srgbClr val="FFFFFF"/>
                </a:solidFill>
                <a:latin typeface="Roboto"/>
                <a:cs typeface="Roboto"/>
              </a:rPr>
              <a:t>Mô</a:t>
            </a:r>
            <a:r>
              <a:rPr lang="en-US" sz="1650" spc="-95" dirty="0">
                <a:solidFill>
                  <a:srgbClr val="FFFFFF"/>
                </a:solidFill>
                <a:latin typeface="Roboto"/>
                <a:cs typeface="Roboto"/>
              </a:rPr>
              <a:t> </a:t>
            </a:r>
            <a:r>
              <a:rPr lang="en-US" sz="1650" spc="-95" dirty="0" err="1">
                <a:solidFill>
                  <a:srgbClr val="FFFFFF"/>
                </a:solidFill>
                <a:latin typeface="Roboto"/>
                <a:cs typeface="Roboto"/>
              </a:rPr>
              <a:t>hình</a:t>
            </a:r>
            <a:r>
              <a:rPr lang="en-US" sz="1650" spc="-95" dirty="0">
                <a:solidFill>
                  <a:srgbClr val="FFFFFF"/>
                </a:solidFill>
                <a:latin typeface="Roboto"/>
                <a:cs typeface="Roboto"/>
              </a:rPr>
              <a:t> </a:t>
            </a:r>
            <a:r>
              <a:rPr lang="en-US" sz="1650" spc="-95" dirty="0" err="1">
                <a:solidFill>
                  <a:srgbClr val="FFFFFF"/>
                </a:solidFill>
                <a:latin typeface="Roboto"/>
                <a:cs typeface="Roboto"/>
              </a:rPr>
              <a:t>hóa</a:t>
            </a:r>
            <a:r>
              <a:rPr lang="en-US" sz="1650" spc="-95" dirty="0">
                <a:solidFill>
                  <a:srgbClr val="FFFFFF"/>
                </a:solidFill>
                <a:latin typeface="Roboto"/>
                <a:cs typeface="Roboto"/>
              </a:rPr>
              <a:t> </a:t>
            </a:r>
            <a:r>
              <a:rPr lang="en-US" sz="1650" spc="-95" dirty="0" err="1">
                <a:solidFill>
                  <a:srgbClr val="FFFFFF"/>
                </a:solidFill>
                <a:latin typeface="Roboto"/>
                <a:cs typeface="Roboto"/>
              </a:rPr>
              <a:t>và</a:t>
            </a:r>
            <a:r>
              <a:rPr lang="en-US" sz="1650" spc="-95" dirty="0">
                <a:solidFill>
                  <a:srgbClr val="FFFFFF"/>
                </a:solidFill>
                <a:latin typeface="Roboto"/>
                <a:cs typeface="Roboto"/>
              </a:rPr>
              <a:t> </a:t>
            </a:r>
            <a:r>
              <a:rPr lang="en-US" sz="1650" spc="-95" dirty="0" err="1">
                <a:solidFill>
                  <a:srgbClr val="FFFFFF"/>
                </a:solidFill>
                <a:latin typeface="Roboto"/>
                <a:cs typeface="Roboto"/>
              </a:rPr>
              <a:t>phân</a:t>
            </a:r>
            <a:r>
              <a:rPr lang="en-US" sz="1650" spc="-95" dirty="0">
                <a:solidFill>
                  <a:srgbClr val="FFFFFF"/>
                </a:solidFill>
                <a:latin typeface="Roboto"/>
                <a:cs typeface="Roboto"/>
              </a:rPr>
              <a:t> </a:t>
            </a:r>
            <a:r>
              <a:rPr lang="en-US" sz="1650" spc="-95" dirty="0" err="1">
                <a:solidFill>
                  <a:srgbClr val="FFFFFF"/>
                </a:solidFill>
                <a:latin typeface="Roboto"/>
                <a:cs typeface="Roboto"/>
              </a:rPr>
              <a:t>tích</a:t>
            </a:r>
            <a:r>
              <a:rPr lang="en-US" sz="1650" spc="-95" dirty="0">
                <a:solidFill>
                  <a:srgbClr val="FFFFFF"/>
                </a:solidFill>
                <a:latin typeface="Roboto"/>
                <a:cs typeface="Roboto"/>
              </a:rPr>
              <a:t> </a:t>
            </a:r>
            <a:r>
              <a:rPr lang="en-US" sz="1650" spc="-95" dirty="0" err="1">
                <a:solidFill>
                  <a:srgbClr val="FFFFFF"/>
                </a:solidFill>
                <a:latin typeface="Roboto"/>
                <a:cs typeface="Roboto"/>
              </a:rPr>
              <a:t>quy</a:t>
            </a:r>
            <a:r>
              <a:rPr lang="en-US" sz="1650" spc="-95" dirty="0">
                <a:solidFill>
                  <a:srgbClr val="FFFFFF"/>
                </a:solidFill>
                <a:latin typeface="Roboto"/>
                <a:cs typeface="Roboto"/>
              </a:rPr>
              <a:t> </a:t>
            </a:r>
            <a:r>
              <a:rPr lang="en-US" sz="1650" spc="-95" dirty="0" err="1">
                <a:solidFill>
                  <a:srgbClr val="FFFFFF"/>
                </a:solidFill>
                <a:latin typeface="Roboto"/>
                <a:cs typeface="Roboto"/>
              </a:rPr>
              <a:t>trình</a:t>
            </a:r>
            <a:r>
              <a:rPr lang="en-US" sz="1650" spc="-95" dirty="0">
                <a:solidFill>
                  <a:srgbClr val="FFFFFF"/>
                </a:solidFill>
                <a:latin typeface="Roboto"/>
                <a:cs typeface="Roboto"/>
              </a:rPr>
              <a:t> </a:t>
            </a:r>
            <a:r>
              <a:rPr lang="en-US" sz="1650" spc="-95" dirty="0" err="1">
                <a:solidFill>
                  <a:srgbClr val="FFFFFF"/>
                </a:solidFill>
                <a:latin typeface="Roboto"/>
                <a:cs typeface="Roboto"/>
              </a:rPr>
              <a:t>bán</a:t>
            </a:r>
            <a:r>
              <a:rPr lang="en-US" sz="1650" spc="-95" dirty="0">
                <a:solidFill>
                  <a:srgbClr val="FFFFFF"/>
                </a:solidFill>
                <a:latin typeface="Roboto"/>
                <a:cs typeface="Roboto"/>
              </a:rPr>
              <a:t> </a:t>
            </a:r>
            <a:r>
              <a:rPr lang="en-US" sz="1650" spc="-95" dirty="0" err="1">
                <a:solidFill>
                  <a:srgbClr val="FFFFFF"/>
                </a:solidFill>
                <a:latin typeface="Roboto"/>
                <a:cs typeface="Roboto"/>
              </a:rPr>
              <a:t>hàng</a:t>
            </a:r>
            <a:r>
              <a:rPr lang="en-US" sz="1650" spc="-95" dirty="0">
                <a:solidFill>
                  <a:srgbClr val="FFFFFF"/>
                </a:solidFill>
                <a:latin typeface="Roboto"/>
                <a:cs typeface="Roboto"/>
              </a:rPr>
              <a:t> </a:t>
            </a:r>
            <a:r>
              <a:rPr lang="en-US" sz="1650" spc="-95" dirty="0" err="1">
                <a:solidFill>
                  <a:srgbClr val="FFFFFF"/>
                </a:solidFill>
                <a:latin typeface="Roboto"/>
                <a:cs typeface="Roboto"/>
              </a:rPr>
              <a:t>và</a:t>
            </a:r>
            <a:r>
              <a:rPr lang="en-US" sz="1650" spc="-95" dirty="0">
                <a:solidFill>
                  <a:srgbClr val="FFFFFF"/>
                </a:solidFill>
                <a:latin typeface="Roboto"/>
                <a:cs typeface="Roboto"/>
              </a:rPr>
              <a:t> </a:t>
            </a:r>
            <a:r>
              <a:rPr lang="en-US" sz="1650" spc="-95" dirty="0" err="1">
                <a:solidFill>
                  <a:srgbClr val="FFFFFF"/>
                </a:solidFill>
                <a:latin typeface="Roboto"/>
                <a:cs typeface="Roboto"/>
              </a:rPr>
              <a:t>giao</a:t>
            </a:r>
            <a:r>
              <a:rPr lang="en-US" sz="1650" spc="-95" dirty="0">
                <a:solidFill>
                  <a:srgbClr val="FFFFFF"/>
                </a:solidFill>
                <a:latin typeface="Roboto"/>
                <a:cs typeface="Roboto"/>
              </a:rPr>
              <a:t> </a:t>
            </a:r>
            <a:r>
              <a:rPr lang="en-US" sz="1650" spc="-95" dirty="0" err="1">
                <a:solidFill>
                  <a:srgbClr val="FFFFFF"/>
                </a:solidFill>
                <a:latin typeface="Roboto"/>
                <a:cs typeface="Roboto"/>
              </a:rPr>
              <a:t>hàng</a:t>
            </a:r>
            <a:endParaRPr sz="1650" dirty="0">
              <a:latin typeface="Roboto"/>
              <a:cs typeface="Roboto"/>
            </a:endParaRPr>
          </a:p>
          <a:p>
            <a:pPr>
              <a:lnSpc>
                <a:spcPct val="100000"/>
              </a:lnSpc>
              <a:spcBef>
                <a:spcPts val="420"/>
              </a:spcBef>
              <a:buClr>
                <a:srgbClr val="FFFFFF"/>
              </a:buClr>
              <a:buFont typeface="Arial Nova"/>
              <a:buAutoNum type="arabicPeriod"/>
            </a:pPr>
            <a:endParaRPr lang="en-US" sz="1500" dirty="0">
              <a:latin typeface="Roboto"/>
              <a:cs typeface="Roboto"/>
            </a:endParaRPr>
          </a:p>
          <a:p>
            <a:pPr marL="338455" indent="-325755">
              <a:lnSpc>
                <a:spcPct val="100000"/>
              </a:lnSpc>
              <a:buSzPct val="96969"/>
              <a:buFont typeface="Arial Nova"/>
              <a:buAutoNum type="arabicPeriod"/>
              <a:tabLst>
                <a:tab pos="338455" algn="l"/>
              </a:tabLst>
            </a:pPr>
            <a:r>
              <a:rPr lang="en-US" sz="1650" spc="-95" dirty="0" err="1">
                <a:solidFill>
                  <a:srgbClr val="FFFFFF"/>
                </a:solidFill>
                <a:latin typeface="Roboto"/>
                <a:cs typeface="Roboto"/>
              </a:rPr>
              <a:t>Mô</a:t>
            </a:r>
            <a:r>
              <a:rPr lang="en-US" sz="1650" spc="-95" dirty="0">
                <a:solidFill>
                  <a:srgbClr val="FFFFFF"/>
                </a:solidFill>
                <a:latin typeface="Roboto"/>
                <a:cs typeface="Roboto"/>
              </a:rPr>
              <a:t> </a:t>
            </a:r>
            <a:r>
              <a:rPr lang="en-US" sz="1650" spc="-95" dirty="0" err="1">
                <a:solidFill>
                  <a:srgbClr val="FFFFFF"/>
                </a:solidFill>
                <a:latin typeface="Roboto"/>
                <a:cs typeface="Roboto"/>
              </a:rPr>
              <a:t>hình</a:t>
            </a:r>
            <a:r>
              <a:rPr lang="en-US" sz="1650" spc="-95" dirty="0">
                <a:solidFill>
                  <a:srgbClr val="FFFFFF"/>
                </a:solidFill>
                <a:latin typeface="Roboto"/>
                <a:cs typeface="Roboto"/>
              </a:rPr>
              <a:t> </a:t>
            </a:r>
            <a:r>
              <a:rPr lang="en-US" sz="1650" spc="-95" dirty="0" err="1">
                <a:solidFill>
                  <a:srgbClr val="FFFFFF"/>
                </a:solidFill>
                <a:latin typeface="Roboto"/>
                <a:cs typeface="Roboto"/>
              </a:rPr>
              <a:t>hóa</a:t>
            </a:r>
            <a:r>
              <a:rPr lang="en-US" sz="1650" spc="-95" dirty="0">
                <a:solidFill>
                  <a:srgbClr val="FFFFFF"/>
                </a:solidFill>
                <a:latin typeface="Roboto"/>
                <a:cs typeface="Roboto"/>
              </a:rPr>
              <a:t> </a:t>
            </a:r>
            <a:r>
              <a:rPr lang="en-US" sz="1650" spc="-95" dirty="0" err="1">
                <a:solidFill>
                  <a:srgbClr val="FFFFFF"/>
                </a:solidFill>
                <a:latin typeface="Roboto"/>
                <a:cs typeface="Roboto"/>
              </a:rPr>
              <a:t>và</a:t>
            </a:r>
            <a:r>
              <a:rPr lang="en-US" sz="1650" spc="-95" dirty="0">
                <a:solidFill>
                  <a:srgbClr val="FFFFFF"/>
                </a:solidFill>
                <a:latin typeface="Roboto"/>
                <a:cs typeface="Roboto"/>
              </a:rPr>
              <a:t> </a:t>
            </a:r>
            <a:r>
              <a:rPr lang="en-US" sz="1650" spc="-95" dirty="0" err="1">
                <a:solidFill>
                  <a:srgbClr val="FFFFFF"/>
                </a:solidFill>
                <a:latin typeface="Roboto"/>
                <a:cs typeface="Roboto"/>
              </a:rPr>
              <a:t>phân</a:t>
            </a:r>
            <a:r>
              <a:rPr lang="en-US" sz="1650" spc="-95" dirty="0">
                <a:solidFill>
                  <a:srgbClr val="FFFFFF"/>
                </a:solidFill>
                <a:latin typeface="Roboto"/>
                <a:cs typeface="Roboto"/>
              </a:rPr>
              <a:t> </a:t>
            </a:r>
            <a:r>
              <a:rPr lang="en-US" sz="1650" spc="-95" dirty="0" err="1">
                <a:solidFill>
                  <a:srgbClr val="FFFFFF"/>
                </a:solidFill>
                <a:latin typeface="Roboto"/>
                <a:cs typeface="Roboto"/>
              </a:rPr>
              <a:t>tích</a:t>
            </a:r>
            <a:r>
              <a:rPr lang="en-US" sz="1650" spc="-95" dirty="0">
                <a:solidFill>
                  <a:srgbClr val="FFFFFF"/>
                </a:solidFill>
                <a:latin typeface="Roboto"/>
                <a:cs typeface="Roboto"/>
              </a:rPr>
              <a:t> </a:t>
            </a:r>
            <a:r>
              <a:rPr lang="en-US" sz="1650" spc="-95" dirty="0" err="1">
                <a:solidFill>
                  <a:srgbClr val="FFFFFF"/>
                </a:solidFill>
                <a:latin typeface="Roboto"/>
                <a:cs typeface="Roboto"/>
              </a:rPr>
              <a:t>quy</a:t>
            </a:r>
            <a:r>
              <a:rPr lang="en-US" sz="1650" spc="-95" dirty="0">
                <a:solidFill>
                  <a:srgbClr val="FFFFFF"/>
                </a:solidFill>
                <a:latin typeface="Roboto"/>
                <a:cs typeface="Roboto"/>
              </a:rPr>
              <a:t> </a:t>
            </a:r>
            <a:r>
              <a:rPr lang="en-US" sz="1650" spc="-95" dirty="0" err="1">
                <a:solidFill>
                  <a:srgbClr val="FFFFFF"/>
                </a:solidFill>
                <a:latin typeface="Roboto"/>
                <a:cs typeface="Roboto"/>
              </a:rPr>
              <a:t>trình</a:t>
            </a:r>
            <a:r>
              <a:rPr lang="en-US" sz="1650" spc="-95" dirty="0">
                <a:solidFill>
                  <a:srgbClr val="FFFFFF"/>
                </a:solidFill>
                <a:latin typeface="Roboto"/>
                <a:cs typeface="Roboto"/>
              </a:rPr>
              <a:t> IT Support</a:t>
            </a:r>
            <a:endParaRPr lang="vi-VN" sz="1650" dirty="0">
              <a:latin typeface="Roboto"/>
              <a:cs typeface="Roboto"/>
            </a:endParaRPr>
          </a:p>
        </p:txBody>
      </p:sp>
      <p:sp>
        <p:nvSpPr>
          <p:cNvPr id="6" name="object 6"/>
          <p:cNvSpPr/>
          <p:nvPr/>
        </p:nvSpPr>
        <p:spPr>
          <a:xfrm>
            <a:off x="11772899" y="2324100"/>
            <a:ext cx="38100" cy="2438400"/>
          </a:xfrm>
          <a:custGeom>
            <a:avLst/>
            <a:gdLst/>
            <a:ahLst/>
            <a:cxnLst/>
            <a:rect l="l" t="t" r="r" b="b"/>
            <a:pathLst>
              <a:path w="38100" h="2438400">
                <a:moveTo>
                  <a:pt x="21576" y="2438399"/>
                </a:moveTo>
                <a:lnTo>
                  <a:pt x="16523" y="2438399"/>
                </a:lnTo>
                <a:lnTo>
                  <a:pt x="14093" y="2437916"/>
                </a:lnTo>
                <a:lnTo>
                  <a:pt x="0" y="2421875"/>
                </a:lnTo>
                <a:lnTo>
                  <a:pt x="0" y="2419349"/>
                </a:lnTo>
                <a:lnTo>
                  <a:pt x="0" y="16523"/>
                </a:lnTo>
                <a:lnTo>
                  <a:pt x="16523" y="0"/>
                </a:lnTo>
                <a:lnTo>
                  <a:pt x="21576" y="0"/>
                </a:lnTo>
                <a:lnTo>
                  <a:pt x="38099" y="16523"/>
                </a:lnTo>
                <a:lnTo>
                  <a:pt x="38099" y="2421875"/>
                </a:lnTo>
                <a:lnTo>
                  <a:pt x="24006" y="2437916"/>
                </a:lnTo>
                <a:lnTo>
                  <a:pt x="21576" y="2438399"/>
                </a:lnTo>
                <a:close/>
              </a:path>
            </a:pathLst>
          </a:custGeom>
          <a:solidFill>
            <a:srgbClr val="FFFFFF">
              <a:alpha val="19999"/>
            </a:srgbClr>
          </a:solidFill>
        </p:spPr>
        <p:txBody>
          <a:bodyPr wrap="square" lIns="0" tIns="0" rIns="0" bIns="0" rtlCol="0"/>
          <a:lstStyle/>
          <a:p>
            <a:endParaRPr/>
          </a:p>
        </p:txBody>
      </p:sp>
      <p:sp>
        <p:nvSpPr>
          <p:cNvPr id="7" name="object 7"/>
          <p:cNvSpPr txBox="1"/>
          <p:nvPr/>
        </p:nvSpPr>
        <p:spPr>
          <a:xfrm>
            <a:off x="5356125" y="6704927"/>
            <a:ext cx="2851785" cy="165735"/>
          </a:xfrm>
          <a:prstGeom prst="rect">
            <a:avLst/>
          </a:prstGeom>
        </p:spPr>
        <p:txBody>
          <a:bodyPr vert="horz" wrap="square" lIns="0" tIns="0" rIns="0" bIns="0" rtlCol="0">
            <a:spAutoFit/>
          </a:bodyPr>
          <a:lstStyle/>
          <a:p>
            <a:pPr marL="12700">
              <a:lnSpc>
                <a:spcPts val="1210"/>
              </a:lnSpc>
            </a:pPr>
            <a:r>
              <a:rPr sz="1150" spc="-90" dirty="0">
                <a:solidFill>
                  <a:srgbClr val="FFFFFF"/>
                </a:solidFill>
                <a:latin typeface="Roboto"/>
                <a:cs typeface="Roboto"/>
              </a:rPr>
              <a:t>H</a:t>
            </a:r>
            <a:r>
              <a:rPr sz="1150" spc="-90" dirty="0">
                <a:solidFill>
                  <a:srgbClr val="FFFFFF"/>
                </a:solidFill>
                <a:latin typeface="Arial"/>
                <a:cs typeface="Arial"/>
              </a:rPr>
              <a:t>ệ</a:t>
            </a:r>
            <a:r>
              <a:rPr sz="1150" spc="-40" dirty="0">
                <a:solidFill>
                  <a:srgbClr val="FFFFFF"/>
                </a:solidFill>
                <a:latin typeface="Arial"/>
                <a:cs typeface="Arial"/>
              </a:rPr>
              <a:t> </a:t>
            </a:r>
            <a:r>
              <a:rPr sz="1150" spc="-55" dirty="0">
                <a:solidFill>
                  <a:srgbClr val="FFFFFF"/>
                </a:solidFill>
                <a:latin typeface="Roboto"/>
                <a:cs typeface="Roboto"/>
              </a:rPr>
              <a:t>th</a:t>
            </a:r>
            <a:r>
              <a:rPr sz="1150" spc="-55" dirty="0">
                <a:solidFill>
                  <a:srgbClr val="FFFFFF"/>
                </a:solidFill>
                <a:latin typeface="Arial"/>
                <a:cs typeface="Arial"/>
              </a:rPr>
              <a:t>ố</a:t>
            </a:r>
            <a:r>
              <a:rPr sz="1150" spc="-55" dirty="0">
                <a:solidFill>
                  <a:srgbClr val="FFFFFF"/>
                </a:solidFill>
                <a:latin typeface="Roboto"/>
                <a:cs typeface="Roboto"/>
              </a:rPr>
              <a:t>ng</a:t>
            </a:r>
            <a:r>
              <a:rPr sz="1150" dirty="0">
                <a:solidFill>
                  <a:srgbClr val="FFFFFF"/>
                </a:solidFill>
                <a:latin typeface="Roboto"/>
                <a:cs typeface="Roboto"/>
              </a:rPr>
              <a:t> </a:t>
            </a:r>
            <a:r>
              <a:rPr sz="1150" spc="-70" dirty="0">
                <a:solidFill>
                  <a:srgbClr val="FFFFFF"/>
                </a:solidFill>
                <a:latin typeface="Roboto"/>
                <a:cs typeface="Roboto"/>
              </a:rPr>
              <a:t>qu</a:t>
            </a:r>
            <a:r>
              <a:rPr sz="1150" spc="-70" dirty="0">
                <a:solidFill>
                  <a:srgbClr val="FFFFFF"/>
                </a:solidFill>
                <a:latin typeface="Arial"/>
                <a:cs typeface="Arial"/>
              </a:rPr>
              <a:t>ả</a:t>
            </a:r>
            <a:r>
              <a:rPr sz="1150" spc="-70" dirty="0">
                <a:solidFill>
                  <a:srgbClr val="FFFFFF"/>
                </a:solidFill>
                <a:latin typeface="Roboto"/>
                <a:cs typeface="Roboto"/>
              </a:rPr>
              <a:t>n</a:t>
            </a:r>
            <a:r>
              <a:rPr sz="1150" spc="-5" dirty="0">
                <a:solidFill>
                  <a:srgbClr val="FFFFFF"/>
                </a:solidFill>
                <a:latin typeface="Roboto"/>
                <a:cs typeface="Roboto"/>
              </a:rPr>
              <a:t> </a:t>
            </a:r>
            <a:r>
              <a:rPr sz="1150" spc="-30" dirty="0">
                <a:solidFill>
                  <a:srgbClr val="FFFFFF"/>
                </a:solidFill>
                <a:latin typeface="Roboto"/>
                <a:cs typeface="Roboto"/>
              </a:rPr>
              <a:t>tr</a:t>
            </a:r>
            <a:r>
              <a:rPr sz="1150" spc="-30" dirty="0">
                <a:solidFill>
                  <a:srgbClr val="FFFFFF"/>
                </a:solidFill>
                <a:latin typeface="Arial"/>
                <a:cs typeface="Arial"/>
              </a:rPr>
              <a:t>ị</a:t>
            </a:r>
            <a:r>
              <a:rPr sz="1150" spc="-35" dirty="0">
                <a:solidFill>
                  <a:srgbClr val="FFFFFF"/>
                </a:solidFill>
                <a:latin typeface="Arial"/>
                <a:cs typeface="Arial"/>
              </a:rPr>
              <a:t> </a:t>
            </a:r>
            <a:r>
              <a:rPr sz="1150" spc="-65" dirty="0">
                <a:solidFill>
                  <a:srgbClr val="FFFFFF"/>
                </a:solidFill>
                <a:latin typeface="Roboto"/>
                <a:cs typeface="Roboto"/>
              </a:rPr>
              <a:t>quy</a:t>
            </a:r>
            <a:r>
              <a:rPr sz="1150" spc="-5" dirty="0">
                <a:solidFill>
                  <a:srgbClr val="FFFFFF"/>
                </a:solidFill>
                <a:latin typeface="Roboto"/>
                <a:cs typeface="Roboto"/>
              </a:rPr>
              <a:t> </a:t>
            </a:r>
            <a:r>
              <a:rPr sz="1150" spc="-40" dirty="0">
                <a:solidFill>
                  <a:srgbClr val="FFFFFF"/>
                </a:solidFill>
                <a:latin typeface="Roboto"/>
                <a:cs typeface="Roboto"/>
              </a:rPr>
              <a:t>trình</a:t>
            </a:r>
            <a:r>
              <a:rPr sz="1150" dirty="0">
                <a:solidFill>
                  <a:srgbClr val="FFFFFF"/>
                </a:solidFill>
                <a:latin typeface="Roboto"/>
                <a:cs typeface="Roboto"/>
              </a:rPr>
              <a:t> </a:t>
            </a:r>
            <a:r>
              <a:rPr sz="1150" spc="-65" dirty="0">
                <a:solidFill>
                  <a:srgbClr val="FFFFFF"/>
                </a:solidFill>
                <a:latin typeface="Roboto"/>
                <a:cs typeface="Roboto"/>
              </a:rPr>
              <a:t>nghi</a:t>
            </a:r>
            <a:r>
              <a:rPr sz="1150" spc="-65" dirty="0">
                <a:solidFill>
                  <a:srgbClr val="FFFFFF"/>
                </a:solidFill>
                <a:latin typeface="Arial"/>
                <a:cs typeface="Arial"/>
              </a:rPr>
              <a:t>ệ</a:t>
            </a:r>
            <a:r>
              <a:rPr sz="1150" spc="-65" dirty="0">
                <a:solidFill>
                  <a:srgbClr val="FFFFFF"/>
                </a:solidFill>
                <a:latin typeface="Roboto"/>
                <a:cs typeface="Roboto"/>
              </a:rPr>
              <a:t>p</a:t>
            </a:r>
            <a:r>
              <a:rPr sz="1150" spc="-5" dirty="0">
                <a:solidFill>
                  <a:srgbClr val="FFFFFF"/>
                </a:solidFill>
                <a:latin typeface="Roboto"/>
                <a:cs typeface="Roboto"/>
              </a:rPr>
              <a:t> </a:t>
            </a:r>
            <a:r>
              <a:rPr sz="1150" spc="-70" dirty="0">
                <a:solidFill>
                  <a:srgbClr val="FFFFFF"/>
                </a:solidFill>
                <a:latin typeface="Roboto"/>
                <a:cs typeface="Roboto"/>
              </a:rPr>
              <a:t>v</a:t>
            </a:r>
            <a:r>
              <a:rPr sz="1150" spc="-70" dirty="0">
                <a:solidFill>
                  <a:srgbClr val="FFFFFF"/>
                </a:solidFill>
                <a:latin typeface="Arial"/>
                <a:cs typeface="Arial"/>
              </a:rPr>
              <a:t>ụ</a:t>
            </a:r>
            <a:r>
              <a:rPr sz="1150" spc="-35" dirty="0">
                <a:solidFill>
                  <a:srgbClr val="FFFFFF"/>
                </a:solidFill>
                <a:latin typeface="Arial"/>
                <a:cs typeface="Arial"/>
              </a:rPr>
              <a:t> </a:t>
            </a:r>
            <a:r>
              <a:rPr sz="1150" spc="-45" dirty="0">
                <a:solidFill>
                  <a:srgbClr val="FFFFFF"/>
                </a:solidFill>
                <a:latin typeface="Roboto"/>
                <a:cs typeface="Roboto"/>
              </a:rPr>
              <a:t>t</a:t>
            </a:r>
            <a:r>
              <a:rPr sz="1150" spc="-45" dirty="0">
                <a:solidFill>
                  <a:srgbClr val="FFFFFF"/>
                </a:solidFill>
                <a:latin typeface="Arial"/>
                <a:cs typeface="Arial"/>
              </a:rPr>
              <a:t>ạ</a:t>
            </a:r>
            <a:r>
              <a:rPr sz="1150" spc="-45" dirty="0">
                <a:solidFill>
                  <a:srgbClr val="FFFFFF"/>
                </a:solidFill>
                <a:latin typeface="Roboto"/>
                <a:cs typeface="Roboto"/>
              </a:rPr>
              <a:t>i</a:t>
            </a:r>
            <a:r>
              <a:rPr sz="1150" spc="-5" dirty="0">
                <a:solidFill>
                  <a:srgbClr val="FFFFFF"/>
                </a:solidFill>
                <a:latin typeface="Roboto"/>
                <a:cs typeface="Roboto"/>
              </a:rPr>
              <a:t> </a:t>
            </a:r>
            <a:r>
              <a:rPr sz="1150" spc="-60" dirty="0">
                <a:solidFill>
                  <a:srgbClr val="FFFFFF"/>
                </a:solidFill>
                <a:latin typeface="Roboto"/>
                <a:cs typeface="Roboto"/>
              </a:rPr>
              <a:t>BOSCH</a:t>
            </a:r>
            <a:endParaRPr sz="1150">
              <a:latin typeface="Roboto"/>
              <a:cs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p:cNvSpPr txBox="1">
            <a:spLocks noGrp="1"/>
          </p:cNvSpPr>
          <p:nvPr>
            <p:ph type="title"/>
          </p:nvPr>
        </p:nvSpPr>
        <p:spPr>
          <a:xfrm>
            <a:off x="558800" y="317103"/>
            <a:ext cx="2795270" cy="407034"/>
          </a:xfrm>
          <a:prstGeom prst="rect">
            <a:avLst/>
          </a:prstGeom>
        </p:spPr>
        <p:txBody>
          <a:bodyPr vert="horz" wrap="square" lIns="0" tIns="12700" rIns="0" bIns="0" rtlCol="0">
            <a:spAutoFit/>
          </a:bodyPr>
          <a:lstStyle/>
          <a:p>
            <a:pPr marL="12700">
              <a:lnSpc>
                <a:spcPct val="100000"/>
              </a:lnSpc>
              <a:spcBef>
                <a:spcPts val="100"/>
              </a:spcBef>
            </a:pPr>
            <a:r>
              <a:rPr spc="-70" dirty="0">
                <a:latin typeface="Times New Roman" panose="02020603050405020304" pitchFamily="18" charset="0"/>
                <a:cs typeface="Times New Roman" panose="02020603050405020304" pitchFamily="18" charset="0"/>
              </a:rPr>
              <a:t>T</a:t>
            </a:r>
            <a:r>
              <a:rPr sz="2400" spc="-70" dirty="0">
                <a:latin typeface="Times New Roman" panose="02020603050405020304" pitchFamily="18" charset="0"/>
                <a:cs typeface="Times New Roman" panose="02020603050405020304" pitchFamily="18" charset="0"/>
              </a:rPr>
              <a:t>ổ</a:t>
            </a:r>
            <a:r>
              <a:rPr spc="-70" dirty="0">
                <a:latin typeface="Times New Roman" panose="02020603050405020304" pitchFamily="18" charset="0"/>
                <a:cs typeface="Times New Roman" panose="02020603050405020304" pitchFamily="18" charset="0"/>
              </a:rPr>
              <a:t>ng</a:t>
            </a:r>
            <a:r>
              <a:rPr spc="-85" dirty="0">
                <a:latin typeface="Times New Roman" panose="02020603050405020304" pitchFamily="18" charset="0"/>
                <a:cs typeface="Times New Roman" panose="02020603050405020304" pitchFamily="18" charset="0"/>
              </a:rPr>
              <a:t> </a:t>
            </a:r>
            <a:r>
              <a:rPr spc="-55" dirty="0">
                <a:latin typeface="Times New Roman" panose="02020603050405020304" pitchFamily="18" charset="0"/>
                <a:cs typeface="Times New Roman" panose="02020603050405020304" pitchFamily="18" charset="0"/>
              </a:rPr>
              <a:t>quan</a:t>
            </a:r>
            <a:r>
              <a:rPr spc="-8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v</a:t>
            </a:r>
            <a:r>
              <a:rPr sz="2400" dirty="0">
                <a:latin typeface="Times New Roman" panose="02020603050405020304" pitchFamily="18" charset="0"/>
                <a:cs typeface="Times New Roman" panose="02020603050405020304" pitchFamily="18" charset="0"/>
              </a:rPr>
              <a:t>ề</a:t>
            </a:r>
            <a:r>
              <a:rPr sz="2400" spc="-125" dirty="0">
                <a:latin typeface="Times New Roman" panose="02020603050405020304" pitchFamily="18" charset="0"/>
                <a:cs typeface="Times New Roman" panose="02020603050405020304" pitchFamily="18" charset="0"/>
              </a:rPr>
              <a:t> </a:t>
            </a:r>
            <a:r>
              <a:rPr spc="-55" dirty="0">
                <a:latin typeface="Times New Roman" panose="02020603050405020304" pitchFamily="18" charset="0"/>
                <a:cs typeface="Times New Roman" panose="02020603050405020304" pitchFamily="18" charset="0"/>
              </a:rPr>
              <a:t>Bosch</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571499" y="1152524"/>
            <a:ext cx="7419975" cy="5324475"/>
          </a:xfrm>
          <a:custGeom>
            <a:avLst/>
            <a:gdLst/>
            <a:ahLst/>
            <a:cxnLst/>
            <a:rect l="l" t="t" r="r" b="b"/>
            <a:pathLst>
              <a:path w="7419975" h="5324475">
                <a:moveTo>
                  <a:pt x="7348777" y="5324474"/>
                </a:moveTo>
                <a:lnTo>
                  <a:pt x="71196" y="5324474"/>
                </a:lnTo>
                <a:lnTo>
                  <a:pt x="66241" y="5323986"/>
                </a:lnTo>
                <a:lnTo>
                  <a:pt x="29705" y="5308852"/>
                </a:lnTo>
                <a:lnTo>
                  <a:pt x="3885" y="5272812"/>
                </a:lnTo>
                <a:lnTo>
                  <a:pt x="0" y="5253277"/>
                </a:lnTo>
                <a:lnTo>
                  <a:pt x="0" y="5248274"/>
                </a:lnTo>
                <a:lnTo>
                  <a:pt x="0" y="71196"/>
                </a:lnTo>
                <a:lnTo>
                  <a:pt x="15621" y="29705"/>
                </a:lnTo>
                <a:lnTo>
                  <a:pt x="51661" y="3885"/>
                </a:lnTo>
                <a:lnTo>
                  <a:pt x="71196" y="0"/>
                </a:lnTo>
                <a:lnTo>
                  <a:pt x="7348777" y="0"/>
                </a:lnTo>
                <a:lnTo>
                  <a:pt x="7390268" y="15621"/>
                </a:lnTo>
                <a:lnTo>
                  <a:pt x="7416088" y="51661"/>
                </a:lnTo>
                <a:lnTo>
                  <a:pt x="7419973" y="71196"/>
                </a:lnTo>
                <a:lnTo>
                  <a:pt x="7419973" y="5253277"/>
                </a:lnTo>
                <a:lnTo>
                  <a:pt x="7404352" y="5294769"/>
                </a:lnTo>
                <a:lnTo>
                  <a:pt x="7368311" y="5320588"/>
                </a:lnTo>
                <a:lnTo>
                  <a:pt x="7353733" y="5323986"/>
                </a:lnTo>
                <a:lnTo>
                  <a:pt x="7348777" y="5324474"/>
                </a:lnTo>
                <a:close/>
              </a:path>
            </a:pathLst>
          </a:custGeom>
          <a:solidFill>
            <a:srgbClr val="FFFFFF">
              <a:alpha val="10198"/>
            </a:srgbClr>
          </a:solidFill>
        </p:spPr>
        <p:txBody>
          <a:bodyPr wrap="square" lIns="0" tIns="0" rIns="0" bIns="0" rtlCol="0"/>
          <a:lstStyle/>
          <a:p>
            <a:endParaRPr/>
          </a:p>
        </p:txBody>
      </p:sp>
      <p:sp>
        <p:nvSpPr>
          <p:cNvPr id="5" name="object 5"/>
          <p:cNvSpPr txBox="1"/>
          <p:nvPr/>
        </p:nvSpPr>
        <p:spPr>
          <a:xfrm>
            <a:off x="787399" y="1342621"/>
            <a:ext cx="3250565" cy="330835"/>
          </a:xfrm>
          <a:prstGeom prst="rect">
            <a:avLst/>
          </a:prstGeom>
        </p:spPr>
        <p:txBody>
          <a:bodyPr vert="horz" wrap="square" lIns="0" tIns="12700" rIns="0" bIns="0" rtlCol="0">
            <a:spAutoFit/>
          </a:bodyPr>
          <a:lstStyle/>
          <a:p>
            <a:pPr marL="12700">
              <a:lnSpc>
                <a:spcPct val="100000"/>
              </a:lnSpc>
              <a:spcBef>
                <a:spcPts val="100"/>
              </a:spcBef>
            </a:pPr>
            <a:r>
              <a:rPr sz="2000" b="1" spc="-105" dirty="0">
                <a:solidFill>
                  <a:srgbClr val="FFFFFF"/>
                </a:solidFill>
                <a:latin typeface="Times New Roman" panose="02020603050405020304" pitchFamily="18" charset="0"/>
                <a:cs typeface="Times New Roman" panose="02020603050405020304" pitchFamily="18" charset="0"/>
              </a:rPr>
              <a:t>L</a:t>
            </a:r>
            <a:r>
              <a:rPr sz="1900" b="1" spc="-105" dirty="0">
                <a:solidFill>
                  <a:srgbClr val="FFFFFF"/>
                </a:solidFill>
                <a:latin typeface="Times New Roman" panose="02020603050405020304" pitchFamily="18" charset="0"/>
                <a:cs typeface="Times New Roman" panose="02020603050405020304" pitchFamily="18" charset="0"/>
              </a:rPr>
              <a:t>ị</a:t>
            </a:r>
            <a:r>
              <a:rPr sz="2000" b="1" spc="-105" dirty="0">
                <a:solidFill>
                  <a:srgbClr val="FFFFFF"/>
                </a:solidFill>
                <a:latin typeface="Times New Roman" panose="02020603050405020304" pitchFamily="18" charset="0"/>
                <a:cs typeface="Times New Roman" panose="02020603050405020304" pitchFamily="18" charset="0"/>
              </a:rPr>
              <a:t>ch</a:t>
            </a:r>
            <a:r>
              <a:rPr sz="2000" b="1" spc="-30" dirty="0">
                <a:solidFill>
                  <a:srgbClr val="FFFFFF"/>
                </a:solidFill>
                <a:latin typeface="Times New Roman" panose="02020603050405020304" pitchFamily="18" charset="0"/>
                <a:cs typeface="Times New Roman" panose="02020603050405020304" pitchFamily="18" charset="0"/>
              </a:rPr>
              <a:t> </a:t>
            </a:r>
            <a:r>
              <a:rPr sz="2000" b="1" spc="-210" dirty="0">
                <a:solidFill>
                  <a:srgbClr val="FFFFFF"/>
                </a:solidFill>
                <a:latin typeface="Times New Roman" panose="02020603050405020304" pitchFamily="18" charset="0"/>
                <a:cs typeface="Times New Roman" panose="02020603050405020304" pitchFamily="18" charset="0"/>
              </a:rPr>
              <a:t>s</a:t>
            </a:r>
            <a:r>
              <a:rPr sz="1900" b="1" spc="-210" dirty="0">
                <a:solidFill>
                  <a:srgbClr val="FFFFFF"/>
                </a:solidFill>
                <a:latin typeface="Times New Roman" panose="02020603050405020304" pitchFamily="18" charset="0"/>
                <a:cs typeface="Times New Roman" panose="02020603050405020304" pitchFamily="18" charset="0"/>
              </a:rPr>
              <a:t>ử</a:t>
            </a:r>
            <a:r>
              <a:rPr sz="1900" b="1" spc="-60" dirty="0">
                <a:solidFill>
                  <a:srgbClr val="FFFFFF"/>
                </a:solidFill>
                <a:latin typeface="Times New Roman" panose="02020603050405020304" pitchFamily="18" charset="0"/>
                <a:cs typeface="Times New Roman" panose="02020603050405020304" pitchFamily="18" charset="0"/>
              </a:rPr>
              <a:t> </a:t>
            </a:r>
            <a:r>
              <a:rPr sz="2000" b="1" spc="-114" dirty="0">
                <a:solidFill>
                  <a:srgbClr val="FFFFFF"/>
                </a:solidFill>
                <a:latin typeface="Times New Roman" panose="02020603050405020304" pitchFamily="18" charset="0"/>
                <a:cs typeface="Times New Roman" panose="02020603050405020304" pitchFamily="18" charset="0"/>
              </a:rPr>
              <a:t>hình</a:t>
            </a:r>
            <a:r>
              <a:rPr sz="2000" b="1" spc="-30" dirty="0">
                <a:solidFill>
                  <a:srgbClr val="FFFFFF"/>
                </a:solidFill>
                <a:latin typeface="Times New Roman" panose="02020603050405020304" pitchFamily="18" charset="0"/>
                <a:cs typeface="Times New Roman" panose="02020603050405020304" pitchFamily="18" charset="0"/>
              </a:rPr>
              <a:t> </a:t>
            </a:r>
            <a:r>
              <a:rPr sz="2000" b="1" spc="-120" dirty="0">
                <a:solidFill>
                  <a:srgbClr val="FFFFFF"/>
                </a:solidFill>
                <a:latin typeface="Times New Roman" panose="02020603050405020304" pitchFamily="18" charset="0"/>
                <a:cs typeface="Times New Roman" panose="02020603050405020304" pitchFamily="18" charset="0"/>
              </a:rPr>
              <a:t>thành</a:t>
            </a:r>
            <a:r>
              <a:rPr sz="2000" b="1" spc="-25" dirty="0">
                <a:solidFill>
                  <a:srgbClr val="FFFFFF"/>
                </a:solidFill>
                <a:latin typeface="Times New Roman" panose="02020603050405020304" pitchFamily="18" charset="0"/>
                <a:cs typeface="Times New Roman" panose="02020603050405020304" pitchFamily="18" charset="0"/>
              </a:rPr>
              <a:t> </a:t>
            </a:r>
            <a:r>
              <a:rPr sz="2000" b="1" spc="-125" dirty="0">
                <a:solidFill>
                  <a:srgbClr val="FFFFFF"/>
                </a:solidFill>
                <a:latin typeface="Times New Roman" panose="02020603050405020304" pitchFamily="18" charset="0"/>
                <a:cs typeface="Times New Roman" panose="02020603050405020304" pitchFamily="18" charset="0"/>
              </a:rPr>
              <a:t>và</a:t>
            </a:r>
            <a:r>
              <a:rPr sz="2000" b="1" spc="-30" dirty="0">
                <a:solidFill>
                  <a:srgbClr val="FFFFFF"/>
                </a:solidFill>
                <a:latin typeface="Times New Roman" panose="02020603050405020304" pitchFamily="18" charset="0"/>
                <a:cs typeface="Times New Roman" panose="02020603050405020304" pitchFamily="18" charset="0"/>
              </a:rPr>
              <a:t> </a:t>
            </a:r>
            <a:r>
              <a:rPr sz="2000" b="1" spc="-110" dirty="0">
                <a:solidFill>
                  <a:srgbClr val="FFFFFF"/>
                </a:solidFill>
                <a:latin typeface="Times New Roman" panose="02020603050405020304" pitchFamily="18" charset="0"/>
                <a:cs typeface="Times New Roman" panose="02020603050405020304" pitchFamily="18" charset="0"/>
              </a:rPr>
              <a:t>phát</a:t>
            </a:r>
            <a:r>
              <a:rPr sz="2000" b="1" spc="-30" dirty="0">
                <a:solidFill>
                  <a:srgbClr val="FFFFFF"/>
                </a:solidFill>
                <a:latin typeface="Times New Roman" panose="02020603050405020304" pitchFamily="18" charset="0"/>
                <a:cs typeface="Times New Roman" panose="02020603050405020304" pitchFamily="18" charset="0"/>
              </a:rPr>
              <a:t> </a:t>
            </a:r>
            <a:r>
              <a:rPr sz="2000" b="1" spc="-50" dirty="0">
                <a:solidFill>
                  <a:srgbClr val="FFFFFF"/>
                </a:solidFill>
                <a:latin typeface="Times New Roman" panose="02020603050405020304" pitchFamily="18" charset="0"/>
                <a:cs typeface="Times New Roman" panose="02020603050405020304" pitchFamily="18" charset="0"/>
              </a:rPr>
              <a:t>tri</a:t>
            </a:r>
            <a:r>
              <a:rPr sz="1900" b="1" spc="-50" dirty="0">
                <a:solidFill>
                  <a:srgbClr val="FFFFFF"/>
                </a:solidFill>
                <a:latin typeface="Times New Roman" panose="02020603050405020304" pitchFamily="18" charset="0"/>
                <a:cs typeface="Times New Roman" panose="02020603050405020304" pitchFamily="18" charset="0"/>
              </a:rPr>
              <a:t>ể</a:t>
            </a:r>
            <a:r>
              <a:rPr sz="2000" b="1" spc="-50" dirty="0">
                <a:solidFill>
                  <a:srgbClr val="FFFFFF"/>
                </a:solidFill>
                <a:latin typeface="Times New Roman" panose="02020603050405020304" pitchFamily="18" charset="0"/>
                <a:cs typeface="Times New Roman" panose="02020603050405020304" pitchFamily="18" charset="0"/>
              </a:rPr>
              <a:t>n</a:t>
            </a:r>
            <a:endParaRPr sz="20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787399" y="3857221"/>
            <a:ext cx="2709545" cy="330835"/>
          </a:xfrm>
          <a:prstGeom prst="rect">
            <a:avLst/>
          </a:prstGeom>
        </p:spPr>
        <p:txBody>
          <a:bodyPr vert="horz" wrap="square" lIns="0" tIns="12700" rIns="0" bIns="0" rtlCol="0">
            <a:spAutoFit/>
          </a:bodyPr>
          <a:lstStyle/>
          <a:p>
            <a:pPr marL="12700">
              <a:lnSpc>
                <a:spcPct val="100000"/>
              </a:lnSpc>
              <a:spcBef>
                <a:spcPts val="100"/>
              </a:spcBef>
            </a:pPr>
            <a:r>
              <a:rPr sz="2000" b="1" spc="-100" dirty="0">
                <a:solidFill>
                  <a:srgbClr val="FFFFFF"/>
                </a:solidFill>
                <a:latin typeface="Times New Roman" panose="02020603050405020304" pitchFamily="18" charset="0"/>
                <a:cs typeface="Times New Roman" panose="02020603050405020304" pitchFamily="18" charset="0"/>
              </a:rPr>
              <a:t>L</a:t>
            </a:r>
            <a:r>
              <a:rPr sz="1750" b="1" spc="-100" dirty="0">
                <a:solidFill>
                  <a:srgbClr val="FFFFFF"/>
                </a:solidFill>
                <a:latin typeface="Times New Roman" panose="02020603050405020304" pitchFamily="18" charset="0"/>
                <a:cs typeface="Times New Roman" panose="02020603050405020304" pitchFamily="18" charset="0"/>
              </a:rPr>
              <a:t>ĩ</a:t>
            </a:r>
            <a:r>
              <a:rPr sz="2000" b="1" spc="-100" dirty="0">
                <a:solidFill>
                  <a:srgbClr val="FFFFFF"/>
                </a:solidFill>
                <a:latin typeface="Times New Roman" panose="02020603050405020304" pitchFamily="18" charset="0"/>
                <a:cs typeface="Times New Roman" panose="02020603050405020304" pitchFamily="18" charset="0"/>
              </a:rPr>
              <a:t>nh</a:t>
            </a:r>
            <a:r>
              <a:rPr sz="2000" b="1" spc="-25" dirty="0">
                <a:solidFill>
                  <a:srgbClr val="FFFFFF"/>
                </a:solidFill>
                <a:latin typeface="Times New Roman" panose="02020603050405020304" pitchFamily="18" charset="0"/>
                <a:cs typeface="Times New Roman" panose="02020603050405020304" pitchFamily="18" charset="0"/>
              </a:rPr>
              <a:t> </a:t>
            </a:r>
            <a:r>
              <a:rPr sz="2000" b="1" spc="-175" dirty="0">
                <a:solidFill>
                  <a:srgbClr val="FFFFFF"/>
                </a:solidFill>
                <a:latin typeface="Times New Roman" panose="02020603050405020304" pitchFamily="18" charset="0"/>
                <a:cs typeface="Times New Roman" panose="02020603050405020304" pitchFamily="18" charset="0"/>
              </a:rPr>
              <a:t>v</a:t>
            </a:r>
            <a:r>
              <a:rPr sz="1900" b="1" spc="-175" dirty="0">
                <a:solidFill>
                  <a:srgbClr val="FFFFFF"/>
                </a:solidFill>
                <a:latin typeface="Times New Roman" panose="02020603050405020304" pitchFamily="18" charset="0"/>
                <a:cs typeface="Times New Roman" panose="02020603050405020304" pitchFamily="18" charset="0"/>
              </a:rPr>
              <a:t>ự</a:t>
            </a:r>
            <a:r>
              <a:rPr sz="2000" b="1" spc="-175" dirty="0">
                <a:solidFill>
                  <a:srgbClr val="FFFFFF"/>
                </a:solidFill>
                <a:latin typeface="Times New Roman" panose="02020603050405020304" pitchFamily="18" charset="0"/>
                <a:cs typeface="Times New Roman" panose="02020603050405020304" pitchFamily="18" charset="0"/>
              </a:rPr>
              <a:t>c</a:t>
            </a:r>
            <a:r>
              <a:rPr sz="2000" b="1" spc="-25" dirty="0">
                <a:solidFill>
                  <a:srgbClr val="FFFFFF"/>
                </a:solidFill>
                <a:latin typeface="Times New Roman" panose="02020603050405020304" pitchFamily="18" charset="0"/>
                <a:cs typeface="Times New Roman" panose="02020603050405020304" pitchFamily="18" charset="0"/>
              </a:rPr>
              <a:t> </a:t>
            </a:r>
            <a:r>
              <a:rPr sz="2000" b="1" spc="-110" dirty="0">
                <a:solidFill>
                  <a:srgbClr val="FFFFFF"/>
                </a:solidFill>
                <a:latin typeface="Times New Roman" panose="02020603050405020304" pitchFamily="18" charset="0"/>
                <a:cs typeface="Times New Roman" panose="02020603050405020304" pitchFamily="18" charset="0"/>
              </a:rPr>
              <a:t>kinh</a:t>
            </a:r>
            <a:r>
              <a:rPr sz="2000" b="1" spc="-20" dirty="0">
                <a:solidFill>
                  <a:srgbClr val="FFFFFF"/>
                </a:solidFill>
                <a:latin typeface="Times New Roman" panose="02020603050405020304" pitchFamily="18" charset="0"/>
                <a:cs typeface="Times New Roman" panose="02020603050405020304" pitchFamily="18" charset="0"/>
              </a:rPr>
              <a:t> </a:t>
            </a:r>
            <a:r>
              <a:rPr sz="2000" b="1" spc="-125" dirty="0">
                <a:solidFill>
                  <a:srgbClr val="FFFFFF"/>
                </a:solidFill>
                <a:latin typeface="Times New Roman" panose="02020603050405020304" pitchFamily="18" charset="0"/>
                <a:cs typeface="Times New Roman" panose="02020603050405020304" pitchFamily="18" charset="0"/>
              </a:rPr>
              <a:t>doanh</a:t>
            </a:r>
            <a:r>
              <a:rPr sz="2000" b="1" spc="-25" dirty="0">
                <a:solidFill>
                  <a:srgbClr val="FFFFFF"/>
                </a:solidFill>
                <a:latin typeface="Times New Roman" panose="02020603050405020304" pitchFamily="18" charset="0"/>
                <a:cs typeface="Times New Roman" panose="02020603050405020304" pitchFamily="18" charset="0"/>
              </a:rPr>
              <a:t> </a:t>
            </a:r>
            <a:r>
              <a:rPr sz="2000" b="1" spc="-80" dirty="0">
                <a:solidFill>
                  <a:srgbClr val="FFFFFF"/>
                </a:solidFill>
                <a:latin typeface="Times New Roman" panose="02020603050405020304" pitchFamily="18" charset="0"/>
                <a:cs typeface="Times New Roman" panose="02020603050405020304" pitchFamily="18" charset="0"/>
              </a:rPr>
              <a:t>chính</a:t>
            </a:r>
            <a:endParaRPr sz="2000" dirty="0">
              <a:latin typeface="Times New Roman" panose="02020603050405020304" pitchFamily="18" charset="0"/>
              <a:cs typeface="Times New Roman" panose="02020603050405020304" pitchFamily="18" charset="0"/>
            </a:endParaRPr>
          </a:p>
        </p:txBody>
      </p:sp>
      <p:sp>
        <p:nvSpPr>
          <p:cNvPr id="7" name="object 7"/>
          <p:cNvSpPr/>
          <p:nvPr/>
        </p:nvSpPr>
        <p:spPr>
          <a:xfrm>
            <a:off x="800099" y="4352924"/>
            <a:ext cx="3409950" cy="685800"/>
          </a:xfrm>
          <a:custGeom>
            <a:avLst/>
            <a:gdLst/>
            <a:ahLst/>
            <a:cxnLst/>
            <a:rect l="l" t="t" r="r" b="b"/>
            <a:pathLst>
              <a:path w="3409950" h="685800">
                <a:moveTo>
                  <a:pt x="3338753" y="685799"/>
                </a:moveTo>
                <a:lnTo>
                  <a:pt x="71196" y="685799"/>
                </a:lnTo>
                <a:lnTo>
                  <a:pt x="66241" y="685311"/>
                </a:lnTo>
                <a:lnTo>
                  <a:pt x="29705" y="670177"/>
                </a:lnTo>
                <a:lnTo>
                  <a:pt x="3885" y="634137"/>
                </a:lnTo>
                <a:lnTo>
                  <a:pt x="0" y="614603"/>
                </a:lnTo>
                <a:lnTo>
                  <a:pt x="0" y="609599"/>
                </a:lnTo>
                <a:lnTo>
                  <a:pt x="0" y="71196"/>
                </a:lnTo>
                <a:lnTo>
                  <a:pt x="15621" y="29705"/>
                </a:lnTo>
                <a:lnTo>
                  <a:pt x="51662" y="3885"/>
                </a:lnTo>
                <a:lnTo>
                  <a:pt x="71196" y="0"/>
                </a:lnTo>
                <a:lnTo>
                  <a:pt x="3338753" y="0"/>
                </a:lnTo>
                <a:lnTo>
                  <a:pt x="3380244" y="15621"/>
                </a:lnTo>
                <a:lnTo>
                  <a:pt x="3406063" y="51661"/>
                </a:lnTo>
                <a:lnTo>
                  <a:pt x="3409949" y="71196"/>
                </a:lnTo>
                <a:lnTo>
                  <a:pt x="3409949" y="614603"/>
                </a:lnTo>
                <a:lnTo>
                  <a:pt x="3394327" y="656094"/>
                </a:lnTo>
                <a:lnTo>
                  <a:pt x="3358287" y="681913"/>
                </a:lnTo>
                <a:lnTo>
                  <a:pt x="3343708" y="685311"/>
                </a:lnTo>
                <a:lnTo>
                  <a:pt x="3338753" y="685799"/>
                </a:lnTo>
                <a:close/>
              </a:path>
            </a:pathLst>
          </a:custGeom>
          <a:solidFill>
            <a:srgbClr val="FFFFFF">
              <a:alpha val="10198"/>
            </a:srgbClr>
          </a:solidFill>
        </p:spPr>
        <p:txBody>
          <a:bodyPr wrap="square" lIns="0" tIns="0" rIns="0" bIns="0" rtlCol="0"/>
          <a:lstStyle/>
          <a:p>
            <a:endParaRPr/>
          </a:p>
        </p:txBody>
      </p:sp>
      <p:sp>
        <p:nvSpPr>
          <p:cNvPr id="8" name="object 8"/>
          <p:cNvSpPr txBox="1"/>
          <p:nvPr/>
        </p:nvSpPr>
        <p:spPr>
          <a:xfrm>
            <a:off x="901700" y="4372174"/>
            <a:ext cx="2016125" cy="547370"/>
          </a:xfrm>
          <a:prstGeom prst="rect">
            <a:avLst/>
          </a:prstGeom>
        </p:spPr>
        <p:txBody>
          <a:bodyPr vert="horz" wrap="square" lIns="0" tIns="91440" rIns="0" bIns="0" rtlCol="0">
            <a:spAutoFit/>
          </a:bodyPr>
          <a:lstStyle/>
          <a:p>
            <a:pPr marL="12700">
              <a:lnSpc>
                <a:spcPct val="100000"/>
              </a:lnSpc>
              <a:spcBef>
                <a:spcPts val="720"/>
              </a:spcBef>
            </a:pPr>
            <a:r>
              <a:rPr sz="1300" b="0" spc="-60" dirty="0">
                <a:solidFill>
                  <a:srgbClr val="FFFFFF"/>
                </a:solidFill>
                <a:latin typeface="Times New Roman" panose="02020603050405020304" pitchFamily="18" charset="0"/>
                <a:cs typeface="Times New Roman" panose="02020603050405020304" pitchFamily="18" charset="0"/>
              </a:rPr>
              <a:t>Mobility</a:t>
            </a:r>
            <a:r>
              <a:rPr sz="1300" b="0" spc="45" dirty="0">
                <a:solidFill>
                  <a:srgbClr val="FFFFFF"/>
                </a:solidFill>
                <a:latin typeface="Times New Roman" panose="02020603050405020304" pitchFamily="18" charset="0"/>
                <a:cs typeface="Times New Roman" panose="02020603050405020304" pitchFamily="18" charset="0"/>
              </a:rPr>
              <a:t> </a:t>
            </a:r>
            <a:r>
              <a:rPr sz="1300" b="0" spc="-10" dirty="0">
                <a:solidFill>
                  <a:srgbClr val="FFFFFF"/>
                </a:solidFill>
                <a:latin typeface="Times New Roman" panose="02020603050405020304" pitchFamily="18" charset="0"/>
                <a:cs typeface="Times New Roman" panose="02020603050405020304" pitchFamily="18" charset="0"/>
              </a:rPr>
              <a:t>Solutions</a:t>
            </a:r>
            <a:endParaRPr sz="1300" dirty="0">
              <a:latin typeface="Times New Roman" panose="02020603050405020304" pitchFamily="18" charset="0"/>
              <a:cs typeface="Times New Roman" panose="02020603050405020304" pitchFamily="18" charset="0"/>
            </a:endParaRPr>
          </a:p>
          <a:p>
            <a:pPr marL="12700">
              <a:lnSpc>
                <a:spcPct val="100000"/>
              </a:lnSpc>
              <a:spcBef>
                <a:spcPts val="540"/>
              </a:spcBef>
            </a:pPr>
            <a:r>
              <a:rPr sz="1150" spc="-90" dirty="0">
                <a:solidFill>
                  <a:srgbClr val="FFFFFF"/>
                </a:solidFill>
                <a:latin typeface="Times New Roman" panose="02020603050405020304" pitchFamily="18" charset="0"/>
                <a:cs typeface="Times New Roman" panose="02020603050405020304" pitchFamily="18" charset="0"/>
              </a:rPr>
              <a:t>Hệ</a:t>
            </a:r>
            <a:r>
              <a:rPr sz="1150" spc="-55" dirty="0">
                <a:solidFill>
                  <a:srgbClr val="FFFFFF"/>
                </a:solidFill>
                <a:latin typeface="Times New Roman" panose="02020603050405020304" pitchFamily="18" charset="0"/>
                <a:cs typeface="Times New Roman" panose="02020603050405020304" pitchFamily="18" charset="0"/>
              </a:rPr>
              <a:t> thống</a:t>
            </a:r>
            <a:r>
              <a:rPr sz="1150" spc="-15" dirty="0">
                <a:solidFill>
                  <a:srgbClr val="FFFFFF"/>
                </a:solidFill>
                <a:latin typeface="Times New Roman" panose="02020603050405020304" pitchFamily="18" charset="0"/>
                <a:cs typeface="Times New Roman" panose="02020603050405020304" pitchFamily="18" charset="0"/>
              </a:rPr>
              <a:t> </a:t>
            </a:r>
            <a:r>
              <a:rPr sz="1050" spc="-30" dirty="0">
                <a:solidFill>
                  <a:srgbClr val="FFFFFF"/>
                </a:solidFill>
                <a:latin typeface="Times New Roman" panose="02020603050405020304" pitchFamily="18" charset="0"/>
                <a:cs typeface="Times New Roman" panose="02020603050405020304" pitchFamily="18" charset="0"/>
              </a:rPr>
              <a:t>đ</a:t>
            </a:r>
            <a:r>
              <a:rPr sz="1150" spc="-30" dirty="0">
                <a:solidFill>
                  <a:srgbClr val="FFFFFF"/>
                </a:solidFill>
                <a:latin typeface="Times New Roman" panose="02020603050405020304" pitchFamily="18" charset="0"/>
                <a:cs typeface="Times New Roman" panose="02020603050405020304" pitchFamily="18" charset="0"/>
              </a:rPr>
              <a:t>iều</a:t>
            </a:r>
            <a:r>
              <a:rPr sz="1150" spc="-15" dirty="0">
                <a:solidFill>
                  <a:srgbClr val="FFFFFF"/>
                </a:solidFill>
                <a:latin typeface="Times New Roman" panose="02020603050405020304" pitchFamily="18" charset="0"/>
                <a:cs typeface="Times New Roman" panose="02020603050405020304" pitchFamily="18" charset="0"/>
              </a:rPr>
              <a:t> </a:t>
            </a:r>
            <a:r>
              <a:rPr sz="1150" spc="-50" dirty="0">
                <a:solidFill>
                  <a:srgbClr val="FFFFFF"/>
                </a:solidFill>
                <a:latin typeface="Times New Roman" panose="02020603050405020304" pitchFamily="18" charset="0"/>
                <a:cs typeface="Times New Roman" panose="02020603050405020304" pitchFamily="18" charset="0"/>
              </a:rPr>
              <a:t>khiển,</a:t>
            </a:r>
            <a:r>
              <a:rPr sz="1150" spc="-15" dirty="0">
                <a:solidFill>
                  <a:srgbClr val="FFFFFF"/>
                </a:solidFill>
                <a:latin typeface="Times New Roman" panose="02020603050405020304" pitchFamily="18" charset="0"/>
                <a:cs typeface="Times New Roman" panose="02020603050405020304" pitchFamily="18" charset="0"/>
              </a:rPr>
              <a:t> </a:t>
            </a:r>
            <a:r>
              <a:rPr sz="1150" spc="-35" dirty="0">
                <a:solidFill>
                  <a:srgbClr val="FFFFFF"/>
                </a:solidFill>
                <a:latin typeface="Times New Roman" panose="02020603050405020304" pitchFamily="18" charset="0"/>
                <a:cs typeface="Times New Roman" panose="02020603050405020304" pitchFamily="18" charset="0"/>
              </a:rPr>
              <a:t>linh</a:t>
            </a:r>
            <a:r>
              <a:rPr sz="1150" spc="-1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kiện</a:t>
            </a:r>
            <a:r>
              <a:rPr sz="1150" spc="-1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ô</a:t>
            </a:r>
            <a:r>
              <a:rPr sz="1150" spc="-15" dirty="0">
                <a:solidFill>
                  <a:srgbClr val="FFFFFF"/>
                </a:solidFill>
                <a:latin typeface="Times New Roman" panose="02020603050405020304" pitchFamily="18" charset="0"/>
                <a:cs typeface="Times New Roman" panose="02020603050405020304" pitchFamily="18" charset="0"/>
              </a:rPr>
              <a:t> </a:t>
            </a:r>
            <a:r>
              <a:rPr sz="1150" spc="-25" dirty="0">
                <a:solidFill>
                  <a:srgbClr val="FFFFFF"/>
                </a:solidFill>
                <a:latin typeface="Times New Roman" panose="02020603050405020304" pitchFamily="18" charset="0"/>
                <a:cs typeface="Times New Roman" panose="02020603050405020304" pitchFamily="18" charset="0"/>
              </a:rPr>
              <a:t>tô</a:t>
            </a:r>
            <a:endParaRPr sz="1150" dirty="0">
              <a:latin typeface="Times New Roman" panose="02020603050405020304" pitchFamily="18" charset="0"/>
              <a:cs typeface="Times New Roman" panose="02020603050405020304" pitchFamily="18" charset="0"/>
            </a:endParaRPr>
          </a:p>
        </p:txBody>
      </p:sp>
      <p:sp>
        <p:nvSpPr>
          <p:cNvPr id="9" name="object 9"/>
          <p:cNvSpPr/>
          <p:nvPr/>
        </p:nvSpPr>
        <p:spPr>
          <a:xfrm>
            <a:off x="4362449" y="4352924"/>
            <a:ext cx="3400425" cy="685800"/>
          </a:xfrm>
          <a:custGeom>
            <a:avLst/>
            <a:gdLst/>
            <a:ahLst/>
            <a:cxnLst/>
            <a:rect l="l" t="t" r="r" b="b"/>
            <a:pathLst>
              <a:path w="3400425" h="685800">
                <a:moveTo>
                  <a:pt x="3329228" y="685799"/>
                </a:moveTo>
                <a:lnTo>
                  <a:pt x="71196" y="685799"/>
                </a:lnTo>
                <a:lnTo>
                  <a:pt x="66241" y="685311"/>
                </a:lnTo>
                <a:lnTo>
                  <a:pt x="29704" y="670177"/>
                </a:lnTo>
                <a:lnTo>
                  <a:pt x="3885" y="634137"/>
                </a:lnTo>
                <a:lnTo>
                  <a:pt x="0" y="614603"/>
                </a:lnTo>
                <a:lnTo>
                  <a:pt x="0" y="609599"/>
                </a:lnTo>
                <a:lnTo>
                  <a:pt x="0" y="71196"/>
                </a:lnTo>
                <a:lnTo>
                  <a:pt x="15621" y="29705"/>
                </a:lnTo>
                <a:lnTo>
                  <a:pt x="51661" y="3885"/>
                </a:lnTo>
                <a:lnTo>
                  <a:pt x="71196" y="0"/>
                </a:lnTo>
                <a:lnTo>
                  <a:pt x="3329228" y="0"/>
                </a:lnTo>
                <a:lnTo>
                  <a:pt x="3370718" y="15621"/>
                </a:lnTo>
                <a:lnTo>
                  <a:pt x="3396538" y="51661"/>
                </a:lnTo>
                <a:lnTo>
                  <a:pt x="3400424" y="71196"/>
                </a:lnTo>
                <a:lnTo>
                  <a:pt x="3400424" y="614603"/>
                </a:lnTo>
                <a:lnTo>
                  <a:pt x="3384802" y="656094"/>
                </a:lnTo>
                <a:lnTo>
                  <a:pt x="3348761" y="681913"/>
                </a:lnTo>
                <a:lnTo>
                  <a:pt x="3334183" y="685311"/>
                </a:lnTo>
                <a:lnTo>
                  <a:pt x="3329228" y="685799"/>
                </a:lnTo>
                <a:close/>
              </a:path>
            </a:pathLst>
          </a:custGeom>
          <a:solidFill>
            <a:srgbClr val="FFFFFF">
              <a:alpha val="10198"/>
            </a:srgbClr>
          </a:solidFill>
        </p:spPr>
        <p:txBody>
          <a:bodyPr wrap="square" lIns="0" tIns="0" rIns="0" bIns="0" rtlCol="0"/>
          <a:lstStyle/>
          <a:p>
            <a:endParaRPr/>
          </a:p>
        </p:txBody>
      </p:sp>
      <p:sp>
        <p:nvSpPr>
          <p:cNvPr id="10" name="object 10"/>
          <p:cNvSpPr txBox="1"/>
          <p:nvPr/>
        </p:nvSpPr>
        <p:spPr>
          <a:xfrm>
            <a:off x="4459733" y="4372174"/>
            <a:ext cx="2181225" cy="547370"/>
          </a:xfrm>
          <a:prstGeom prst="rect">
            <a:avLst/>
          </a:prstGeom>
        </p:spPr>
        <p:txBody>
          <a:bodyPr vert="horz" wrap="square" lIns="0" tIns="91440" rIns="0" bIns="0" rtlCol="0">
            <a:spAutoFit/>
          </a:bodyPr>
          <a:lstStyle/>
          <a:p>
            <a:pPr marL="12700">
              <a:lnSpc>
                <a:spcPct val="100000"/>
              </a:lnSpc>
              <a:spcBef>
                <a:spcPts val="720"/>
              </a:spcBef>
            </a:pPr>
            <a:r>
              <a:rPr sz="1300" b="0" spc="-50" dirty="0">
                <a:solidFill>
                  <a:srgbClr val="FFFFFF"/>
                </a:solidFill>
                <a:latin typeface="Times New Roman" panose="02020603050405020304" pitchFamily="18" charset="0"/>
                <a:cs typeface="Times New Roman" panose="02020603050405020304" pitchFamily="18" charset="0"/>
              </a:rPr>
              <a:t>Industrial</a:t>
            </a:r>
            <a:r>
              <a:rPr sz="1300" b="0" spc="-15" dirty="0">
                <a:solidFill>
                  <a:srgbClr val="FFFFFF"/>
                </a:solidFill>
                <a:latin typeface="Times New Roman" panose="02020603050405020304" pitchFamily="18" charset="0"/>
                <a:cs typeface="Times New Roman" panose="02020603050405020304" pitchFamily="18" charset="0"/>
              </a:rPr>
              <a:t> </a:t>
            </a:r>
            <a:r>
              <a:rPr sz="1300" b="0" spc="-10" dirty="0">
                <a:solidFill>
                  <a:srgbClr val="FFFFFF"/>
                </a:solidFill>
                <a:latin typeface="Times New Roman" panose="02020603050405020304" pitchFamily="18" charset="0"/>
                <a:cs typeface="Times New Roman" panose="02020603050405020304" pitchFamily="18" charset="0"/>
              </a:rPr>
              <a:t>Technology</a:t>
            </a:r>
            <a:endParaRPr sz="1300" dirty="0">
              <a:latin typeface="Times New Roman" panose="02020603050405020304" pitchFamily="18" charset="0"/>
              <a:cs typeface="Times New Roman" panose="02020603050405020304" pitchFamily="18" charset="0"/>
            </a:endParaRPr>
          </a:p>
          <a:p>
            <a:pPr marL="12700">
              <a:lnSpc>
                <a:spcPct val="100000"/>
              </a:lnSpc>
              <a:spcBef>
                <a:spcPts val="540"/>
              </a:spcBef>
            </a:pPr>
            <a:r>
              <a:rPr sz="1150" spc="-70" dirty="0">
                <a:solidFill>
                  <a:srgbClr val="FFFFFF"/>
                </a:solidFill>
                <a:latin typeface="Times New Roman" panose="02020603050405020304" pitchFamily="18" charset="0"/>
                <a:cs typeface="Times New Roman" panose="02020603050405020304" pitchFamily="18" charset="0"/>
              </a:rPr>
              <a:t>Công</a:t>
            </a:r>
            <a:r>
              <a:rPr sz="1150" spc="-15" dirty="0">
                <a:solidFill>
                  <a:srgbClr val="FFFFFF"/>
                </a:solidFill>
                <a:latin typeface="Times New Roman" panose="02020603050405020304" pitchFamily="18" charset="0"/>
                <a:cs typeface="Times New Roman" panose="02020603050405020304" pitchFamily="18" charset="0"/>
              </a:rPr>
              <a:t> </a:t>
            </a:r>
            <a:r>
              <a:rPr sz="1150" spc="-65" dirty="0">
                <a:solidFill>
                  <a:srgbClr val="FFFFFF"/>
                </a:solidFill>
                <a:latin typeface="Times New Roman" panose="02020603050405020304" pitchFamily="18" charset="0"/>
                <a:cs typeface="Times New Roman" panose="02020603050405020304" pitchFamily="18" charset="0"/>
              </a:rPr>
              <a:t>nghệ</a:t>
            </a:r>
            <a:r>
              <a:rPr sz="1150" spc="-4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truyền</a:t>
            </a:r>
            <a:r>
              <a:rPr sz="1150" spc="-15" dirty="0">
                <a:solidFill>
                  <a:srgbClr val="FFFFFF"/>
                </a:solidFill>
                <a:latin typeface="Times New Roman" panose="02020603050405020304" pitchFamily="18" charset="0"/>
                <a:cs typeface="Times New Roman" panose="02020603050405020304" pitchFamily="18" charset="0"/>
              </a:rPr>
              <a:t> </a:t>
            </a:r>
            <a:r>
              <a:rPr sz="1050" spc="-25" dirty="0">
                <a:solidFill>
                  <a:srgbClr val="FFFFFF"/>
                </a:solidFill>
                <a:latin typeface="Times New Roman" panose="02020603050405020304" pitchFamily="18" charset="0"/>
                <a:cs typeface="Times New Roman" panose="02020603050405020304" pitchFamily="18" charset="0"/>
              </a:rPr>
              <a:t>đ</a:t>
            </a:r>
            <a:r>
              <a:rPr sz="1150" spc="-25" dirty="0">
                <a:solidFill>
                  <a:srgbClr val="FFFFFF"/>
                </a:solidFill>
                <a:latin typeface="Times New Roman" panose="02020603050405020304" pitchFamily="18" charset="0"/>
                <a:cs typeface="Times New Roman" panose="02020603050405020304" pitchFamily="18" charset="0"/>
              </a:rPr>
              <a:t>ộng,</a:t>
            </a:r>
            <a:r>
              <a:rPr sz="1150" spc="-10" dirty="0">
                <a:solidFill>
                  <a:srgbClr val="FFFFFF"/>
                </a:solidFill>
                <a:latin typeface="Times New Roman" panose="02020603050405020304" pitchFamily="18" charset="0"/>
                <a:cs typeface="Times New Roman" panose="02020603050405020304" pitchFamily="18" charset="0"/>
              </a:rPr>
              <a:t> </a:t>
            </a:r>
            <a:r>
              <a:rPr sz="1150" spc="-85" dirty="0">
                <a:solidFill>
                  <a:srgbClr val="FFFFFF"/>
                </a:solidFill>
                <a:latin typeface="Times New Roman" panose="02020603050405020304" pitchFamily="18" charset="0"/>
                <a:cs typeface="Times New Roman" panose="02020603050405020304" pitchFamily="18" charset="0"/>
              </a:rPr>
              <a:t>tự</a:t>
            </a:r>
            <a:r>
              <a:rPr sz="1150" spc="-50" dirty="0">
                <a:solidFill>
                  <a:srgbClr val="FFFFFF"/>
                </a:solidFill>
                <a:latin typeface="Times New Roman" panose="02020603050405020304" pitchFamily="18" charset="0"/>
                <a:cs typeface="Times New Roman" panose="02020603050405020304" pitchFamily="18" charset="0"/>
              </a:rPr>
              <a:t> </a:t>
            </a:r>
            <a:r>
              <a:rPr sz="1050" spc="-25" dirty="0">
                <a:solidFill>
                  <a:srgbClr val="FFFFFF"/>
                </a:solidFill>
                <a:latin typeface="Times New Roman" panose="02020603050405020304" pitchFamily="18" charset="0"/>
                <a:cs typeface="Times New Roman" panose="02020603050405020304" pitchFamily="18" charset="0"/>
              </a:rPr>
              <a:t>đ</a:t>
            </a:r>
            <a:r>
              <a:rPr sz="1150" spc="-25" dirty="0">
                <a:solidFill>
                  <a:srgbClr val="FFFFFF"/>
                </a:solidFill>
                <a:latin typeface="Times New Roman" panose="02020603050405020304" pitchFamily="18" charset="0"/>
                <a:cs typeface="Times New Roman" panose="02020603050405020304" pitchFamily="18" charset="0"/>
              </a:rPr>
              <a:t>ộng</a:t>
            </a:r>
            <a:r>
              <a:rPr sz="1150" spc="-10" dirty="0">
                <a:solidFill>
                  <a:srgbClr val="FFFFFF"/>
                </a:solidFill>
                <a:latin typeface="Times New Roman" panose="02020603050405020304" pitchFamily="18" charset="0"/>
                <a:cs typeface="Times New Roman" panose="02020603050405020304" pitchFamily="18" charset="0"/>
              </a:rPr>
              <a:t> </a:t>
            </a:r>
            <a:r>
              <a:rPr sz="1150" spc="-50" dirty="0">
                <a:solidFill>
                  <a:srgbClr val="FFFFFF"/>
                </a:solidFill>
                <a:latin typeface="Times New Roman" panose="02020603050405020304" pitchFamily="18" charset="0"/>
                <a:cs typeface="Times New Roman" panose="02020603050405020304" pitchFamily="18" charset="0"/>
              </a:rPr>
              <a:t>hóa</a:t>
            </a:r>
            <a:endParaRPr sz="1150" dirty="0">
              <a:latin typeface="Times New Roman" panose="02020603050405020304" pitchFamily="18" charset="0"/>
              <a:cs typeface="Times New Roman" panose="02020603050405020304" pitchFamily="18" charset="0"/>
            </a:endParaRPr>
          </a:p>
        </p:txBody>
      </p:sp>
      <p:sp>
        <p:nvSpPr>
          <p:cNvPr id="11" name="object 11"/>
          <p:cNvSpPr/>
          <p:nvPr/>
        </p:nvSpPr>
        <p:spPr>
          <a:xfrm>
            <a:off x="800099" y="5191125"/>
            <a:ext cx="3409950" cy="685800"/>
          </a:xfrm>
          <a:custGeom>
            <a:avLst/>
            <a:gdLst/>
            <a:ahLst/>
            <a:cxnLst/>
            <a:rect l="l" t="t" r="r" b="b"/>
            <a:pathLst>
              <a:path w="3409950" h="685800">
                <a:moveTo>
                  <a:pt x="3338753" y="685799"/>
                </a:moveTo>
                <a:lnTo>
                  <a:pt x="71196" y="685799"/>
                </a:lnTo>
                <a:lnTo>
                  <a:pt x="66241" y="685311"/>
                </a:lnTo>
                <a:lnTo>
                  <a:pt x="29705" y="670177"/>
                </a:lnTo>
                <a:lnTo>
                  <a:pt x="3885" y="634136"/>
                </a:lnTo>
                <a:lnTo>
                  <a:pt x="0" y="614602"/>
                </a:lnTo>
                <a:lnTo>
                  <a:pt x="0" y="609599"/>
                </a:lnTo>
                <a:lnTo>
                  <a:pt x="0" y="71195"/>
                </a:lnTo>
                <a:lnTo>
                  <a:pt x="15621" y="29703"/>
                </a:lnTo>
                <a:lnTo>
                  <a:pt x="51662" y="3884"/>
                </a:lnTo>
                <a:lnTo>
                  <a:pt x="71196" y="0"/>
                </a:lnTo>
                <a:lnTo>
                  <a:pt x="3338753" y="0"/>
                </a:lnTo>
                <a:lnTo>
                  <a:pt x="3380244" y="15619"/>
                </a:lnTo>
                <a:lnTo>
                  <a:pt x="3406063" y="51660"/>
                </a:lnTo>
                <a:lnTo>
                  <a:pt x="3409949" y="71195"/>
                </a:lnTo>
                <a:lnTo>
                  <a:pt x="3409949" y="614602"/>
                </a:lnTo>
                <a:lnTo>
                  <a:pt x="3394327" y="656093"/>
                </a:lnTo>
                <a:lnTo>
                  <a:pt x="3358287" y="681912"/>
                </a:lnTo>
                <a:lnTo>
                  <a:pt x="3343708" y="685311"/>
                </a:lnTo>
                <a:lnTo>
                  <a:pt x="3338753" y="685799"/>
                </a:lnTo>
                <a:close/>
              </a:path>
            </a:pathLst>
          </a:custGeom>
          <a:solidFill>
            <a:srgbClr val="FFFFFF">
              <a:alpha val="10198"/>
            </a:srgbClr>
          </a:solidFill>
        </p:spPr>
        <p:txBody>
          <a:bodyPr wrap="square" lIns="0" tIns="0" rIns="0" bIns="0" rtlCol="0"/>
          <a:lstStyle/>
          <a:p>
            <a:endParaRPr/>
          </a:p>
        </p:txBody>
      </p:sp>
      <p:sp>
        <p:nvSpPr>
          <p:cNvPr id="12" name="object 12"/>
          <p:cNvSpPr txBox="1"/>
          <p:nvPr/>
        </p:nvSpPr>
        <p:spPr>
          <a:xfrm>
            <a:off x="901700" y="5210374"/>
            <a:ext cx="2118360" cy="547370"/>
          </a:xfrm>
          <a:prstGeom prst="rect">
            <a:avLst/>
          </a:prstGeom>
        </p:spPr>
        <p:txBody>
          <a:bodyPr vert="horz" wrap="square" lIns="0" tIns="91440" rIns="0" bIns="0" rtlCol="0">
            <a:spAutoFit/>
          </a:bodyPr>
          <a:lstStyle/>
          <a:p>
            <a:pPr marL="12700">
              <a:lnSpc>
                <a:spcPct val="100000"/>
              </a:lnSpc>
              <a:spcBef>
                <a:spcPts val="720"/>
              </a:spcBef>
            </a:pPr>
            <a:r>
              <a:rPr sz="1300" b="0" spc="-65" dirty="0">
                <a:solidFill>
                  <a:srgbClr val="FFFFFF"/>
                </a:solidFill>
                <a:latin typeface="Times New Roman" panose="02020603050405020304" pitchFamily="18" charset="0"/>
                <a:cs typeface="Times New Roman" panose="02020603050405020304" pitchFamily="18" charset="0"/>
              </a:rPr>
              <a:t>Consumer</a:t>
            </a:r>
            <a:r>
              <a:rPr sz="1300" b="0" spc="-25" dirty="0">
                <a:solidFill>
                  <a:srgbClr val="FFFFFF"/>
                </a:solidFill>
                <a:latin typeface="Times New Roman" panose="02020603050405020304" pitchFamily="18" charset="0"/>
                <a:cs typeface="Times New Roman" panose="02020603050405020304" pitchFamily="18" charset="0"/>
              </a:rPr>
              <a:t> </a:t>
            </a:r>
            <a:r>
              <a:rPr sz="1300" b="0" spc="-10" dirty="0">
                <a:solidFill>
                  <a:srgbClr val="FFFFFF"/>
                </a:solidFill>
                <a:latin typeface="Times New Roman" panose="02020603050405020304" pitchFamily="18" charset="0"/>
                <a:cs typeface="Times New Roman" panose="02020603050405020304" pitchFamily="18" charset="0"/>
              </a:rPr>
              <a:t>Goods</a:t>
            </a:r>
            <a:endParaRPr sz="1300" dirty="0">
              <a:latin typeface="Times New Roman" panose="02020603050405020304" pitchFamily="18" charset="0"/>
              <a:cs typeface="Times New Roman" panose="02020603050405020304" pitchFamily="18" charset="0"/>
            </a:endParaRPr>
          </a:p>
          <a:p>
            <a:pPr marL="12700">
              <a:lnSpc>
                <a:spcPct val="100000"/>
              </a:lnSpc>
              <a:spcBef>
                <a:spcPts val="540"/>
              </a:spcBef>
            </a:pPr>
            <a:r>
              <a:rPr sz="1150" spc="-60" dirty="0">
                <a:solidFill>
                  <a:srgbClr val="FFFFFF"/>
                </a:solidFill>
                <a:latin typeface="Times New Roman" panose="02020603050405020304" pitchFamily="18" charset="0"/>
                <a:cs typeface="Times New Roman" panose="02020603050405020304" pitchFamily="18" charset="0"/>
              </a:rPr>
              <a:t>Thiết</a:t>
            </a:r>
            <a:r>
              <a:rPr sz="1150" spc="-5" dirty="0">
                <a:solidFill>
                  <a:srgbClr val="FFFFFF"/>
                </a:solidFill>
                <a:latin typeface="Times New Roman" panose="02020603050405020304" pitchFamily="18" charset="0"/>
                <a:cs typeface="Times New Roman" panose="02020603050405020304" pitchFamily="18" charset="0"/>
              </a:rPr>
              <a:t> </a:t>
            </a:r>
            <a:r>
              <a:rPr sz="1150" spc="-40" dirty="0">
                <a:solidFill>
                  <a:srgbClr val="FFFFFF"/>
                </a:solidFill>
                <a:latin typeface="Times New Roman" panose="02020603050405020304" pitchFamily="18" charset="0"/>
                <a:cs typeface="Times New Roman" panose="02020603050405020304" pitchFamily="18" charset="0"/>
              </a:rPr>
              <a:t>bị </a:t>
            </a:r>
            <a:r>
              <a:rPr sz="1050" spc="-35" dirty="0">
                <a:solidFill>
                  <a:srgbClr val="FFFFFF"/>
                </a:solidFill>
                <a:latin typeface="Times New Roman" panose="02020603050405020304" pitchFamily="18" charset="0"/>
                <a:cs typeface="Times New Roman" panose="02020603050405020304" pitchFamily="18" charset="0"/>
              </a:rPr>
              <a:t>đ</a:t>
            </a:r>
            <a:r>
              <a:rPr sz="1150" spc="-35" dirty="0">
                <a:solidFill>
                  <a:srgbClr val="FFFFFF"/>
                </a:solidFill>
                <a:latin typeface="Times New Roman" panose="02020603050405020304" pitchFamily="18" charset="0"/>
                <a:cs typeface="Times New Roman" panose="02020603050405020304" pitchFamily="18" charset="0"/>
              </a:rPr>
              <a:t>iện</a:t>
            </a:r>
            <a:r>
              <a:rPr sz="1150" spc="-5" dirty="0">
                <a:solidFill>
                  <a:srgbClr val="FFFFFF"/>
                </a:solidFill>
                <a:latin typeface="Times New Roman" panose="02020603050405020304" pitchFamily="18" charset="0"/>
                <a:cs typeface="Times New Roman" panose="02020603050405020304" pitchFamily="18" charset="0"/>
              </a:rPr>
              <a:t> </a:t>
            </a:r>
            <a:r>
              <a:rPr sz="1150" spc="-50" dirty="0">
                <a:solidFill>
                  <a:srgbClr val="FFFFFF"/>
                </a:solidFill>
                <a:latin typeface="Times New Roman" panose="02020603050405020304" pitchFamily="18" charset="0"/>
                <a:cs typeface="Times New Roman" panose="02020603050405020304" pitchFamily="18" charset="0"/>
              </a:rPr>
              <a:t>gia</a:t>
            </a:r>
            <a:r>
              <a:rPr sz="1150" spc="-5"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dụng,</a:t>
            </a:r>
            <a:r>
              <a:rPr sz="1150"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công</a:t>
            </a:r>
            <a:r>
              <a:rPr sz="1150" spc="-5" dirty="0">
                <a:solidFill>
                  <a:srgbClr val="FFFFFF"/>
                </a:solidFill>
                <a:latin typeface="Times New Roman" panose="02020603050405020304" pitchFamily="18" charset="0"/>
                <a:cs typeface="Times New Roman" panose="02020603050405020304" pitchFamily="18" charset="0"/>
              </a:rPr>
              <a:t> </a:t>
            </a:r>
            <a:r>
              <a:rPr sz="1150" spc="-70" dirty="0">
                <a:solidFill>
                  <a:srgbClr val="FFFFFF"/>
                </a:solidFill>
                <a:latin typeface="Times New Roman" panose="02020603050405020304" pitchFamily="18" charset="0"/>
                <a:cs typeface="Times New Roman" panose="02020603050405020304" pitchFamily="18" charset="0"/>
              </a:rPr>
              <a:t>cụ</a:t>
            </a:r>
            <a:r>
              <a:rPr sz="1150" spc="-40" dirty="0">
                <a:solidFill>
                  <a:srgbClr val="FFFFFF"/>
                </a:solidFill>
                <a:latin typeface="Times New Roman" panose="02020603050405020304" pitchFamily="18" charset="0"/>
                <a:cs typeface="Times New Roman" panose="02020603050405020304" pitchFamily="18" charset="0"/>
              </a:rPr>
              <a:t> </a:t>
            </a:r>
            <a:r>
              <a:rPr sz="1050" spc="-20" dirty="0">
                <a:solidFill>
                  <a:srgbClr val="FFFFFF"/>
                </a:solidFill>
                <a:latin typeface="Times New Roman" panose="02020603050405020304" pitchFamily="18" charset="0"/>
                <a:cs typeface="Times New Roman" panose="02020603050405020304" pitchFamily="18" charset="0"/>
              </a:rPr>
              <a:t>đ</a:t>
            </a:r>
            <a:r>
              <a:rPr sz="1150" spc="-20" dirty="0">
                <a:solidFill>
                  <a:srgbClr val="FFFFFF"/>
                </a:solidFill>
                <a:latin typeface="Times New Roman" panose="02020603050405020304" pitchFamily="18" charset="0"/>
                <a:cs typeface="Times New Roman" panose="02020603050405020304" pitchFamily="18" charset="0"/>
              </a:rPr>
              <a:t>iện</a:t>
            </a:r>
            <a:endParaRPr sz="1150" dirty="0">
              <a:latin typeface="Times New Roman" panose="02020603050405020304" pitchFamily="18" charset="0"/>
              <a:cs typeface="Times New Roman" panose="02020603050405020304" pitchFamily="18" charset="0"/>
            </a:endParaRPr>
          </a:p>
        </p:txBody>
      </p:sp>
      <p:sp>
        <p:nvSpPr>
          <p:cNvPr id="13" name="object 13"/>
          <p:cNvSpPr/>
          <p:nvPr/>
        </p:nvSpPr>
        <p:spPr>
          <a:xfrm>
            <a:off x="4362449" y="5191125"/>
            <a:ext cx="3400425" cy="685800"/>
          </a:xfrm>
          <a:custGeom>
            <a:avLst/>
            <a:gdLst/>
            <a:ahLst/>
            <a:cxnLst/>
            <a:rect l="l" t="t" r="r" b="b"/>
            <a:pathLst>
              <a:path w="3400425" h="685800">
                <a:moveTo>
                  <a:pt x="3329228" y="685799"/>
                </a:moveTo>
                <a:lnTo>
                  <a:pt x="71196" y="685799"/>
                </a:lnTo>
                <a:lnTo>
                  <a:pt x="66241" y="685311"/>
                </a:lnTo>
                <a:lnTo>
                  <a:pt x="29704" y="670177"/>
                </a:lnTo>
                <a:lnTo>
                  <a:pt x="3885" y="634136"/>
                </a:lnTo>
                <a:lnTo>
                  <a:pt x="0" y="614602"/>
                </a:lnTo>
                <a:lnTo>
                  <a:pt x="0" y="609599"/>
                </a:lnTo>
                <a:lnTo>
                  <a:pt x="0" y="71195"/>
                </a:lnTo>
                <a:lnTo>
                  <a:pt x="15621" y="29703"/>
                </a:lnTo>
                <a:lnTo>
                  <a:pt x="51661" y="3884"/>
                </a:lnTo>
                <a:lnTo>
                  <a:pt x="71196" y="0"/>
                </a:lnTo>
                <a:lnTo>
                  <a:pt x="3329228" y="0"/>
                </a:lnTo>
                <a:lnTo>
                  <a:pt x="3370718" y="15619"/>
                </a:lnTo>
                <a:lnTo>
                  <a:pt x="3396538" y="51660"/>
                </a:lnTo>
                <a:lnTo>
                  <a:pt x="3400424" y="71195"/>
                </a:lnTo>
                <a:lnTo>
                  <a:pt x="3400424" y="614602"/>
                </a:lnTo>
                <a:lnTo>
                  <a:pt x="3384802" y="656093"/>
                </a:lnTo>
                <a:lnTo>
                  <a:pt x="3348761" y="681912"/>
                </a:lnTo>
                <a:lnTo>
                  <a:pt x="3334183" y="685311"/>
                </a:lnTo>
                <a:lnTo>
                  <a:pt x="3329228" y="685799"/>
                </a:lnTo>
                <a:close/>
              </a:path>
            </a:pathLst>
          </a:custGeom>
          <a:solidFill>
            <a:srgbClr val="FFFFFF">
              <a:alpha val="10198"/>
            </a:srgbClr>
          </a:solidFill>
        </p:spPr>
        <p:txBody>
          <a:bodyPr wrap="square" lIns="0" tIns="0" rIns="0" bIns="0" rtlCol="0"/>
          <a:lstStyle/>
          <a:p>
            <a:endParaRPr/>
          </a:p>
        </p:txBody>
      </p:sp>
      <p:sp>
        <p:nvSpPr>
          <p:cNvPr id="14" name="object 14"/>
          <p:cNvSpPr txBox="1"/>
          <p:nvPr/>
        </p:nvSpPr>
        <p:spPr>
          <a:xfrm>
            <a:off x="4459733" y="5210374"/>
            <a:ext cx="2129155" cy="547370"/>
          </a:xfrm>
          <a:prstGeom prst="rect">
            <a:avLst/>
          </a:prstGeom>
        </p:spPr>
        <p:txBody>
          <a:bodyPr vert="horz" wrap="square" lIns="0" tIns="91440" rIns="0" bIns="0" rtlCol="0">
            <a:spAutoFit/>
          </a:bodyPr>
          <a:lstStyle/>
          <a:p>
            <a:pPr marL="12700">
              <a:lnSpc>
                <a:spcPct val="100000"/>
              </a:lnSpc>
              <a:spcBef>
                <a:spcPts val="720"/>
              </a:spcBef>
            </a:pPr>
            <a:r>
              <a:rPr sz="1300" b="0" spc="-55" dirty="0">
                <a:solidFill>
                  <a:srgbClr val="FFFFFF"/>
                </a:solidFill>
                <a:latin typeface="Times New Roman" panose="02020603050405020304" pitchFamily="18" charset="0"/>
                <a:cs typeface="Times New Roman" panose="02020603050405020304" pitchFamily="18" charset="0"/>
              </a:rPr>
              <a:t>Energy</a:t>
            </a:r>
            <a:r>
              <a:rPr sz="1300" b="0" spc="-15" dirty="0">
                <a:solidFill>
                  <a:srgbClr val="FFFFFF"/>
                </a:solidFill>
                <a:latin typeface="Times New Roman" panose="02020603050405020304" pitchFamily="18" charset="0"/>
                <a:cs typeface="Times New Roman" panose="02020603050405020304" pitchFamily="18" charset="0"/>
              </a:rPr>
              <a:t> </a:t>
            </a:r>
            <a:r>
              <a:rPr sz="1300" b="0" spc="-60" dirty="0">
                <a:solidFill>
                  <a:srgbClr val="FFFFFF"/>
                </a:solidFill>
                <a:latin typeface="Times New Roman" panose="02020603050405020304" pitchFamily="18" charset="0"/>
                <a:cs typeface="Times New Roman" panose="02020603050405020304" pitchFamily="18" charset="0"/>
              </a:rPr>
              <a:t>&amp;</a:t>
            </a:r>
            <a:r>
              <a:rPr sz="1300" b="0" spc="-15" dirty="0">
                <a:solidFill>
                  <a:srgbClr val="FFFFFF"/>
                </a:solidFill>
                <a:latin typeface="Times New Roman" panose="02020603050405020304" pitchFamily="18" charset="0"/>
                <a:cs typeface="Times New Roman" panose="02020603050405020304" pitchFamily="18" charset="0"/>
              </a:rPr>
              <a:t> </a:t>
            </a:r>
            <a:r>
              <a:rPr sz="1300" b="0" spc="-55" dirty="0">
                <a:solidFill>
                  <a:srgbClr val="FFFFFF"/>
                </a:solidFill>
                <a:latin typeface="Times New Roman" panose="02020603050405020304" pitchFamily="18" charset="0"/>
                <a:cs typeface="Times New Roman" panose="02020603050405020304" pitchFamily="18" charset="0"/>
              </a:rPr>
              <a:t>Building</a:t>
            </a:r>
            <a:r>
              <a:rPr sz="1300" b="0" spc="-35" dirty="0">
                <a:solidFill>
                  <a:srgbClr val="FFFFFF"/>
                </a:solidFill>
                <a:latin typeface="Times New Roman" panose="02020603050405020304" pitchFamily="18" charset="0"/>
                <a:cs typeface="Times New Roman" panose="02020603050405020304" pitchFamily="18" charset="0"/>
              </a:rPr>
              <a:t> </a:t>
            </a:r>
            <a:r>
              <a:rPr sz="1300" b="0" spc="-10" dirty="0">
                <a:solidFill>
                  <a:srgbClr val="FFFFFF"/>
                </a:solidFill>
                <a:latin typeface="Times New Roman" panose="02020603050405020304" pitchFamily="18" charset="0"/>
                <a:cs typeface="Times New Roman" panose="02020603050405020304" pitchFamily="18" charset="0"/>
              </a:rPr>
              <a:t>Technology</a:t>
            </a:r>
            <a:endParaRPr sz="1300" dirty="0">
              <a:latin typeface="Times New Roman" panose="02020603050405020304" pitchFamily="18" charset="0"/>
              <a:cs typeface="Times New Roman" panose="02020603050405020304" pitchFamily="18" charset="0"/>
            </a:endParaRPr>
          </a:p>
          <a:p>
            <a:pPr marL="12700">
              <a:lnSpc>
                <a:spcPct val="100000"/>
              </a:lnSpc>
              <a:spcBef>
                <a:spcPts val="540"/>
              </a:spcBef>
            </a:pPr>
            <a:r>
              <a:rPr sz="1150" spc="-90" dirty="0">
                <a:solidFill>
                  <a:srgbClr val="FFFFFF"/>
                </a:solidFill>
                <a:latin typeface="Times New Roman" panose="02020603050405020304" pitchFamily="18" charset="0"/>
                <a:cs typeface="Times New Roman" panose="02020603050405020304" pitchFamily="18" charset="0"/>
              </a:rPr>
              <a:t>Hệ</a:t>
            </a:r>
            <a:r>
              <a:rPr sz="1150" spc="-45"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thống</a:t>
            </a:r>
            <a:r>
              <a:rPr sz="1150" spc="-5" dirty="0">
                <a:solidFill>
                  <a:srgbClr val="FFFFFF"/>
                </a:solidFill>
                <a:latin typeface="Times New Roman" panose="02020603050405020304" pitchFamily="18" charset="0"/>
                <a:cs typeface="Times New Roman" panose="02020603050405020304" pitchFamily="18" charset="0"/>
              </a:rPr>
              <a:t> </a:t>
            </a:r>
            <a:r>
              <a:rPr sz="1150" spc="-65" dirty="0">
                <a:solidFill>
                  <a:srgbClr val="FFFFFF"/>
                </a:solidFill>
                <a:latin typeface="Times New Roman" panose="02020603050405020304" pitchFamily="18" charset="0"/>
                <a:cs typeface="Times New Roman" panose="02020603050405020304" pitchFamily="18" charset="0"/>
              </a:rPr>
              <a:t>s</a:t>
            </a:r>
            <a:r>
              <a:rPr sz="1050" spc="-65" dirty="0">
                <a:solidFill>
                  <a:srgbClr val="FFFFFF"/>
                </a:solidFill>
                <a:latin typeface="Times New Roman" panose="02020603050405020304" pitchFamily="18" charset="0"/>
                <a:cs typeface="Times New Roman" panose="02020603050405020304" pitchFamily="18" charset="0"/>
              </a:rPr>
              <a:t>ư</a:t>
            </a:r>
            <a:r>
              <a:rPr sz="1150" spc="-65" dirty="0">
                <a:solidFill>
                  <a:srgbClr val="FFFFFF"/>
                </a:solidFill>
                <a:latin typeface="Times New Roman" panose="02020603050405020304" pitchFamily="18" charset="0"/>
                <a:cs typeface="Times New Roman" panose="02020603050405020304" pitchFamily="18" charset="0"/>
              </a:rPr>
              <a:t>ởi,</a:t>
            </a:r>
            <a:r>
              <a:rPr sz="1150" spc="-5" dirty="0">
                <a:solidFill>
                  <a:srgbClr val="FFFFFF"/>
                </a:solidFill>
                <a:latin typeface="Times New Roman" panose="02020603050405020304" pitchFamily="18" charset="0"/>
                <a:cs typeface="Times New Roman" panose="02020603050405020304" pitchFamily="18" charset="0"/>
              </a:rPr>
              <a:t> </a:t>
            </a:r>
            <a:r>
              <a:rPr sz="1150" spc="-65" dirty="0">
                <a:solidFill>
                  <a:srgbClr val="FFFFFF"/>
                </a:solidFill>
                <a:latin typeface="Times New Roman" panose="02020603050405020304" pitchFamily="18" charset="0"/>
                <a:cs typeface="Times New Roman" panose="02020603050405020304" pitchFamily="18" charset="0"/>
              </a:rPr>
              <a:t>an</a:t>
            </a:r>
            <a:r>
              <a:rPr sz="1150" spc="-10" dirty="0">
                <a:solidFill>
                  <a:srgbClr val="FFFFFF"/>
                </a:solidFill>
                <a:latin typeface="Times New Roman" panose="02020603050405020304" pitchFamily="18" charset="0"/>
                <a:cs typeface="Times New Roman" panose="02020603050405020304" pitchFamily="18" charset="0"/>
              </a:rPr>
              <a:t> </a:t>
            </a:r>
            <a:r>
              <a:rPr sz="1150" spc="-45" dirty="0">
                <a:solidFill>
                  <a:srgbClr val="FFFFFF"/>
                </a:solidFill>
                <a:latin typeface="Times New Roman" panose="02020603050405020304" pitchFamily="18" charset="0"/>
                <a:cs typeface="Times New Roman" panose="02020603050405020304" pitchFamily="18" charset="0"/>
              </a:rPr>
              <a:t>ninh,</a:t>
            </a:r>
            <a:r>
              <a:rPr sz="1150" spc="-5" dirty="0">
                <a:solidFill>
                  <a:srgbClr val="FFFFFF"/>
                </a:solidFill>
                <a:latin typeface="Times New Roman" panose="02020603050405020304" pitchFamily="18" charset="0"/>
                <a:cs typeface="Times New Roman" panose="02020603050405020304" pitchFamily="18" charset="0"/>
              </a:rPr>
              <a:t> </a:t>
            </a:r>
            <a:r>
              <a:rPr sz="1150" spc="-85" dirty="0">
                <a:solidFill>
                  <a:srgbClr val="FFFFFF"/>
                </a:solidFill>
                <a:latin typeface="Times New Roman" panose="02020603050405020304" pitchFamily="18" charset="0"/>
                <a:cs typeface="Times New Roman" panose="02020603050405020304" pitchFamily="18" charset="0"/>
              </a:rPr>
              <a:t>tự</a:t>
            </a:r>
            <a:r>
              <a:rPr sz="1150" spc="-40" dirty="0">
                <a:solidFill>
                  <a:srgbClr val="FFFFFF"/>
                </a:solidFill>
                <a:latin typeface="Times New Roman" panose="02020603050405020304" pitchFamily="18" charset="0"/>
                <a:cs typeface="Times New Roman" panose="02020603050405020304" pitchFamily="18" charset="0"/>
              </a:rPr>
              <a:t> </a:t>
            </a:r>
            <a:r>
              <a:rPr sz="1050" spc="-25" dirty="0">
                <a:solidFill>
                  <a:srgbClr val="FFFFFF"/>
                </a:solidFill>
                <a:latin typeface="Times New Roman" panose="02020603050405020304" pitchFamily="18" charset="0"/>
                <a:cs typeface="Times New Roman" panose="02020603050405020304" pitchFamily="18" charset="0"/>
              </a:rPr>
              <a:t>đ</a:t>
            </a:r>
            <a:r>
              <a:rPr sz="1150" spc="-25" dirty="0">
                <a:solidFill>
                  <a:srgbClr val="FFFFFF"/>
                </a:solidFill>
                <a:latin typeface="Times New Roman" panose="02020603050405020304" pitchFamily="18" charset="0"/>
                <a:cs typeface="Times New Roman" panose="02020603050405020304" pitchFamily="18" charset="0"/>
              </a:rPr>
              <a:t>ộng</a:t>
            </a:r>
            <a:r>
              <a:rPr sz="1150" spc="-10"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hóa</a:t>
            </a:r>
            <a:endParaRPr sz="1150" dirty="0">
              <a:latin typeface="Times New Roman" panose="02020603050405020304" pitchFamily="18" charset="0"/>
              <a:cs typeface="Times New Roman" panose="02020603050405020304" pitchFamily="18" charset="0"/>
            </a:endParaRPr>
          </a:p>
        </p:txBody>
      </p:sp>
      <p:grpSp>
        <p:nvGrpSpPr>
          <p:cNvPr id="15" name="object 15"/>
          <p:cNvGrpSpPr/>
          <p:nvPr/>
        </p:nvGrpSpPr>
        <p:grpSpPr>
          <a:xfrm>
            <a:off x="8296274" y="1152524"/>
            <a:ext cx="3705225" cy="2771775"/>
            <a:chOff x="8296274" y="1152524"/>
            <a:chExt cx="3705225" cy="2771775"/>
          </a:xfrm>
        </p:grpSpPr>
        <p:sp>
          <p:nvSpPr>
            <p:cNvPr id="16" name="object 16"/>
            <p:cNvSpPr/>
            <p:nvPr/>
          </p:nvSpPr>
          <p:spPr>
            <a:xfrm>
              <a:off x="8296274" y="1152524"/>
              <a:ext cx="3705225" cy="2771775"/>
            </a:xfrm>
            <a:custGeom>
              <a:avLst/>
              <a:gdLst/>
              <a:ahLst/>
              <a:cxnLst/>
              <a:rect l="l" t="t" r="r" b="b"/>
              <a:pathLst>
                <a:path w="3705225" h="2771775">
                  <a:moveTo>
                    <a:pt x="3629024" y="2771774"/>
                  </a:moveTo>
                  <a:lnTo>
                    <a:pt x="76199" y="2771774"/>
                  </a:lnTo>
                  <a:lnTo>
                    <a:pt x="68693" y="2771412"/>
                  </a:lnTo>
                  <a:lnTo>
                    <a:pt x="27882" y="2754507"/>
                  </a:lnTo>
                  <a:lnTo>
                    <a:pt x="3261" y="2717660"/>
                  </a:lnTo>
                  <a:lnTo>
                    <a:pt x="0" y="2695574"/>
                  </a:lnTo>
                  <a:lnTo>
                    <a:pt x="0" y="76199"/>
                  </a:lnTo>
                  <a:lnTo>
                    <a:pt x="12829" y="33857"/>
                  </a:lnTo>
                  <a:lnTo>
                    <a:pt x="47038" y="5800"/>
                  </a:lnTo>
                  <a:lnTo>
                    <a:pt x="76199" y="0"/>
                  </a:lnTo>
                  <a:lnTo>
                    <a:pt x="3629024" y="0"/>
                  </a:lnTo>
                  <a:lnTo>
                    <a:pt x="3671365" y="12829"/>
                  </a:lnTo>
                  <a:lnTo>
                    <a:pt x="3699422" y="47039"/>
                  </a:lnTo>
                  <a:lnTo>
                    <a:pt x="3705224" y="76199"/>
                  </a:lnTo>
                  <a:lnTo>
                    <a:pt x="3705224" y="2695574"/>
                  </a:lnTo>
                  <a:lnTo>
                    <a:pt x="3692393" y="2737916"/>
                  </a:lnTo>
                  <a:lnTo>
                    <a:pt x="3658184" y="2765973"/>
                  </a:lnTo>
                  <a:lnTo>
                    <a:pt x="3629024" y="2771774"/>
                  </a:lnTo>
                  <a:close/>
                </a:path>
              </a:pathLst>
            </a:custGeom>
            <a:solidFill>
              <a:srgbClr val="FFFFFF">
                <a:alpha val="5099"/>
              </a:srgbClr>
            </a:solidFill>
          </p:spPr>
          <p:txBody>
            <a:bodyPr wrap="square" lIns="0" tIns="0" rIns="0" bIns="0" rtlCol="0"/>
            <a:lstStyle/>
            <a:p>
              <a:endParaRPr/>
            </a:p>
          </p:txBody>
        </p:sp>
        <p:sp>
          <p:nvSpPr>
            <p:cNvPr id="17" name="object 17"/>
            <p:cNvSpPr/>
            <p:nvPr/>
          </p:nvSpPr>
          <p:spPr>
            <a:xfrm>
              <a:off x="8296274" y="1152524"/>
              <a:ext cx="3705225" cy="2771775"/>
            </a:xfrm>
            <a:custGeom>
              <a:avLst/>
              <a:gdLst/>
              <a:ahLst/>
              <a:cxnLst/>
              <a:rect l="l" t="t" r="r" b="b"/>
              <a:pathLst>
                <a:path w="3705225" h="2771775">
                  <a:moveTo>
                    <a:pt x="3629024" y="2771774"/>
                  </a:moveTo>
                  <a:lnTo>
                    <a:pt x="76199" y="2771774"/>
                  </a:lnTo>
                  <a:lnTo>
                    <a:pt x="68693" y="2771412"/>
                  </a:lnTo>
                  <a:lnTo>
                    <a:pt x="27882" y="2754507"/>
                  </a:lnTo>
                  <a:lnTo>
                    <a:pt x="3261" y="2717661"/>
                  </a:lnTo>
                  <a:lnTo>
                    <a:pt x="0" y="2695574"/>
                  </a:lnTo>
                  <a:lnTo>
                    <a:pt x="0" y="76199"/>
                  </a:lnTo>
                  <a:lnTo>
                    <a:pt x="12829" y="33857"/>
                  </a:lnTo>
                  <a:lnTo>
                    <a:pt x="47038" y="5800"/>
                  </a:lnTo>
                  <a:lnTo>
                    <a:pt x="76199" y="0"/>
                  </a:lnTo>
                  <a:lnTo>
                    <a:pt x="3629024" y="0"/>
                  </a:lnTo>
                  <a:lnTo>
                    <a:pt x="3665844" y="9524"/>
                  </a:lnTo>
                  <a:lnTo>
                    <a:pt x="71821" y="9524"/>
                  </a:lnTo>
                  <a:lnTo>
                    <a:pt x="67485" y="9951"/>
                  </a:lnTo>
                  <a:lnTo>
                    <a:pt x="32148" y="25957"/>
                  </a:lnTo>
                  <a:lnTo>
                    <a:pt x="11659" y="58898"/>
                  </a:lnTo>
                  <a:lnTo>
                    <a:pt x="9525" y="71821"/>
                  </a:lnTo>
                  <a:lnTo>
                    <a:pt x="9525" y="2699952"/>
                  </a:lnTo>
                  <a:lnTo>
                    <a:pt x="9833" y="2703081"/>
                  </a:lnTo>
                  <a:lnTo>
                    <a:pt x="9951" y="2704288"/>
                  </a:lnTo>
                  <a:lnTo>
                    <a:pt x="25957" y="2739624"/>
                  </a:lnTo>
                  <a:lnTo>
                    <a:pt x="58897" y="2760114"/>
                  </a:lnTo>
                  <a:lnTo>
                    <a:pt x="71821" y="2762249"/>
                  </a:lnTo>
                  <a:lnTo>
                    <a:pt x="3665844" y="2762249"/>
                  </a:lnTo>
                  <a:lnTo>
                    <a:pt x="3664980" y="2762766"/>
                  </a:lnTo>
                  <a:lnTo>
                    <a:pt x="3658184" y="2765973"/>
                  </a:lnTo>
                  <a:lnTo>
                    <a:pt x="3651110" y="2768511"/>
                  </a:lnTo>
                  <a:lnTo>
                    <a:pt x="3643892" y="2770324"/>
                  </a:lnTo>
                  <a:lnTo>
                    <a:pt x="3636530" y="2771412"/>
                  </a:lnTo>
                  <a:lnTo>
                    <a:pt x="3629024" y="2771774"/>
                  </a:lnTo>
                  <a:close/>
                </a:path>
                <a:path w="3705225" h="2771775">
                  <a:moveTo>
                    <a:pt x="3665844" y="2762249"/>
                  </a:moveTo>
                  <a:lnTo>
                    <a:pt x="3633401" y="2762249"/>
                  </a:lnTo>
                  <a:lnTo>
                    <a:pt x="3637737" y="2761822"/>
                  </a:lnTo>
                  <a:lnTo>
                    <a:pt x="3646325" y="2760114"/>
                  </a:lnTo>
                  <a:lnTo>
                    <a:pt x="3679266" y="2739624"/>
                  </a:lnTo>
                  <a:lnTo>
                    <a:pt x="3695271" y="2704288"/>
                  </a:lnTo>
                  <a:lnTo>
                    <a:pt x="3695698" y="2699952"/>
                  </a:lnTo>
                  <a:lnTo>
                    <a:pt x="3695698" y="71821"/>
                  </a:lnTo>
                  <a:lnTo>
                    <a:pt x="3695390" y="68693"/>
                  </a:lnTo>
                  <a:lnTo>
                    <a:pt x="3695271" y="67486"/>
                  </a:lnTo>
                  <a:lnTo>
                    <a:pt x="3679266" y="32149"/>
                  </a:lnTo>
                  <a:lnTo>
                    <a:pt x="3646325" y="11660"/>
                  </a:lnTo>
                  <a:lnTo>
                    <a:pt x="3633401" y="9524"/>
                  </a:lnTo>
                  <a:lnTo>
                    <a:pt x="3665844" y="9524"/>
                  </a:lnTo>
                  <a:lnTo>
                    <a:pt x="3696215" y="40243"/>
                  </a:lnTo>
                  <a:lnTo>
                    <a:pt x="3705224" y="2695574"/>
                  </a:lnTo>
                  <a:lnTo>
                    <a:pt x="3704861" y="2703081"/>
                  </a:lnTo>
                  <a:lnTo>
                    <a:pt x="3687957" y="2743891"/>
                  </a:lnTo>
                  <a:lnTo>
                    <a:pt x="3671493" y="2758849"/>
                  </a:lnTo>
                  <a:lnTo>
                    <a:pt x="3665844" y="2762249"/>
                  </a:lnTo>
                  <a:close/>
                </a:path>
              </a:pathLst>
            </a:custGeom>
            <a:solidFill>
              <a:srgbClr val="FFFFFF">
                <a:alpha val="19999"/>
              </a:srgbClr>
            </a:solidFill>
          </p:spPr>
          <p:txBody>
            <a:bodyPr wrap="square" lIns="0" tIns="0" rIns="0" bIns="0" rtlCol="0"/>
            <a:lstStyle/>
            <a:p>
              <a:endParaRPr/>
            </a:p>
          </p:txBody>
        </p:sp>
        <p:pic>
          <p:nvPicPr>
            <p:cNvPr id="18" name="object 18"/>
            <p:cNvPicPr/>
            <p:nvPr/>
          </p:nvPicPr>
          <p:blipFill>
            <a:blip r:embed="rId2" cstate="print"/>
            <a:stretch>
              <a:fillRect/>
            </a:stretch>
          </p:blipFill>
          <p:spPr>
            <a:xfrm>
              <a:off x="8458199" y="1409699"/>
              <a:ext cx="3381374" cy="2257424"/>
            </a:xfrm>
            <a:prstGeom prst="rect">
              <a:avLst/>
            </a:prstGeom>
          </p:spPr>
        </p:pic>
      </p:grpSp>
      <p:sp>
        <p:nvSpPr>
          <p:cNvPr id="19" name="object 19"/>
          <p:cNvSpPr/>
          <p:nvPr/>
        </p:nvSpPr>
        <p:spPr>
          <a:xfrm>
            <a:off x="8296273" y="4076699"/>
            <a:ext cx="3705225" cy="2400300"/>
          </a:xfrm>
          <a:custGeom>
            <a:avLst/>
            <a:gdLst/>
            <a:ahLst/>
            <a:cxnLst/>
            <a:rect l="l" t="t" r="r" b="b"/>
            <a:pathLst>
              <a:path w="3705225" h="2400300">
                <a:moveTo>
                  <a:pt x="3634028" y="2400299"/>
                </a:moveTo>
                <a:lnTo>
                  <a:pt x="71196" y="2400299"/>
                </a:lnTo>
                <a:lnTo>
                  <a:pt x="66240" y="2399811"/>
                </a:lnTo>
                <a:lnTo>
                  <a:pt x="29705" y="2384677"/>
                </a:lnTo>
                <a:lnTo>
                  <a:pt x="3885" y="2348637"/>
                </a:lnTo>
                <a:lnTo>
                  <a:pt x="0" y="2329102"/>
                </a:lnTo>
                <a:lnTo>
                  <a:pt x="0" y="2324099"/>
                </a:lnTo>
                <a:lnTo>
                  <a:pt x="0" y="71196"/>
                </a:lnTo>
                <a:lnTo>
                  <a:pt x="15621" y="29705"/>
                </a:lnTo>
                <a:lnTo>
                  <a:pt x="51661" y="3885"/>
                </a:lnTo>
                <a:lnTo>
                  <a:pt x="71196" y="0"/>
                </a:lnTo>
                <a:lnTo>
                  <a:pt x="3634028" y="0"/>
                </a:lnTo>
                <a:lnTo>
                  <a:pt x="3675518" y="15621"/>
                </a:lnTo>
                <a:lnTo>
                  <a:pt x="3701339" y="51661"/>
                </a:lnTo>
                <a:lnTo>
                  <a:pt x="3705225" y="71196"/>
                </a:lnTo>
                <a:lnTo>
                  <a:pt x="3705225" y="2329102"/>
                </a:lnTo>
                <a:lnTo>
                  <a:pt x="3689602" y="2370594"/>
                </a:lnTo>
                <a:lnTo>
                  <a:pt x="3653561" y="2396413"/>
                </a:lnTo>
                <a:lnTo>
                  <a:pt x="3638983" y="2399811"/>
                </a:lnTo>
                <a:lnTo>
                  <a:pt x="3634028" y="2400299"/>
                </a:lnTo>
                <a:close/>
              </a:path>
            </a:pathLst>
          </a:custGeom>
          <a:solidFill>
            <a:srgbClr val="FFFFFF">
              <a:alpha val="10198"/>
            </a:srgbClr>
          </a:solidFill>
        </p:spPr>
        <p:txBody>
          <a:bodyPr wrap="square" lIns="0" tIns="0" rIns="0" bIns="0" rtlCol="0"/>
          <a:lstStyle/>
          <a:p>
            <a:endParaRPr/>
          </a:p>
        </p:txBody>
      </p:sp>
      <p:sp>
        <p:nvSpPr>
          <p:cNvPr id="20" name="object 20"/>
          <p:cNvSpPr txBox="1"/>
          <p:nvPr/>
        </p:nvSpPr>
        <p:spPr>
          <a:xfrm>
            <a:off x="8437016" y="4216161"/>
            <a:ext cx="1169670" cy="243656"/>
          </a:xfrm>
          <a:prstGeom prst="rect">
            <a:avLst/>
          </a:prstGeom>
        </p:spPr>
        <p:txBody>
          <a:bodyPr vert="horz" wrap="square" lIns="0" tIns="12700" rIns="0" bIns="0" rtlCol="0">
            <a:spAutoFit/>
          </a:bodyPr>
          <a:lstStyle/>
          <a:p>
            <a:pPr marL="12700">
              <a:lnSpc>
                <a:spcPct val="100000"/>
              </a:lnSpc>
              <a:spcBef>
                <a:spcPts val="100"/>
              </a:spcBef>
            </a:pPr>
            <a:r>
              <a:rPr sz="1500" b="0" spc="-35" dirty="0">
                <a:solidFill>
                  <a:srgbClr val="FFFFFF"/>
                </a:solidFill>
                <a:latin typeface="Times New Roman" panose="02020603050405020304" pitchFamily="18" charset="0"/>
                <a:cs typeface="Times New Roman" panose="02020603050405020304" pitchFamily="18" charset="0"/>
              </a:rPr>
              <a:t>V</a:t>
            </a:r>
            <a:r>
              <a:rPr sz="1400" spc="-35" dirty="0">
                <a:solidFill>
                  <a:srgbClr val="FFFFFF"/>
                </a:solidFill>
                <a:latin typeface="Times New Roman" panose="02020603050405020304" pitchFamily="18" charset="0"/>
                <a:cs typeface="Times New Roman" panose="02020603050405020304" pitchFamily="18" charset="0"/>
              </a:rPr>
              <a:t>ị</a:t>
            </a:r>
            <a:r>
              <a:rPr sz="1400" spc="-40" dirty="0">
                <a:solidFill>
                  <a:srgbClr val="FFFFFF"/>
                </a:solidFill>
                <a:latin typeface="Times New Roman" panose="02020603050405020304" pitchFamily="18" charset="0"/>
                <a:cs typeface="Times New Roman" panose="02020603050405020304" pitchFamily="18" charset="0"/>
              </a:rPr>
              <a:t> </a:t>
            </a:r>
            <a:r>
              <a:rPr sz="1500" b="0" spc="-75" dirty="0">
                <a:solidFill>
                  <a:srgbClr val="FFFFFF"/>
                </a:solidFill>
                <a:latin typeface="Times New Roman" panose="02020603050405020304" pitchFamily="18" charset="0"/>
                <a:cs typeface="Times New Roman" panose="02020603050405020304" pitchFamily="18" charset="0"/>
              </a:rPr>
              <a:t>th</a:t>
            </a:r>
            <a:r>
              <a:rPr sz="1400" spc="-75" dirty="0">
                <a:solidFill>
                  <a:srgbClr val="FFFFFF"/>
                </a:solidFill>
                <a:latin typeface="Times New Roman" panose="02020603050405020304" pitchFamily="18" charset="0"/>
                <a:cs typeface="Times New Roman" panose="02020603050405020304" pitchFamily="18" charset="0"/>
              </a:rPr>
              <a:t>ế</a:t>
            </a:r>
            <a:r>
              <a:rPr sz="1400" spc="-35" dirty="0">
                <a:solidFill>
                  <a:srgbClr val="FFFFFF"/>
                </a:solidFill>
                <a:latin typeface="Times New Roman" panose="02020603050405020304" pitchFamily="18" charset="0"/>
                <a:cs typeface="Times New Roman" panose="02020603050405020304" pitchFamily="18" charset="0"/>
              </a:rPr>
              <a:t> </a:t>
            </a:r>
            <a:r>
              <a:rPr sz="1500" b="0" spc="-90" dirty="0">
                <a:solidFill>
                  <a:srgbClr val="FFFFFF"/>
                </a:solidFill>
                <a:latin typeface="Times New Roman" panose="02020603050405020304" pitchFamily="18" charset="0"/>
                <a:cs typeface="Times New Roman" panose="02020603050405020304" pitchFamily="18" charset="0"/>
              </a:rPr>
              <a:t>toàn</a:t>
            </a:r>
            <a:r>
              <a:rPr sz="1500" b="0" spc="-25" dirty="0">
                <a:solidFill>
                  <a:srgbClr val="FFFFFF"/>
                </a:solidFill>
                <a:latin typeface="Times New Roman" panose="02020603050405020304" pitchFamily="18" charset="0"/>
                <a:cs typeface="Times New Roman" panose="02020603050405020304" pitchFamily="18" charset="0"/>
              </a:rPr>
              <a:t> </a:t>
            </a:r>
            <a:r>
              <a:rPr sz="1500" b="0" spc="-55" dirty="0">
                <a:solidFill>
                  <a:srgbClr val="FFFFFF"/>
                </a:solidFill>
                <a:latin typeface="Times New Roman" panose="02020603050405020304" pitchFamily="18" charset="0"/>
                <a:cs typeface="Times New Roman" panose="02020603050405020304" pitchFamily="18" charset="0"/>
              </a:rPr>
              <a:t>c</a:t>
            </a:r>
            <a:r>
              <a:rPr sz="1400" spc="-55" dirty="0">
                <a:solidFill>
                  <a:srgbClr val="FFFFFF"/>
                </a:solidFill>
                <a:latin typeface="Times New Roman" panose="02020603050405020304" pitchFamily="18" charset="0"/>
                <a:cs typeface="Times New Roman" panose="02020603050405020304" pitchFamily="18" charset="0"/>
              </a:rPr>
              <a:t>ầ</a:t>
            </a:r>
            <a:r>
              <a:rPr sz="1500" b="0" spc="-55" dirty="0">
                <a:solidFill>
                  <a:srgbClr val="FFFFFF"/>
                </a:solidFill>
                <a:latin typeface="Times New Roman" panose="02020603050405020304" pitchFamily="18" charset="0"/>
                <a:cs typeface="Times New Roman" panose="02020603050405020304" pitchFamily="18" charset="0"/>
              </a:rPr>
              <a:t>u</a:t>
            </a:r>
            <a:endParaRPr sz="1500" dirty="0">
              <a:latin typeface="Times New Roman" panose="02020603050405020304" pitchFamily="18" charset="0"/>
              <a:cs typeface="Times New Roman" panose="02020603050405020304" pitchFamily="18" charset="0"/>
            </a:endParaRPr>
          </a:p>
        </p:txBody>
      </p:sp>
      <p:grpSp>
        <p:nvGrpSpPr>
          <p:cNvPr id="21" name="object 21"/>
          <p:cNvGrpSpPr/>
          <p:nvPr/>
        </p:nvGrpSpPr>
        <p:grpSpPr>
          <a:xfrm>
            <a:off x="8448675" y="4686299"/>
            <a:ext cx="190500" cy="1438275"/>
            <a:chOff x="8448675" y="4686299"/>
            <a:chExt cx="190500" cy="1438275"/>
          </a:xfrm>
        </p:grpSpPr>
        <p:pic>
          <p:nvPicPr>
            <p:cNvPr id="22" name="object 22"/>
            <p:cNvPicPr/>
            <p:nvPr/>
          </p:nvPicPr>
          <p:blipFill>
            <a:blip r:embed="rId3" cstate="print"/>
            <a:stretch>
              <a:fillRect/>
            </a:stretch>
          </p:blipFill>
          <p:spPr>
            <a:xfrm>
              <a:off x="8448675" y="4686299"/>
              <a:ext cx="152399" cy="152399"/>
            </a:xfrm>
            <a:prstGeom prst="rect">
              <a:avLst/>
            </a:prstGeom>
          </p:spPr>
        </p:pic>
        <p:pic>
          <p:nvPicPr>
            <p:cNvPr id="23" name="object 23"/>
            <p:cNvPicPr/>
            <p:nvPr/>
          </p:nvPicPr>
          <p:blipFill>
            <a:blip r:embed="rId4" cstate="print"/>
            <a:stretch>
              <a:fillRect/>
            </a:stretch>
          </p:blipFill>
          <p:spPr>
            <a:xfrm>
              <a:off x="8448675" y="5114924"/>
              <a:ext cx="190499" cy="152399"/>
            </a:xfrm>
            <a:prstGeom prst="rect">
              <a:avLst/>
            </a:prstGeom>
          </p:spPr>
        </p:pic>
        <p:pic>
          <p:nvPicPr>
            <p:cNvPr id="24" name="object 24"/>
            <p:cNvPicPr/>
            <p:nvPr/>
          </p:nvPicPr>
          <p:blipFill>
            <a:blip r:embed="rId5" cstate="print"/>
            <a:stretch>
              <a:fillRect/>
            </a:stretch>
          </p:blipFill>
          <p:spPr>
            <a:xfrm>
              <a:off x="8458199" y="5553074"/>
              <a:ext cx="152399" cy="133349"/>
            </a:xfrm>
            <a:prstGeom prst="rect">
              <a:avLst/>
            </a:prstGeom>
          </p:spPr>
        </p:pic>
        <p:pic>
          <p:nvPicPr>
            <p:cNvPr id="25" name="object 25"/>
            <p:cNvPicPr/>
            <p:nvPr/>
          </p:nvPicPr>
          <p:blipFill>
            <a:blip r:embed="rId6" cstate="print"/>
            <a:stretch>
              <a:fillRect/>
            </a:stretch>
          </p:blipFill>
          <p:spPr>
            <a:xfrm>
              <a:off x="8453437" y="5972174"/>
              <a:ext cx="104768" cy="152399"/>
            </a:xfrm>
            <a:prstGeom prst="rect">
              <a:avLst/>
            </a:prstGeom>
          </p:spPr>
        </p:pic>
      </p:grpSp>
      <p:sp>
        <p:nvSpPr>
          <p:cNvPr id="26" name="object 26"/>
          <p:cNvSpPr txBox="1"/>
          <p:nvPr/>
        </p:nvSpPr>
        <p:spPr>
          <a:xfrm>
            <a:off x="8703716" y="4591922"/>
            <a:ext cx="1744980" cy="191718"/>
          </a:xfrm>
          <a:prstGeom prst="rect">
            <a:avLst/>
          </a:prstGeom>
        </p:spPr>
        <p:txBody>
          <a:bodyPr vert="horz" wrap="square" lIns="0" tIns="14604" rIns="0" bIns="0" rtlCol="0">
            <a:spAutoFit/>
          </a:bodyPr>
          <a:lstStyle/>
          <a:p>
            <a:pPr marL="12700">
              <a:lnSpc>
                <a:spcPct val="100000"/>
              </a:lnSpc>
              <a:spcBef>
                <a:spcPts val="114"/>
              </a:spcBef>
            </a:pPr>
            <a:r>
              <a:rPr sz="1150" spc="-65" dirty="0">
                <a:solidFill>
                  <a:srgbClr val="FFFFFF"/>
                </a:solidFill>
                <a:latin typeface="Times New Roman" panose="02020603050405020304" pitchFamily="18" charset="0"/>
                <a:cs typeface="Times New Roman" panose="02020603050405020304" pitchFamily="18" charset="0"/>
              </a:rPr>
              <a:t>Hiện</a:t>
            </a:r>
            <a:r>
              <a:rPr sz="1150" spc="-10"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diện</a:t>
            </a:r>
            <a:r>
              <a:rPr sz="1150" spc="-5" dirty="0">
                <a:solidFill>
                  <a:srgbClr val="FFFFFF"/>
                </a:solidFill>
                <a:latin typeface="Times New Roman" panose="02020603050405020304" pitchFamily="18" charset="0"/>
                <a:cs typeface="Times New Roman" panose="02020603050405020304" pitchFamily="18" charset="0"/>
              </a:rPr>
              <a:t> </a:t>
            </a:r>
            <a:r>
              <a:rPr sz="1150" spc="-45" dirty="0">
                <a:solidFill>
                  <a:srgbClr val="FFFFFF"/>
                </a:solidFill>
                <a:latin typeface="Times New Roman" panose="02020603050405020304" pitchFamily="18" charset="0"/>
                <a:cs typeface="Times New Roman" panose="02020603050405020304" pitchFamily="18" charset="0"/>
              </a:rPr>
              <a:t>tại</a:t>
            </a:r>
            <a:r>
              <a:rPr sz="1150" spc="-5" dirty="0">
                <a:solidFill>
                  <a:srgbClr val="FFFFFF"/>
                </a:solidFill>
                <a:latin typeface="Times New Roman" panose="02020603050405020304" pitchFamily="18" charset="0"/>
                <a:cs typeface="Times New Roman" panose="02020603050405020304" pitchFamily="18" charset="0"/>
              </a:rPr>
              <a:t> </a:t>
            </a:r>
            <a:r>
              <a:rPr sz="1150" spc="-75" dirty="0">
                <a:solidFill>
                  <a:srgbClr val="FFFFFF"/>
                </a:solidFill>
                <a:latin typeface="Times New Roman" panose="02020603050405020304" pitchFamily="18" charset="0"/>
                <a:cs typeface="Times New Roman" panose="02020603050405020304" pitchFamily="18" charset="0"/>
              </a:rPr>
              <a:t>h</a:t>
            </a:r>
            <a:r>
              <a:rPr sz="1050" spc="-75" dirty="0">
                <a:solidFill>
                  <a:srgbClr val="FFFFFF"/>
                </a:solidFill>
                <a:latin typeface="Times New Roman" panose="02020603050405020304" pitchFamily="18" charset="0"/>
                <a:cs typeface="Times New Roman" panose="02020603050405020304" pitchFamily="18" charset="0"/>
              </a:rPr>
              <a:t>ơ</a:t>
            </a:r>
            <a:r>
              <a:rPr sz="1150" spc="-75" dirty="0">
                <a:solidFill>
                  <a:srgbClr val="FFFFFF"/>
                </a:solidFill>
                <a:latin typeface="Times New Roman" panose="02020603050405020304" pitchFamily="18" charset="0"/>
                <a:cs typeface="Times New Roman" panose="02020603050405020304" pitchFamily="18" charset="0"/>
              </a:rPr>
              <a:t>n</a:t>
            </a:r>
            <a:r>
              <a:rPr sz="1150" spc="-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60</a:t>
            </a:r>
            <a:r>
              <a:rPr sz="1150" spc="-10"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quốc</a:t>
            </a:r>
            <a:r>
              <a:rPr sz="1150" spc="-5" dirty="0">
                <a:solidFill>
                  <a:srgbClr val="FFFFFF"/>
                </a:solidFill>
                <a:latin typeface="Times New Roman" panose="02020603050405020304" pitchFamily="18" charset="0"/>
                <a:cs typeface="Times New Roman" panose="02020603050405020304" pitchFamily="18" charset="0"/>
              </a:rPr>
              <a:t> </a:t>
            </a:r>
            <a:r>
              <a:rPr sz="1150" spc="-35" dirty="0">
                <a:solidFill>
                  <a:srgbClr val="FFFFFF"/>
                </a:solidFill>
                <a:latin typeface="Times New Roman" panose="02020603050405020304" pitchFamily="18" charset="0"/>
                <a:cs typeface="Times New Roman" panose="02020603050405020304" pitchFamily="18" charset="0"/>
              </a:rPr>
              <a:t>gia</a:t>
            </a:r>
            <a:endParaRPr sz="1150" dirty="0">
              <a:latin typeface="Times New Roman" panose="02020603050405020304" pitchFamily="18" charset="0"/>
              <a:cs typeface="Times New Roman" panose="02020603050405020304" pitchFamily="18" charset="0"/>
            </a:endParaRPr>
          </a:p>
        </p:txBody>
      </p:sp>
      <p:sp>
        <p:nvSpPr>
          <p:cNvPr id="27" name="object 27"/>
          <p:cNvSpPr txBox="1"/>
          <p:nvPr/>
        </p:nvSpPr>
        <p:spPr>
          <a:xfrm>
            <a:off x="8741816" y="5020547"/>
            <a:ext cx="1936114" cy="191718"/>
          </a:xfrm>
          <a:prstGeom prst="rect">
            <a:avLst/>
          </a:prstGeom>
        </p:spPr>
        <p:txBody>
          <a:bodyPr vert="horz" wrap="square" lIns="0" tIns="14604" rIns="0" bIns="0" rtlCol="0">
            <a:spAutoFit/>
          </a:bodyPr>
          <a:lstStyle/>
          <a:p>
            <a:pPr marL="12700">
              <a:lnSpc>
                <a:spcPct val="100000"/>
              </a:lnSpc>
              <a:spcBef>
                <a:spcPts val="114"/>
              </a:spcBef>
            </a:pPr>
            <a:r>
              <a:rPr sz="1150" spc="-80" dirty="0">
                <a:solidFill>
                  <a:srgbClr val="FFFFFF"/>
                </a:solidFill>
                <a:latin typeface="Times New Roman" panose="02020603050405020304" pitchFamily="18" charset="0"/>
                <a:cs typeface="Times New Roman" panose="02020603050405020304" pitchFamily="18" charset="0"/>
              </a:rPr>
              <a:t>H</a:t>
            </a:r>
            <a:r>
              <a:rPr sz="1050" spc="-80" dirty="0">
                <a:solidFill>
                  <a:srgbClr val="FFFFFF"/>
                </a:solidFill>
                <a:latin typeface="Times New Roman" panose="02020603050405020304" pitchFamily="18" charset="0"/>
                <a:cs typeface="Times New Roman" panose="02020603050405020304" pitchFamily="18" charset="0"/>
              </a:rPr>
              <a:t>ơ</a:t>
            </a:r>
            <a:r>
              <a:rPr sz="1150" spc="-80" dirty="0">
                <a:solidFill>
                  <a:srgbClr val="FFFFFF"/>
                </a:solidFill>
                <a:latin typeface="Times New Roman" panose="02020603050405020304" pitchFamily="18" charset="0"/>
                <a:cs typeface="Times New Roman" panose="02020603050405020304" pitchFamily="18" charset="0"/>
              </a:rPr>
              <a:t>n</a:t>
            </a:r>
            <a:r>
              <a:rPr sz="1150" spc="-5"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400.000</a:t>
            </a:r>
            <a:r>
              <a:rPr sz="1150" spc="-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nhân</a:t>
            </a:r>
            <a:r>
              <a:rPr sz="1150" spc="-5"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viên</a:t>
            </a:r>
            <a:r>
              <a:rPr sz="1150" spc="-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toàn</a:t>
            </a:r>
            <a:r>
              <a:rPr sz="1150"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cầu</a:t>
            </a:r>
            <a:endParaRPr sz="1150" dirty="0">
              <a:latin typeface="Times New Roman" panose="02020603050405020304" pitchFamily="18" charset="0"/>
              <a:cs typeface="Times New Roman" panose="02020603050405020304" pitchFamily="18" charset="0"/>
            </a:endParaRPr>
          </a:p>
        </p:txBody>
      </p:sp>
      <p:sp>
        <p:nvSpPr>
          <p:cNvPr id="28" name="object 28"/>
          <p:cNvSpPr txBox="1"/>
          <p:nvPr/>
        </p:nvSpPr>
        <p:spPr>
          <a:xfrm>
            <a:off x="8722766" y="5449172"/>
            <a:ext cx="2026285" cy="191718"/>
          </a:xfrm>
          <a:prstGeom prst="rect">
            <a:avLst/>
          </a:prstGeom>
        </p:spPr>
        <p:txBody>
          <a:bodyPr vert="horz" wrap="square" lIns="0" tIns="14604" rIns="0" bIns="0" rtlCol="0">
            <a:spAutoFit/>
          </a:bodyPr>
          <a:lstStyle/>
          <a:p>
            <a:pPr marL="12700">
              <a:lnSpc>
                <a:spcPct val="100000"/>
              </a:lnSpc>
              <a:spcBef>
                <a:spcPts val="114"/>
              </a:spcBef>
            </a:pPr>
            <a:r>
              <a:rPr sz="1150" spc="-80" dirty="0">
                <a:solidFill>
                  <a:srgbClr val="FFFFFF"/>
                </a:solidFill>
                <a:latin typeface="Times New Roman" panose="02020603050405020304" pitchFamily="18" charset="0"/>
                <a:cs typeface="Times New Roman" panose="02020603050405020304" pitchFamily="18" charset="0"/>
              </a:rPr>
              <a:t>H</a:t>
            </a:r>
            <a:r>
              <a:rPr sz="1050" spc="-80" dirty="0">
                <a:solidFill>
                  <a:srgbClr val="FFFFFF"/>
                </a:solidFill>
                <a:latin typeface="Times New Roman" panose="02020603050405020304" pitchFamily="18" charset="0"/>
                <a:cs typeface="Times New Roman" panose="02020603050405020304" pitchFamily="18" charset="0"/>
              </a:rPr>
              <a:t>ơ</a:t>
            </a:r>
            <a:r>
              <a:rPr sz="1150" spc="-80" dirty="0">
                <a:solidFill>
                  <a:srgbClr val="FFFFFF"/>
                </a:solidFill>
                <a:latin typeface="Times New Roman" panose="02020603050405020304" pitchFamily="18" charset="0"/>
                <a:cs typeface="Times New Roman" panose="02020603050405020304" pitchFamily="18" charset="0"/>
              </a:rPr>
              <a:t>n</a:t>
            </a:r>
            <a:r>
              <a:rPr sz="1150" spc="-25" dirty="0">
                <a:solidFill>
                  <a:srgbClr val="FFFFFF"/>
                </a:solidFill>
                <a:latin typeface="Times New Roman" panose="02020603050405020304" pitchFamily="18" charset="0"/>
                <a:cs typeface="Times New Roman" panose="02020603050405020304" pitchFamily="18" charset="0"/>
              </a:rPr>
              <a:t> </a:t>
            </a:r>
            <a:r>
              <a:rPr sz="1150" spc="-65" dirty="0">
                <a:solidFill>
                  <a:srgbClr val="FFFFFF"/>
                </a:solidFill>
                <a:latin typeface="Times New Roman" panose="02020603050405020304" pitchFamily="18" charset="0"/>
                <a:cs typeface="Times New Roman" panose="02020603050405020304" pitchFamily="18" charset="0"/>
              </a:rPr>
              <a:t>440</a:t>
            </a:r>
            <a:r>
              <a:rPr sz="1150" spc="-10"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công</a:t>
            </a:r>
            <a:r>
              <a:rPr sz="1150" spc="-10" dirty="0">
                <a:solidFill>
                  <a:srgbClr val="FFFFFF"/>
                </a:solidFill>
                <a:latin typeface="Times New Roman" panose="02020603050405020304" pitchFamily="18" charset="0"/>
                <a:cs typeface="Times New Roman" panose="02020603050405020304" pitchFamily="18" charset="0"/>
              </a:rPr>
              <a:t> </a:t>
            </a:r>
            <a:r>
              <a:rPr sz="1150" spc="-45" dirty="0">
                <a:solidFill>
                  <a:srgbClr val="FFFFFF"/>
                </a:solidFill>
                <a:latin typeface="Times New Roman" panose="02020603050405020304" pitchFamily="18" charset="0"/>
                <a:cs typeface="Times New Roman" panose="02020603050405020304" pitchFamily="18" charset="0"/>
              </a:rPr>
              <a:t>ty</a:t>
            </a:r>
            <a:r>
              <a:rPr sz="1150" spc="-10"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con</a:t>
            </a:r>
            <a:r>
              <a:rPr sz="1150" spc="-10" dirty="0">
                <a:solidFill>
                  <a:srgbClr val="FFFFFF"/>
                </a:solidFill>
                <a:latin typeface="Times New Roman" panose="02020603050405020304" pitchFamily="18" charset="0"/>
                <a:cs typeface="Times New Roman" panose="02020603050405020304" pitchFamily="18" charset="0"/>
              </a:rPr>
              <a:t> </a:t>
            </a:r>
            <a:r>
              <a:rPr sz="1150" spc="-70" dirty="0">
                <a:solidFill>
                  <a:srgbClr val="FFFFFF"/>
                </a:solidFill>
                <a:latin typeface="Times New Roman" panose="02020603050405020304" pitchFamily="18" charset="0"/>
                <a:cs typeface="Times New Roman" panose="02020603050405020304" pitchFamily="18" charset="0"/>
              </a:rPr>
              <a:t>và</a:t>
            </a:r>
            <a:r>
              <a:rPr sz="1150" spc="-10" dirty="0">
                <a:solidFill>
                  <a:srgbClr val="FFFFFF"/>
                </a:solidFill>
                <a:latin typeface="Times New Roman" panose="02020603050405020304" pitchFamily="18" charset="0"/>
                <a:cs typeface="Times New Roman" panose="02020603050405020304" pitchFamily="18" charset="0"/>
              </a:rPr>
              <a:t> </a:t>
            </a:r>
            <a:r>
              <a:rPr sz="1150" spc="-45" dirty="0">
                <a:solidFill>
                  <a:srgbClr val="FFFFFF"/>
                </a:solidFill>
                <a:latin typeface="Times New Roman" panose="02020603050405020304" pitchFamily="18" charset="0"/>
                <a:cs typeface="Times New Roman" panose="02020603050405020304" pitchFamily="18" charset="0"/>
              </a:rPr>
              <a:t>chi</a:t>
            </a:r>
            <a:r>
              <a:rPr sz="1150" spc="-10" dirty="0">
                <a:solidFill>
                  <a:srgbClr val="FFFFFF"/>
                </a:solidFill>
                <a:latin typeface="Times New Roman" panose="02020603050405020304" pitchFamily="18" charset="0"/>
                <a:cs typeface="Times New Roman" panose="02020603050405020304" pitchFamily="18" charset="0"/>
              </a:rPr>
              <a:t> </a:t>
            </a:r>
            <a:r>
              <a:rPr sz="1150" spc="-55" dirty="0">
                <a:solidFill>
                  <a:srgbClr val="FFFFFF"/>
                </a:solidFill>
                <a:latin typeface="Times New Roman" panose="02020603050405020304" pitchFamily="18" charset="0"/>
                <a:cs typeface="Times New Roman" panose="02020603050405020304" pitchFamily="18" charset="0"/>
              </a:rPr>
              <a:t>nhánh</a:t>
            </a:r>
            <a:endParaRPr sz="1150" dirty="0">
              <a:latin typeface="Times New Roman" panose="02020603050405020304" pitchFamily="18" charset="0"/>
              <a:cs typeface="Times New Roman" panose="02020603050405020304" pitchFamily="18" charset="0"/>
            </a:endParaRPr>
          </a:p>
        </p:txBody>
      </p:sp>
      <p:sp>
        <p:nvSpPr>
          <p:cNvPr id="29" name="object 29"/>
          <p:cNvSpPr txBox="1"/>
          <p:nvPr/>
        </p:nvSpPr>
        <p:spPr>
          <a:xfrm>
            <a:off x="8665616" y="5877797"/>
            <a:ext cx="2569210" cy="191718"/>
          </a:xfrm>
          <a:prstGeom prst="rect">
            <a:avLst/>
          </a:prstGeom>
        </p:spPr>
        <p:txBody>
          <a:bodyPr vert="horz" wrap="square" lIns="0" tIns="14604" rIns="0" bIns="0" rtlCol="0">
            <a:spAutoFit/>
          </a:bodyPr>
          <a:lstStyle/>
          <a:p>
            <a:pPr marL="12700">
              <a:lnSpc>
                <a:spcPct val="100000"/>
              </a:lnSpc>
              <a:spcBef>
                <a:spcPts val="114"/>
              </a:spcBef>
            </a:pPr>
            <a:r>
              <a:rPr sz="1050" spc="-55" dirty="0">
                <a:solidFill>
                  <a:srgbClr val="FFFFFF"/>
                </a:solidFill>
                <a:latin typeface="Times New Roman" panose="02020603050405020304" pitchFamily="18" charset="0"/>
                <a:cs typeface="Times New Roman" panose="02020603050405020304" pitchFamily="18" charset="0"/>
              </a:rPr>
              <a:t>Đă</a:t>
            </a:r>
            <a:r>
              <a:rPr sz="1150" spc="-55" dirty="0">
                <a:solidFill>
                  <a:srgbClr val="FFFFFF"/>
                </a:solidFill>
                <a:latin typeface="Times New Roman" panose="02020603050405020304" pitchFamily="18" charset="0"/>
                <a:cs typeface="Times New Roman" panose="02020603050405020304" pitchFamily="18" charset="0"/>
              </a:rPr>
              <a:t>ng</a:t>
            </a:r>
            <a:r>
              <a:rPr sz="1150" spc="-5" dirty="0">
                <a:solidFill>
                  <a:srgbClr val="FFFFFF"/>
                </a:solidFill>
                <a:latin typeface="Times New Roman" panose="02020603050405020304" pitchFamily="18" charset="0"/>
                <a:cs typeface="Times New Roman" panose="02020603050405020304" pitchFamily="18" charset="0"/>
              </a:rPr>
              <a:t> </a:t>
            </a:r>
            <a:r>
              <a:rPr sz="1150" spc="-65" dirty="0">
                <a:solidFill>
                  <a:srgbClr val="FFFFFF"/>
                </a:solidFill>
                <a:latin typeface="Times New Roman" panose="02020603050405020304" pitchFamily="18" charset="0"/>
                <a:cs typeface="Times New Roman" panose="02020603050405020304" pitchFamily="18" charset="0"/>
              </a:rPr>
              <a:t>ký</a:t>
            </a:r>
            <a:r>
              <a:rPr sz="1150" spc="-5" dirty="0">
                <a:solidFill>
                  <a:srgbClr val="FFFFFF"/>
                </a:solidFill>
                <a:latin typeface="Times New Roman" panose="02020603050405020304" pitchFamily="18" charset="0"/>
                <a:cs typeface="Times New Roman" panose="02020603050405020304" pitchFamily="18" charset="0"/>
              </a:rPr>
              <a:t> </a:t>
            </a:r>
            <a:r>
              <a:rPr sz="1150" spc="-75" dirty="0">
                <a:solidFill>
                  <a:srgbClr val="FFFFFF"/>
                </a:solidFill>
                <a:latin typeface="Times New Roman" panose="02020603050405020304" pitchFamily="18" charset="0"/>
                <a:cs typeface="Times New Roman" panose="02020603050405020304" pitchFamily="18" charset="0"/>
              </a:rPr>
              <a:t>h</a:t>
            </a:r>
            <a:r>
              <a:rPr sz="1050" spc="-75" dirty="0">
                <a:solidFill>
                  <a:srgbClr val="FFFFFF"/>
                </a:solidFill>
                <a:latin typeface="Times New Roman" panose="02020603050405020304" pitchFamily="18" charset="0"/>
                <a:cs typeface="Times New Roman" panose="02020603050405020304" pitchFamily="18" charset="0"/>
              </a:rPr>
              <a:t>ơ</a:t>
            </a:r>
            <a:r>
              <a:rPr sz="1150" spc="-75" dirty="0">
                <a:solidFill>
                  <a:srgbClr val="FFFFFF"/>
                </a:solidFill>
                <a:latin typeface="Times New Roman" panose="02020603050405020304" pitchFamily="18" charset="0"/>
                <a:cs typeface="Times New Roman" panose="02020603050405020304" pitchFamily="18" charset="0"/>
              </a:rPr>
              <a:t>n</a:t>
            </a:r>
            <a:r>
              <a:rPr sz="1150" dirty="0">
                <a:solidFill>
                  <a:srgbClr val="FFFFFF"/>
                </a:solidFill>
                <a:latin typeface="Times New Roman" panose="02020603050405020304" pitchFamily="18" charset="0"/>
                <a:cs typeface="Times New Roman" panose="02020603050405020304" pitchFamily="18" charset="0"/>
              </a:rPr>
              <a:t> </a:t>
            </a:r>
            <a:r>
              <a:rPr sz="1150" spc="-50" dirty="0">
                <a:solidFill>
                  <a:srgbClr val="FFFFFF"/>
                </a:solidFill>
                <a:latin typeface="Times New Roman" panose="02020603050405020304" pitchFamily="18" charset="0"/>
                <a:cs typeface="Times New Roman" panose="02020603050405020304" pitchFamily="18" charset="0"/>
              </a:rPr>
              <a:t>4,000</a:t>
            </a:r>
            <a:r>
              <a:rPr sz="1150" spc="-5" dirty="0">
                <a:solidFill>
                  <a:srgbClr val="FFFFFF"/>
                </a:solidFill>
                <a:latin typeface="Times New Roman" panose="02020603050405020304" pitchFamily="18" charset="0"/>
                <a:cs typeface="Times New Roman" panose="02020603050405020304" pitchFamily="18" charset="0"/>
              </a:rPr>
              <a:t> </a:t>
            </a:r>
            <a:r>
              <a:rPr sz="1150" spc="-70" dirty="0">
                <a:solidFill>
                  <a:srgbClr val="FFFFFF"/>
                </a:solidFill>
                <a:latin typeface="Times New Roman" panose="02020603050405020304" pitchFamily="18" charset="0"/>
                <a:cs typeface="Times New Roman" panose="02020603050405020304" pitchFamily="18" charset="0"/>
              </a:rPr>
              <a:t>bằng</a:t>
            </a:r>
            <a:r>
              <a:rPr sz="1150" spc="-5"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sáng</a:t>
            </a:r>
            <a:r>
              <a:rPr sz="1150" dirty="0">
                <a:solidFill>
                  <a:srgbClr val="FFFFFF"/>
                </a:solidFill>
                <a:latin typeface="Times New Roman" panose="02020603050405020304" pitchFamily="18" charset="0"/>
                <a:cs typeface="Times New Roman" panose="02020603050405020304" pitchFamily="18" charset="0"/>
              </a:rPr>
              <a:t> </a:t>
            </a:r>
            <a:r>
              <a:rPr sz="1150" spc="-75" dirty="0">
                <a:solidFill>
                  <a:srgbClr val="FFFFFF"/>
                </a:solidFill>
                <a:latin typeface="Times New Roman" panose="02020603050405020304" pitchFamily="18" charset="0"/>
                <a:cs typeface="Times New Roman" panose="02020603050405020304" pitchFamily="18" charset="0"/>
              </a:rPr>
              <a:t>chế</a:t>
            </a:r>
            <a:r>
              <a:rPr sz="1150" spc="-40" dirty="0">
                <a:solidFill>
                  <a:srgbClr val="FFFFFF"/>
                </a:solidFill>
                <a:latin typeface="Times New Roman" panose="02020603050405020304" pitchFamily="18" charset="0"/>
                <a:cs typeface="Times New Roman" panose="02020603050405020304" pitchFamily="18" charset="0"/>
              </a:rPr>
              <a:t> </a:t>
            </a:r>
            <a:r>
              <a:rPr sz="1150" spc="-60" dirty="0">
                <a:solidFill>
                  <a:srgbClr val="FFFFFF"/>
                </a:solidFill>
                <a:latin typeface="Times New Roman" panose="02020603050405020304" pitchFamily="18" charset="0"/>
                <a:cs typeface="Times New Roman" panose="02020603050405020304" pitchFamily="18" charset="0"/>
              </a:rPr>
              <a:t>mỗi</a:t>
            </a:r>
            <a:r>
              <a:rPr sz="1150" spc="-5" dirty="0">
                <a:solidFill>
                  <a:srgbClr val="FFFFFF"/>
                </a:solidFill>
                <a:latin typeface="Times New Roman" panose="02020603050405020304" pitchFamily="18" charset="0"/>
                <a:cs typeface="Times New Roman" panose="02020603050405020304" pitchFamily="18" charset="0"/>
              </a:rPr>
              <a:t> </a:t>
            </a:r>
            <a:r>
              <a:rPr sz="1150" spc="-50" dirty="0">
                <a:solidFill>
                  <a:srgbClr val="FFFFFF"/>
                </a:solidFill>
                <a:latin typeface="Times New Roman" panose="02020603050405020304" pitchFamily="18" charset="0"/>
                <a:cs typeface="Times New Roman" panose="02020603050405020304" pitchFamily="18" charset="0"/>
              </a:rPr>
              <a:t>n</a:t>
            </a:r>
            <a:r>
              <a:rPr sz="1050" spc="-50" dirty="0">
                <a:solidFill>
                  <a:srgbClr val="FFFFFF"/>
                </a:solidFill>
                <a:latin typeface="Times New Roman" panose="02020603050405020304" pitchFamily="18" charset="0"/>
                <a:cs typeface="Times New Roman" panose="02020603050405020304" pitchFamily="18" charset="0"/>
              </a:rPr>
              <a:t>ă</a:t>
            </a:r>
            <a:r>
              <a:rPr sz="1150" spc="-50" dirty="0">
                <a:solidFill>
                  <a:srgbClr val="FFFFFF"/>
                </a:solidFill>
                <a:latin typeface="Times New Roman" panose="02020603050405020304" pitchFamily="18" charset="0"/>
                <a:cs typeface="Times New Roman" panose="02020603050405020304" pitchFamily="18" charset="0"/>
              </a:rPr>
              <a:t>m</a:t>
            </a:r>
            <a:endParaRPr sz="1150" dirty="0">
              <a:latin typeface="Times New Roman" panose="02020603050405020304" pitchFamily="18" charset="0"/>
              <a:cs typeface="Times New Roman" panose="02020603050405020304" pitchFamily="18" charset="0"/>
            </a:endParaRPr>
          </a:p>
        </p:txBody>
      </p:sp>
      <p:grpSp>
        <p:nvGrpSpPr>
          <p:cNvPr id="30" name="object 30"/>
          <p:cNvGrpSpPr/>
          <p:nvPr/>
        </p:nvGrpSpPr>
        <p:grpSpPr>
          <a:xfrm>
            <a:off x="952499" y="1885949"/>
            <a:ext cx="114300" cy="1714500"/>
            <a:chOff x="952499" y="1885949"/>
            <a:chExt cx="114300" cy="1714500"/>
          </a:xfrm>
        </p:grpSpPr>
        <p:pic>
          <p:nvPicPr>
            <p:cNvPr id="31" name="object 31"/>
            <p:cNvPicPr/>
            <p:nvPr/>
          </p:nvPicPr>
          <p:blipFill>
            <a:blip r:embed="rId7" cstate="print"/>
            <a:stretch>
              <a:fillRect/>
            </a:stretch>
          </p:blipFill>
          <p:spPr>
            <a:xfrm>
              <a:off x="952499" y="1885949"/>
              <a:ext cx="114300" cy="114299"/>
            </a:xfrm>
            <a:prstGeom prst="rect">
              <a:avLst/>
            </a:prstGeom>
          </p:spPr>
        </p:pic>
        <p:sp>
          <p:nvSpPr>
            <p:cNvPr id="32" name="object 32"/>
            <p:cNvSpPr/>
            <p:nvPr/>
          </p:nvSpPr>
          <p:spPr>
            <a:xfrm>
              <a:off x="1000124" y="2000249"/>
              <a:ext cx="19050" cy="504825"/>
            </a:xfrm>
            <a:custGeom>
              <a:avLst/>
              <a:gdLst/>
              <a:ahLst/>
              <a:cxnLst/>
              <a:rect l="l" t="t" r="r" b="b"/>
              <a:pathLst>
                <a:path w="19050" h="504825">
                  <a:moveTo>
                    <a:pt x="19049" y="504824"/>
                  </a:moveTo>
                  <a:lnTo>
                    <a:pt x="0" y="504824"/>
                  </a:lnTo>
                  <a:lnTo>
                    <a:pt x="0" y="0"/>
                  </a:lnTo>
                  <a:lnTo>
                    <a:pt x="19049" y="0"/>
                  </a:lnTo>
                  <a:lnTo>
                    <a:pt x="19049" y="504824"/>
                  </a:lnTo>
                  <a:close/>
                </a:path>
              </a:pathLst>
            </a:custGeom>
            <a:solidFill>
              <a:srgbClr val="FFFFFF">
                <a:alpha val="50199"/>
              </a:srgbClr>
            </a:solidFill>
          </p:spPr>
          <p:txBody>
            <a:bodyPr wrap="square" lIns="0" tIns="0" rIns="0" bIns="0" rtlCol="0"/>
            <a:lstStyle/>
            <a:p>
              <a:endParaRPr/>
            </a:p>
          </p:txBody>
        </p:sp>
        <p:pic>
          <p:nvPicPr>
            <p:cNvPr id="33" name="object 33"/>
            <p:cNvPicPr/>
            <p:nvPr/>
          </p:nvPicPr>
          <p:blipFill>
            <a:blip r:embed="rId7" cstate="print"/>
            <a:stretch>
              <a:fillRect/>
            </a:stretch>
          </p:blipFill>
          <p:spPr>
            <a:xfrm>
              <a:off x="952499" y="2457449"/>
              <a:ext cx="114300" cy="114299"/>
            </a:xfrm>
            <a:prstGeom prst="rect">
              <a:avLst/>
            </a:prstGeom>
          </p:spPr>
        </p:pic>
        <p:sp>
          <p:nvSpPr>
            <p:cNvPr id="34" name="object 34"/>
            <p:cNvSpPr/>
            <p:nvPr/>
          </p:nvSpPr>
          <p:spPr>
            <a:xfrm>
              <a:off x="1000124" y="2571749"/>
              <a:ext cx="19050" cy="276225"/>
            </a:xfrm>
            <a:custGeom>
              <a:avLst/>
              <a:gdLst/>
              <a:ahLst/>
              <a:cxnLst/>
              <a:rect l="l" t="t" r="r" b="b"/>
              <a:pathLst>
                <a:path w="19050" h="276225">
                  <a:moveTo>
                    <a:pt x="19049" y="276224"/>
                  </a:moveTo>
                  <a:lnTo>
                    <a:pt x="0" y="276224"/>
                  </a:lnTo>
                  <a:lnTo>
                    <a:pt x="0" y="0"/>
                  </a:lnTo>
                  <a:lnTo>
                    <a:pt x="19049" y="0"/>
                  </a:lnTo>
                  <a:lnTo>
                    <a:pt x="19049" y="276224"/>
                  </a:lnTo>
                  <a:close/>
                </a:path>
              </a:pathLst>
            </a:custGeom>
            <a:solidFill>
              <a:srgbClr val="FFFFFF">
                <a:alpha val="50199"/>
              </a:srgbClr>
            </a:solidFill>
          </p:spPr>
          <p:txBody>
            <a:bodyPr wrap="square" lIns="0" tIns="0" rIns="0" bIns="0" rtlCol="0"/>
            <a:lstStyle/>
            <a:p>
              <a:endParaRPr/>
            </a:p>
          </p:txBody>
        </p:sp>
        <p:pic>
          <p:nvPicPr>
            <p:cNvPr id="35" name="object 35"/>
            <p:cNvPicPr/>
            <p:nvPr/>
          </p:nvPicPr>
          <p:blipFill>
            <a:blip r:embed="rId7" cstate="print"/>
            <a:stretch>
              <a:fillRect/>
            </a:stretch>
          </p:blipFill>
          <p:spPr>
            <a:xfrm>
              <a:off x="952499" y="2800349"/>
              <a:ext cx="114300" cy="114299"/>
            </a:xfrm>
            <a:prstGeom prst="rect">
              <a:avLst/>
            </a:prstGeom>
          </p:spPr>
        </p:pic>
        <p:sp>
          <p:nvSpPr>
            <p:cNvPr id="36" name="object 36"/>
            <p:cNvSpPr/>
            <p:nvPr/>
          </p:nvSpPr>
          <p:spPr>
            <a:xfrm>
              <a:off x="1000124" y="2914649"/>
              <a:ext cx="19050" cy="276225"/>
            </a:xfrm>
            <a:custGeom>
              <a:avLst/>
              <a:gdLst/>
              <a:ahLst/>
              <a:cxnLst/>
              <a:rect l="l" t="t" r="r" b="b"/>
              <a:pathLst>
                <a:path w="19050" h="276225">
                  <a:moveTo>
                    <a:pt x="19049" y="276224"/>
                  </a:moveTo>
                  <a:lnTo>
                    <a:pt x="0" y="276224"/>
                  </a:lnTo>
                  <a:lnTo>
                    <a:pt x="0" y="0"/>
                  </a:lnTo>
                  <a:lnTo>
                    <a:pt x="19049" y="0"/>
                  </a:lnTo>
                  <a:lnTo>
                    <a:pt x="19049" y="276224"/>
                  </a:lnTo>
                  <a:close/>
                </a:path>
              </a:pathLst>
            </a:custGeom>
            <a:solidFill>
              <a:srgbClr val="FFFFFF">
                <a:alpha val="50199"/>
              </a:srgbClr>
            </a:solidFill>
          </p:spPr>
          <p:txBody>
            <a:bodyPr wrap="square" lIns="0" tIns="0" rIns="0" bIns="0" rtlCol="0"/>
            <a:lstStyle/>
            <a:p>
              <a:endParaRPr/>
            </a:p>
          </p:txBody>
        </p:sp>
        <p:pic>
          <p:nvPicPr>
            <p:cNvPr id="37" name="object 37"/>
            <p:cNvPicPr/>
            <p:nvPr/>
          </p:nvPicPr>
          <p:blipFill>
            <a:blip r:embed="rId7" cstate="print"/>
            <a:stretch>
              <a:fillRect/>
            </a:stretch>
          </p:blipFill>
          <p:spPr>
            <a:xfrm>
              <a:off x="952499" y="3143249"/>
              <a:ext cx="114300" cy="114299"/>
            </a:xfrm>
            <a:prstGeom prst="rect">
              <a:avLst/>
            </a:prstGeom>
          </p:spPr>
        </p:pic>
        <p:sp>
          <p:nvSpPr>
            <p:cNvPr id="38" name="object 38"/>
            <p:cNvSpPr/>
            <p:nvPr/>
          </p:nvSpPr>
          <p:spPr>
            <a:xfrm>
              <a:off x="1000124" y="3257549"/>
              <a:ext cx="19050" cy="276225"/>
            </a:xfrm>
            <a:custGeom>
              <a:avLst/>
              <a:gdLst/>
              <a:ahLst/>
              <a:cxnLst/>
              <a:rect l="l" t="t" r="r" b="b"/>
              <a:pathLst>
                <a:path w="19050" h="276225">
                  <a:moveTo>
                    <a:pt x="19049" y="276224"/>
                  </a:moveTo>
                  <a:lnTo>
                    <a:pt x="0" y="276224"/>
                  </a:lnTo>
                  <a:lnTo>
                    <a:pt x="0" y="0"/>
                  </a:lnTo>
                  <a:lnTo>
                    <a:pt x="19049" y="0"/>
                  </a:lnTo>
                  <a:lnTo>
                    <a:pt x="19049" y="276224"/>
                  </a:lnTo>
                  <a:close/>
                </a:path>
              </a:pathLst>
            </a:custGeom>
            <a:solidFill>
              <a:srgbClr val="FFFFFF">
                <a:alpha val="50199"/>
              </a:srgbClr>
            </a:solidFill>
          </p:spPr>
          <p:txBody>
            <a:bodyPr wrap="square" lIns="0" tIns="0" rIns="0" bIns="0" rtlCol="0"/>
            <a:lstStyle/>
            <a:p>
              <a:endParaRPr/>
            </a:p>
          </p:txBody>
        </p:sp>
        <p:pic>
          <p:nvPicPr>
            <p:cNvPr id="39" name="object 39"/>
            <p:cNvPicPr/>
            <p:nvPr/>
          </p:nvPicPr>
          <p:blipFill>
            <a:blip r:embed="rId7" cstate="print"/>
            <a:stretch>
              <a:fillRect/>
            </a:stretch>
          </p:blipFill>
          <p:spPr>
            <a:xfrm>
              <a:off x="952499" y="3486149"/>
              <a:ext cx="114300" cy="114299"/>
            </a:xfrm>
            <a:prstGeom prst="rect">
              <a:avLst/>
            </a:prstGeom>
          </p:spPr>
        </p:pic>
      </p:grpSp>
      <p:sp>
        <p:nvSpPr>
          <p:cNvPr id="40" name="object 40"/>
          <p:cNvSpPr txBox="1">
            <a:spLocks noGrp="1"/>
          </p:cNvSpPr>
          <p:nvPr>
            <p:ph type="body" idx="1"/>
          </p:nvPr>
        </p:nvSpPr>
        <p:spPr>
          <a:prstGeom prst="rect">
            <a:avLst/>
          </a:prstGeom>
        </p:spPr>
        <p:txBody>
          <a:bodyPr vert="horz" wrap="square" lIns="0" tIns="11430" rIns="0" bIns="0" rtlCol="0">
            <a:spAutoFit/>
          </a:bodyPr>
          <a:lstStyle/>
          <a:p>
            <a:pPr marL="12700" marR="5080">
              <a:lnSpc>
                <a:spcPct val="115399"/>
              </a:lnSpc>
              <a:spcBef>
                <a:spcPts val="90"/>
              </a:spcBef>
            </a:pPr>
            <a:r>
              <a:rPr b="1" spc="-60" dirty="0">
                <a:latin typeface="Times New Roman" panose="02020603050405020304" pitchFamily="18" charset="0"/>
                <a:cs typeface="Times New Roman" panose="02020603050405020304" pitchFamily="18" charset="0"/>
              </a:rPr>
              <a:t>1886:</a:t>
            </a:r>
            <a:r>
              <a:rPr b="1" spc="-5" dirty="0">
                <a:latin typeface="Times New Roman" panose="02020603050405020304" pitchFamily="18" charset="0"/>
                <a:cs typeface="Times New Roman" panose="02020603050405020304" pitchFamily="18" charset="0"/>
              </a:rPr>
              <a:t> </a:t>
            </a:r>
            <a:r>
              <a:rPr spc="-45" dirty="0">
                <a:latin typeface="Times New Roman" panose="02020603050405020304" pitchFamily="18" charset="0"/>
                <a:cs typeface="Times New Roman" panose="02020603050405020304" pitchFamily="18" charset="0"/>
              </a:rPr>
              <a:t>Robert</a:t>
            </a:r>
            <a:r>
              <a:rPr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Bosch</a:t>
            </a:r>
            <a:r>
              <a:rPr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thành</a:t>
            </a:r>
            <a:r>
              <a:rPr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lập</a:t>
            </a:r>
            <a:r>
              <a:rPr dirty="0">
                <a:latin typeface="Times New Roman" panose="02020603050405020304" pitchFamily="18" charset="0"/>
                <a:cs typeface="Times New Roman" panose="02020603050405020304" pitchFamily="18" charset="0"/>
              </a:rPr>
              <a:t> </a:t>
            </a:r>
            <a:r>
              <a:rPr spc="-55" dirty="0">
                <a:latin typeface="Times New Roman" panose="02020603050405020304" pitchFamily="18" charset="0"/>
                <a:cs typeface="Times New Roman" panose="02020603050405020304" pitchFamily="18" charset="0"/>
              </a:rPr>
              <a:t>"Werkstätte</a:t>
            </a:r>
            <a:r>
              <a:rPr dirty="0">
                <a:latin typeface="Times New Roman" panose="02020603050405020304" pitchFamily="18" charset="0"/>
                <a:cs typeface="Times New Roman" panose="02020603050405020304" pitchFamily="18" charset="0"/>
              </a:rPr>
              <a:t> </a:t>
            </a:r>
            <a:r>
              <a:rPr spc="-40" dirty="0">
                <a:latin typeface="Times New Roman" panose="02020603050405020304" pitchFamily="18" charset="0"/>
                <a:cs typeface="Times New Roman" panose="02020603050405020304" pitchFamily="18" charset="0"/>
              </a:rPr>
              <a:t>für</a:t>
            </a:r>
            <a:r>
              <a:rPr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Feinmechanik</a:t>
            </a:r>
            <a:r>
              <a:rPr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und</a:t>
            </a:r>
            <a:r>
              <a:rPr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Elektrotechnik"</a:t>
            </a:r>
            <a:r>
              <a:rPr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(X</a:t>
            </a:r>
            <a:r>
              <a:rPr sz="1200" spc="-85" dirty="0">
                <a:latin typeface="Times New Roman" panose="02020603050405020304" pitchFamily="18" charset="0"/>
                <a:cs typeface="Times New Roman" panose="02020603050405020304" pitchFamily="18" charset="0"/>
              </a:rPr>
              <a:t>ư</a:t>
            </a:r>
            <a:r>
              <a:rPr spc="-85" dirty="0">
                <a:latin typeface="Times New Roman" panose="02020603050405020304" pitchFamily="18" charset="0"/>
                <a:cs typeface="Times New Roman" panose="02020603050405020304" pitchFamily="18" charset="0"/>
              </a:rPr>
              <a:t>ởng</a:t>
            </a:r>
            <a:r>
              <a:rPr spc="5"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c</a:t>
            </a:r>
            <a:r>
              <a:rPr sz="1200" spc="-85" dirty="0">
                <a:latin typeface="Times New Roman" panose="02020603050405020304" pitchFamily="18" charset="0"/>
                <a:cs typeface="Times New Roman" panose="02020603050405020304" pitchFamily="18" charset="0"/>
              </a:rPr>
              <a:t>ơ</a:t>
            </a:r>
            <a:r>
              <a:rPr sz="1200" spc="-1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khí </a:t>
            </a:r>
            <a:r>
              <a:rPr spc="-55" dirty="0">
                <a:latin typeface="Times New Roman" panose="02020603050405020304" pitchFamily="18" charset="0"/>
                <a:cs typeface="Times New Roman" panose="02020603050405020304" pitchFamily="18" charset="0"/>
              </a:rPr>
              <a:t>chính</a:t>
            </a:r>
            <a:r>
              <a:rPr spc="-20"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xác</a:t>
            </a:r>
            <a:r>
              <a:rPr spc="-15"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và</a:t>
            </a:r>
            <a:r>
              <a:rPr spc="-20" dirty="0">
                <a:latin typeface="Times New Roman" panose="02020603050405020304" pitchFamily="18" charset="0"/>
                <a:cs typeface="Times New Roman" panose="02020603050405020304" pitchFamily="18" charset="0"/>
              </a:rPr>
              <a:t> </a:t>
            </a:r>
            <a:r>
              <a:rPr sz="1200" spc="-25" dirty="0">
                <a:latin typeface="Times New Roman" panose="02020603050405020304" pitchFamily="18" charset="0"/>
                <a:cs typeface="Times New Roman" panose="02020603050405020304" pitchFamily="18" charset="0"/>
              </a:rPr>
              <a:t>đ</a:t>
            </a:r>
            <a:r>
              <a:rPr spc="-25" dirty="0">
                <a:latin typeface="Times New Roman" panose="02020603050405020304" pitchFamily="18" charset="0"/>
                <a:cs typeface="Times New Roman" panose="02020603050405020304" pitchFamily="18" charset="0"/>
              </a:rPr>
              <a:t>iện)</a:t>
            </a:r>
            <a:r>
              <a:rPr spc="-15" dirty="0">
                <a:latin typeface="Times New Roman" panose="02020603050405020304" pitchFamily="18" charset="0"/>
                <a:cs typeface="Times New Roman" panose="02020603050405020304" pitchFamily="18" charset="0"/>
              </a:rPr>
              <a:t> </a:t>
            </a:r>
            <a:r>
              <a:rPr spc="-40" dirty="0">
                <a:latin typeface="Times New Roman" panose="02020603050405020304" pitchFamily="18" charset="0"/>
                <a:cs typeface="Times New Roman" panose="02020603050405020304" pitchFamily="18" charset="0"/>
              </a:rPr>
              <a:t>tại</a:t>
            </a:r>
            <a:r>
              <a:rPr spc="-15" dirty="0">
                <a:latin typeface="Times New Roman" panose="02020603050405020304" pitchFamily="18" charset="0"/>
                <a:cs typeface="Times New Roman" panose="02020603050405020304" pitchFamily="18" charset="0"/>
              </a:rPr>
              <a:t> </a:t>
            </a:r>
            <a:r>
              <a:rPr spc="-40" dirty="0">
                <a:latin typeface="Times New Roman" panose="02020603050405020304" pitchFamily="18" charset="0"/>
                <a:cs typeface="Times New Roman" panose="02020603050405020304" pitchFamily="18" charset="0"/>
              </a:rPr>
              <a:t>Stuttgart,</a:t>
            </a:r>
            <a:r>
              <a:rPr spc="-20" dirty="0">
                <a:latin typeface="Times New Roman" panose="02020603050405020304" pitchFamily="18" charset="0"/>
                <a:cs typeface="Times New Roman" panose="02020603050405020304" pitchFamily="18" charset="0"/>
              </a:rPr>
              <a:t> </a:t>
            </a:r>
            <a:r>
              <a:rPr sz="1200" spc="-25" dirty="0">
                <a:latin typeface="Times New Roman" panose="02020603050405020304" pitchFamily="18" charset="0"/>
                <a:cs typeface="Times New Roman" panose="02020603050405020304" pitchFamily="18" charset="0"/>
              </a:rPr>
              <a:t>Đ</a:t>
            </a:r>
            <a:r>
              <a:rPr spc="-25" dirty="0">
                <a:latin typeface="Times New Roman" panose="02020603050405020304" pitchFamily="18" charset="0"/>
                <a:cs typeface="Times New Roman" panose="02020603050405020304" pitchFamily="18" charset="0"/>
              </a:rPr>
              <a:t>ức</a:t>
            </a:r>
            <a:endParaRPr sz="1200" dirty="0">
              <a:latin typeface="Times New Roman" panose="02020603050405020304" pitchFamily="18" charset="0"/>
              <a:cs typeface="Times New Roman" panose="02020603050405020304" pitchFamily="18" charset="0"/>
            </a:endParaRPr>
          </a:p>
          <a:p>
            <a:pPr marL="12700">
              <a:lnSpc>
                <a:spcPct val="100000"/>
              </a:lnSpc>
              <a:spcBef>
                <a:spcPts val="1140"/>
              </a:spcBef>
            </a:pPr>
            <a:r>
              <a:rPr b="1" spc="-60" dirty="0">
                <a:latin typeface="Times New Roman" panose="02020603050405020304" pitchFamily="18" charset="0"/>
                <a:cs typeface="Times New Roman" panose="02020603050405020304" pitchFamily="18" charset="0"/>
              </a:rPr>
              <a:t>1897:</a:t>
            </a:r>
            <a:r>
              <a:rPr b="1" spc="-25"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Phát</a:t>
            </a:r>
            <a:r>
              <a:rPr spc="-2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minh</a:t>
            </a:r>
            <a:r>
              <a:rPr spc="-15"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ra</a:t>
            </a:r>
            <a:r>
              <a:rPr spc="-20" dirty="0">
                <a:latin typeface="Times New Roman" panose="02020603050405020304" pitchFamily="18" charset="0"/>
                <a:cs typeface="Times New Roman" panose="02020603050405020304" pitchFamily="18" charset="0"/>
              </a:rPr>
              <a:t> </a:t>
            </a:r>
            <a:r>
              <a:rPr spc="-55" dirty="0">
                <a:latin typeface="Times New Roman" panose="02020603050405020304" pitchFamily="18" charset="0"/>
                <a:cs typeface="Times New Roman" panose="02020603050405020304" pitchFamily="18" charset="0"/>
              </a:rPr>
              <a:t>bộ </a:t>
            </a:r>
            <a:r>
              <a:rPr sz="1200" spc="-25" dirty="0">
                <a:latin typeface="Times New Roman" panose="02020603050405020304" pitchFamily="18" charset="0"/>
                <a:cs typeface="Times New Roman" panose="02020603050405020304" pitchFamily="18" charset="0"/>
              </a:rPr>
              <a:t>đ</a:t>
            </a:r>
            <a:r>
              <a:rPr spc="-25" dirty="0">
                <a:latin typeface="Times New Roman" panose="02020603050405020304" pitchFamily="18" charset="0"/>
                <a:cs typeface="Times New Roman" panose="02020603050405020304" pitchFamily="18" charset="0"/>
              </a:rPr>
              <a:t>ánh</a:t>
            </a:r>
            <a:r>
              <a:rPr spc="-20" dirty="0">
                <a:latin typeface="Times New Roman" panose="02020603050405020304" pitchFamily="18" charset="0"/>
                <a:cs typeface="Times New Roman" panose="02020603050405020304" pitchFamily="18" charset="0"/>
              </a:rPr>
              <a:t> </a:t>
            </a:r>
            <a:r>
              <a:rPr spc="-75" dirty="0">
                <a:latin typeface="Times New Roman" panose="02020603050405020304" pitchFamily="18" charset="0"/>
                <a:cs typeface="Times New Roman" panose="02020603050405020304" pitchFamily="18" charset="0"/>
              </a:rPr>
              <a:t>lửa</a:t>
            </a:r>
            <a:r>
              <a:rPr spc="-15" dirty="0">
                <a:latin typeface="Times New Roman" panose="02020603050405020304" pitchFamily="18" charset="0"/>
                <a:cs typeface="Times New Roman" panose="02020603050405020304" pitchFamily="18" charset="0"/>
              </a:rPr>
              <a:t> </a:t>
            </a:r>
            <a:r>
              <a:rPr spc="-90" dirty="0">
                <a:latin typeface="Times New Roman" panose="02020603050405020304" pitchFamily="18" charset="0"/>
                <a:cs typeface="Times New Roman" panose="02020603050405020304" pitchFamily="18" charset="0"/>
              </a:rPr>
              <a:t>từ</a:t>
            </a:r>
            <a:r>
              <a:rPr spc="-60" dirty="0">
                <a:latin typeface="Times New Roman" panose="02020603050405020304" pitchFamily="18" charset="0"/>
                <a:cs typeface="Times New Roman" panose="02020603050405020304" pitchFamily="18" charset="0"/>
              </a:rPr>
              <a:t> </a:t>
            </a:r>
            <a:r>
              <a:rPr spc="-45" dirty="0">
                <a:latin typeface="Times New Roman" panose="02020603050405020304" pitchFamily="18" charset="0"/>
                <a:cs typeface="Times New Roman" panose="02020603050405020304" pitchFamily="18" charset="0"/>
              </a:rPr>
              <a:t>tính</a:t>
            </a:r>
            <a:r>
              <a:rPr spc="-15"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cho</a:t>
            </a:r>
            <a:r>
              <a:rPr spc="-20" dirty="0">
                <a:latin typeface="Times New Roman" panose="02020603050405020304" pitchFamily="18" charset="0"/>
                <a:cs typeface="Times New Roman" panose="02020603050405020304" pitchFamily="18" charset="0"/>
              </a:rPr>
              <a:t> </a:t>
            </a:r>
            <a:r>
              <a:rPr sz="1200" spc="-20" dirty="0">
                <a:latin typeface="Times New Roman" panose="02020603050405020304" pitchFamily="18" charset="0"/>
                <a:cs typeface="Times New Roman" panose="02020603050405020304" pitchFamily="18" charset="0"/>
              </a:rPr>
              <a:t>đ</a:t>
            </a:r>
            <a:r>
              <a:rPr spc="-20" dirty="0">
                <a:latin typeface="Times New Roman" panose="02020603050405020304" pitchFamily="18" charset="0"/>
                <a:cs typeface="Times New Roman" panose="02020603050405020304" pitchFamily="18" charset="0"/>
              </a:rPr>
              <a:t>ộng</a:t>
            </a:r>
            <a:r>
              <a:rPr spc="-15"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c</a:t>
            </a:r>
            <a:r>
              <a:rPr sz="1200" spc="-85" dirty="0">
                <a:latin typeface="Times New Roman" panose="02020603050405020304" pitchFamily="18" charset="0"/>
                <a:cs typeface="Times New Roman" panose="02020603050405020304" pitchFamily="18" charset="0"/>
              </a:rPr>
              <a:t>ơ</a:t>
            </a:r>
            <a:r>
              <a:rPr sz="1200" spc="-35"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đ</a:t>
            </a:r>
            <a:r>
              <a:rPr dirty="0">
                <a:latin typeface="Times New Roman" panose="02020603050405020304" pitchFamily="18" charset="0"/>
                <a:cs typeface="Times New Roman" panose="02020603050405020304" pitchFamily="18" charset="0"/>
              </a:rPr>
              <a:t>ốt</a:t>
            </a:r>
            <a:r>
              <a:rPr spc="-1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trong</a:t>
            </a:r>
            <a:endParaRPr sz="1200" dirty="0">
              <a:latin typeface="Times New Roman" panose="02020603050405020304" pitchFamily="18" charset="0"/>
              <a:cs typeface="Times New Roman" panose="02020603050405020304" pitchFamily="18" charset="0"/>
            </a:endParaRPr>
          </a:p>
          <a:p>
            <a:pPr marL="12700" marR="1712595">
              <a:lnSpc>
                <a:spcPct val="173100"/>
              </a:lnSpc>
            </a:pPr>
            <a:r>
              <a:rPr b="1" spc="-60" dirty="0">
                <a:latin typeface="Times New Roman" panose="02020603050405020304" pitchFamily="18" charset="0"/>
                <a:cs typeface="Times New Roman" panose="02020603050405020304" pitchFamily="18" charset="0"/>
              </a:rPr>
              <a:t>1932-1954:</a:t>
            </a:r>
            <a:r>
              <a:rPr b="1" spc="-20" dirty="0">
                <a:latin typeface="Times New Roman" panose="02020603050405020304" pitchFamily="18" charset="0"/>
                <a:cs typeface="Times New Roman" panose="02020603050405020304" pitchFamily="18" charset="0"/>
              </a:rPr>
              <a:t> </a:t>
            </a:r>
            <a:r>
              <a:rPr spc="-140" dirty="0">
                <a:latin typeface="Times New Roman" panose="02020603050405020304" pitchFamily="18" charset="0"/>
                <a:cs typeface="Times New Roman" panose="02020603050405020304" pitchFamily="18" charset="0"/>
              </a:rPr>
              <a:t>Mở</a:t>
            </a:r>
            <a:r>
              <a:rPr spc="-5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rộng</a:t>
            </a:r>
            <a:r>
              <a:rPr spc="-10" dirty="0">
                <a:latin typeface="Times New Roman" panose="02020603050405020304" pitchFamily="18" charset="0"/>
                <a:cs typeface="Times New Roman" panose="02020603050405020304" pitchFamily="18" charset="0"/>
              </a:rPr>
              <a:t> </a:t>
            </a:r>
            <a:r>
              <a:rPr spc="-90" dirty="0">
                <a:latin typeface="Times New Roman" panose="02020603050405020304" pitchFamily="18" charset="0"/>
                <a:cs typeface="Times New Roman" panose="02020603050405020304" pitchFamily="18" charset="0"/>
              </a:rPr>
              <a:t>với</a:t>
            </a:r>
            <a:r>
              <a:rPr spc="-15" dirty="0">
                <a:latin typeface="Times New Roman" panose="02020603050405020304" pitchFamily="18" charset="0"/>
                <a:cs typeface="Times New Roman" panose="02020603050405020304" pitchFamily="18" charset="0"/>
              </a:rPr>
              <a:t> </a:t>
            </a:r>
            <a:r>
              <a:rPr spc="-70" dirty="0">
                <a:latin typeface="Times New Roman" panose="02020603050405020304" pitchFamily="18" charset="0"/>
                <a:cs typeface="Times New Roman" panose="02020603050405020304" pitchFamily="18" charset="0"/>
              </a:rPr>
              <a:t>máy</a:t>
            </a:r>
            <a:r>
              <a:rPr spc="-10"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khoan</a:t>
            </a:r>
            <a:r>
              <a:rPr spc="-15" dirty="0">
                <a:latin typeface="Times New Roman" panose="02020603050405020304" pitchFamily="18" charset="0"/>
                <a:cs typeface="Times New Roman" panose="02020603050405020304" pitchFamily="18" charset="0"/>
              </a:rPr>
              <a:t> </a:t>
            </a:r>
            <a:r>
              <a:rPr sz="1200" spc="-20" dirty="0">
                <a:latin typeface="Times New Roman" panose="02020603050405020304" pitchFamily="18" charset="0"/>
                <a:cs typeface="Times New Roman" panose="02020603050405020304" pitchFamily="18" charset="0"/>
              </a:rPr>
              <a:t>đ</a:t>
            </a:r>
            <a:r>
              <a:rPr spc="-20" dirty="0">
                <a:latin typeface="Times New Roman" panose="02020603050405020304" pitchFamily="18" charset="0"/>
                <a:cs typeface="Times New Roman" panose="02020603050405020304" pitchFamily="18" charset="0"/>
              </a:rPr>
              <a:t>iện</a:t>
            </a:r>
            <a:r>
              <a:rPr spc="-10" dirty="0">
                <a:latin typeface="Times New Roman" panose="02020603050405020304" pitchFamily="18" charset="0"/>
                <a:cs typeface="Times New Roman" panose="02020603050405020304" pitchFamily="18" charset="0"/>
              </a:rPr>
              <a:t> </a:t>
            </a:r>
            <a:r>
              <a:rPr sz="1200" spc="-20" dirty="0">
                <a:latin typeface="Times New Roman" panose="02020603050405020304" pitchFamily="18" charset="0"/>
                <a:cs typeface="Times New Roman" panose="02020603050405020304" pitchFamily="18" charset="0"/>
              </a:rPr>
              <a:t>đ</a:t>
            </a:r>
            <a:r>
              <a:rPr spc="-20" dirty="0">
                <a:latin typeface="Times New Roman" panose="02020603050405020304" pitchFamily="18" charset="0"/>
                <a:cs typeface="Times New Roman" panose="02020603050405020304" pitchFamily="18" charset="0"/>
              </a:rPr>
              <a:t>ầu</a:t>
            </a:r>
            <a:r>
              <a:rPr spc="-15" dirty="0">
                <a:latin typeface="Times New Roman" panose="02020603050405020304" pitchFamily="18" charset="0"/>
                <a:cs typeface="Times New Roman" panose="02020603050405020304" pitchFamily="18" charset="0"/>
              </a:rPr>
              <a:t> </a:t>
            </a:r>
            <a:r>
              <a:rPr spc="-45" dirty="0">
                <a:latin typeface="Times New Roman" panose="02020603050405020304" pitchFamily="18" charset="0"/>
                <a:cs typeface="Times New Roman" panose="02020603050405020304" pitchFamily="18" charset="0"/>
              </a:rPr>
              <a:t>tiên</a:t>
            </a:r>
            <a:r>
              <a:rPr spc="-10"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và</a:t>
            </a:r>
            <a:r>
              <a:rPr spc="-1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thiết</a:t>
            </a:r>
            <a:r>
              <a:rPr spc="-10" dirty="0">
                <a:latin typeface="Times New Roman" panose="02020603050405020304" pitchFamily="18" charset="0"/>
                <a:cs typeface="Times New Roman" panose="02020603050405020304" pitchFamily="18" charset="0"/>
              </a:rPr>
              <a:t> </a:t>
            </a:r>
            <a:r>
              <a:rPr spc="-30" dirty="0">
                <a:latin typeface="Times New Roman" panose="02020603050405020304" pitchFamily="18" charset="0"/>
                <a:cs typeface="Times New Roman" panose="02020603050405020304" pitchFamily="18" charset="0"/>
              </a:rPr>
              <a:t>bị</a:t>
            </a:r>
            <a:r>
              <a:rPr spc="-55" dirty="0">
                <a:latin typeface="Times New Roman" panose="02020603050405020304" pitchFamily="18" charset="0"/>
                <a:cs typeface="Times New Roman" panose="02020603050405020304" pitchFamily="18" charset="0"/>
              </a:rPr>
              <a:t> </a:t>
            </a:r>
            <a:r>
              <a:rPr spc="-45" dirty="0">
                <a:latin typeface="Times New Roman" panose="02020603050405020304" pitchFamily="18" charset="0"/>
                <a:cs typeface="Times New Roman" panose="02020603050405020304" pitchFamily="18" charset="0"/>
              </a:rPr>
              <a:t>gia</a:t>
            </a:r>
            <a:r>
              <a:rPr spc="-10"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dụng </a:t>
            </a:r>
            <a:r>
              <a:rPr b="1" spc="-60" dirty="0">
                <a:latin typeface="Times New Roman" panose="02020603050405020304" pitchFamily="18" charset="0"/>
                <a:cs typeface="Times New Roman" panose="02020603050405020304" pitchFamily="18" charset="0"/>
              </a:rPr>
              <a:t>1967:</a:t>
            </a:r>
            <a:r>
              <a:rPr b="1" spc="-2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Phát</a:t>
            </a:r>
            <a:r>
              <a:rPr spc="-1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triển</a:t>
            </a:r>
            <a:r>
              <a:rPr spc="-10" dirty="0">
                <a:latin typeface="Times New Roman" panose="02020603050405020304" pitchFamily="18" charset="0"/>
                <a:cs typeface="Times New Roman" panose="02020603050405020304" pitchFamily="18" charset="0"/>
              </a:rPr>
              <a:t> </a:t>
            </a:r>
            <a:r>
              <a:rPr spc="-80" dirty="0">
                <a:latin typeface="Times New Roman" panose="02020603050405020304" pitchFamily="18" charset="0"/>
                <a:cs typeface="Times New Roman" panose="02020603050405020304" pitchFamily="18" charset="0"/>
              </a:rPr>
              <a:t>hệ</a:t>
            </a:r>
            <a:r>
              <a:rPr spc="-55" dirty="0">
                <a:latin typeface="Times New Roman" panose="02020603050405020304" pitchFamily="18" charset="0"/>
                <a:cs typeface="Times New Roman" panose="02020603050405020304" pitchFamily="18" charset="0"/>
              </a:rPr>
              <a:t> thống</a:t>
            </a:r>
            <a:r>
              <a:rPr spc="-1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phun</a:t>
            </a:r>
            <a:r>
              <a:rPr spc="-1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x</a:t>
            </a:r>
            <a:r>
              <a:rPr sz="1200" spc="-50" dirty="0">
                <a:latin typeface="Times New Roman" panose="02020603050405020304" pitchFamily="18" charset="0"/>
                <a:cs typeface="Times New Roman" panose="02020603050405020304" pitchFamily="18" charset="0"/>
              </a:rPr>
              <a:t>ă</a:t>
            </a:r>
            <a:r>
              <a:rPr spc="-50" dirty="0">
                <a:latin typeface="Times New Roman" panose="02020603050405020304" pitchFamily="18" charset="0"/>
                <a:cs typeface="Times New Roman" panose="02020603050405020304" pitchFamily="18" charset="0"/>
              </a:rPr>
              <a:t>ng</a:t>
            </a:r>
            <a:r>
              <a:rPr spc="-10" dirty="0">
                <a:latin typeface="Times New Roman" panose="02020603050405020304" pitchFamily="18" charset="0"/>
                <a:cs typeface="Times New Roman" panose="02020603050405020304" pitchFamily="18" charset="0"/>
              </a:rPr>
              <a:t> </a:t>
            </a:r>
            <a:r>
              <a:rPr sz="1200" spc="-20" dirty="0">
                <a:latin typeface="Times New Roman" panose="02020603050405020304" pitchFamily="18" charset="0"/>
                <a:cs typeface="Times New Roman" panose="02020603050405020304" pitchFamily="18" charset="0"/>
              </a:rPr>
              <a:t>đ</a:t>
            </a:r>
            <a:r>
              <a:rPr spc="-20" dirty="0">
                <a:latin typeface="Times New Roman" panose="02020603050405020304" pitchFamily="18" charset="0"/>
                <a:cs typeface="Times New Roman" panose="02020603050405020304" pitchFamily="18" charset="0"/>
              </a:rPr>
              <a:t>iện</a:t>
            </a:r>
            <a:r>
              <a:rPr spc="-15" dirty="0">
                <a:latin typeface="Times New Roman" panose="02020603050405020304" pitchFamily="18" charset="0"/>
                <a:cs typeface="Times New Roman" panose="02020603050405020304" pitchFamily="18" charset="0"/>
              </a:rPr>
              <a:t> </a:t>
            </a:r>
            <a:r>
              <a:rPr spc="-90" dirty="0">
                <a:latin typeface="Times New Roman" panose="02020603050405020304" pitchFamily="18" charset="0"/>
                <a:cs typeface="Times New Roman" panose="02020603050405020304" pitchFamily="18" charset="0"/>
              </a:rPr>
              <a:t>tử</a:t>
            </a:r>
            <a:r>
              <a:rPr spc="-50" dirty="0">
                <a:latin typeface="Times New Roman" panose="02020603050405020304" pitchFamily="18" charset="0"/>
                <a:cs typeface="Times New Roman" panose="02020603050405020304" pitchFamily="18" charset="0"/>
              </a:rPr>
              <a:t> </a:t>
            </a:r>
            <a:r>
              <a:rPr sz="1200" spc="-20" dirty="0">
                <a:latin typeface="Times New Roman" panose="02020603050405020304" pitchFamily="18" charset="0"/>
                <a:cs typeface="Times New Roman" panose="02020603050405020304" pitchFamily="18" charset="0"/>
              </a:rPr>
              <a:t>đ</a:t>
            </a:r>
            <a:r>
              <a:rPr spc="-20" dirty="0">
                <a:latin typeface="Times New Roman" panose="02020603050405020304" pitchFamily="18" charset="0"/>
                <a:cs typeface="Times New Roman" panose="02020603050405020304" pitchFamily="18" charset="0"/>
              </a:rPr>
              <a:t>ầu</a:t>
            </a:r>
            <a:r>
              <a:rPr spc="-1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tiên</a:t>
            </a:r>
            <a:endParaRPr sz="1200" dirty="0">
              <a:latin typeface="Times New Roman" panose="02020603050405020304" pitchFamily="18" charset="0"/>
              <a:cs typeface="Times New Roman" panose="02020603050405020304" pitchFamily="18" charset="0"/>
            </a:endParaRPr>
          </a:p>
          <a:p>
            <a:pPr marL="12700">
              <a:lnSpc>
                <a:spcPct val="100000"/>
              </a:lnSpc>
              <a:spcBef>
                <a:spcPts val="1140"/>
              </a:spcBef>
            </a:pPr>
            <a:r>
              <a:rPr b="1" spc="-60" dirty="0">
                <a:latin typeface="Times New Roman" panose="02020603050405020304" pitchFamily="18" charset="0"/>
                <a:cs typeface="Times New Roman" panose="02020603050405020304" pitchFamily="18" charset="0"/>
              </a:rPr>
              <a:t>1995-nay:</a:t>
            </a:r>
            <a:r>
              <a:rPr b="1" spc="-2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Phát</a:t>
            </a:r>
            <a:r>
              <a:rPr spc="-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triển</a:t>
            </a:r>
            <a:r>
              <a:rPr spc="-1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thành</a:t>
            </a:r>
            <a:r>
              <a:rPr spc="-1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tập</a:t>
            </a:r>
            <a:r>
              <a:rPr spc="-10" dirty="0">
                <a:latin typeface="Times New Roman" panose="02020603050405020304" pitchFamily="18" charset="0"/>
                <a:cs typeface="Times New Roman" panose="02020603050405020304" pitchFamily="18" charset="0"/>
              </a:rPr>
              <a:t> </a:t>
            </a:r>
            <a:r>
              <a:rPr sz="1200" spc="-25" dirty="0">
                <a:latin typeface="Times New Roman" panose="02020603050405020304" pitchFamily="18" charset="0"/>
                <a:cs typeface="Times New Roman" panose="02020603050405020304" pitchFamily="18" charset="0"/>
              </a:rPr>
              <a:t>đ</a:t>
            </a:r>
            <a:r>
              <a:rPr spc="-25" dirty="0">
                <a:latin typeface="Times New Roman" panose="02020603050405020304" pitchFamily="18" charset="0"/>
                <a:cs typeface="Times New Roman" panose="02020603050405020304" pitchFamily="18" charset="0"/>
              </a:rPr>
              <a:t>oàn</a:t>
            </a:r>
            <a:r>
              <a:rPr spc="-1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công</a:t>
            </a:r>
            <a:r>
              <a:rPr spc="-10"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nghệ</a:t>
            </a:r>
            <a:r>
              <a:rPr spc="-50" dirty="0">
                <a:latin typeface="Times New Roman" panose="02020603050405020304" pitchFamily="18" charset="0"/>
                <a:cs typeface="Times New Roman" panose="02020603050405020304" pitchFamily="18" charset="0"/>
              </a:rPr>
              <a:t> </a:t>
            </a:r>
            <a:r>
              <a:rPr spc="-60" dirty="0">
                <a:latin typeface="Times New Roman" panose="02020603050405020304" pitchFamily="18" charset="0"/>
                <a:cs typeface="Times New Roman" panose="02020603050405020304" pitchFamily="18" charset="0"/>
              </a:rPr>
              <a:t>toàn</a:t>
            </a:r>
            <a:r>
              <a:rPr spc="-10" dirty="0">
                <a:latin typeface="Times New Roman" panose="02020603050405020304" pitchFamily="18" charset="0"/>
                <a:cs typeface="Times New Roman" panose="02020603050405020304" pitchFamily="18" charset="0"/>
              </a:rPr>
              <a:t> </a:t>
            </a:r>
            <a:r>
              <a:rPr spc="-65" dirty="0">
                <a:latin typeface="Times New Roman" panose="02020603050405020304" pitchFamily="18" charset="0"/>
                <a:cs typeface="Times New Roman" panose="02020603050405020304" pitchFamily="18" charset="0"/>
              </a:rPr>
              <a:t>cầu</a:t>
            </a:r>
            <a:r>
              <a:rPr spc="-1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đ</a:t>
            </a:r>
            <a:r>
              <a:rPr dirty="0">
                <a:latin typeface="Times New Roman" panose="02020603050405020304" pitchFamily="18" charset="0"/>
                <a:cs typeface="Times New Roman" panose="02020603050405020304" pitchFamily="18" charset="0"/>
              </a:rPr>
              <a:t>a</a:t>
            </a:r>
            <a:r>
              <a:rPr spc="-10" dirty="0">
                <a:latin typeface="Times New Roman" panose="02020603050405020304" pitchFamily="18" charset="0"/>
                <a:cs typeface="Times New Roman" panose="02020603050405020304" pitchFamily="18" charset="0"/>
              </a:rPr>
              <a:t> ngành</a:t>
            </a:r>
            <a:endParaRPr sz="1200" dirty="0">
              <a:latin typeface="Times New Roman" panose="02020603050405020304" pitchFamily="18" charset="0"/>
              <a:cs typeface="Times New Roman" panose="02020603050405020304" pitchFamily="18" charset="0"/>
            </a:endParaRPr>
          </a:p>
        </p:txBody>
      </p:sp>
      <p:sp>
        <p:nvSpPr>
          <p:cNvPr id="41" name="object 41"/>
          <p:cNvSpPr txBox="1">
            <a:spLocks noGrp="1"/>
          </p:cNvSpPr>
          <p:nvPr>
            <p:ph type="ftr" sz="quarter" idx="5"/>
          </p:nvPr>
        </p:nvSpPr>
        <p:spPr>
          <a:prstGeom prst="rect">
            <a:avLst/>
          </a:prstGeom>
        </p:spPr>
        <p:txBody>
          <a:bodyPr vert="horz" wrap="square" lIns="0" tIns="0" rIns="0" bIns="0" rtlCol="0">
            <a:spAutoFit/>
          </a:body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DE7-7FEB-C316-583F-3E44848571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4A7AB3-D5EB-A2F3-BD20-BA10C812B6F5}"/>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96665BFF-4761-4F73-C7F1-F0FCD7BB54C2}"/>
              </a:ext>
            </a:extLst>
          </p:cNvPr>
          <p:cNvSpPr txBox="1">
            <a:spLocks noGrp="1"/>
          </p:cNvSpPr>
          <p:nvPr>
            <p:ph type="title"/>
          </p:nvPr>
        </p:nvSpPr>
        <p:spPr>
          <a:xfrm>
            <a:off x="558800" y="316995"/>
            <a:ext cx="71374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LOẠI QUY TRÌNH</a:t>
            </a:r>
            <a:endParaRPr sz="2350" dirty="0">
              <a:latin typeface="Times New Roman" panose="02020603050405020304" pitchFamily="18" charset="0"/>
              <a:cs typeface="Times New Roman" panose="02020603050405020304" pitchFamily="18" charset="0"/>
            </a:endParaRPr>
          </a:p>
        </p:txBody>
      </p:sp>
      <p:sp>
        <p:nvSpPr>
          <p:cNvPr id="22" name="object 9">
            <a:extLst>
              <a:ext uri="{FF2B5EF4-FFF2-40B4-BE49-F238E27FC236}">
                <a16:creationId xmlns:a16="http://schemas.microsoft.com/office/drawing/2014/main" id="{7745DA6F-071A-7208-0EFC-120630A02899}"/>
              </a:ext>
            </a:extLst>
          </p:cNvPr>
          <p:cNvSpPr txBox="1"/>
          <p:nvPr/>
        </p:nvSpPr>
        <p:spPr>
          <a:xfrm>
            <a:off x="685800" y="882873"/>
            <a:ext cx="11513329" cy="6084358"/>
          </a:xfrm>
          <a:prstGeom prst="rect">
            <a:avLst/>
          </a:prstGeom>
        </p:spPr>
        <p:txBody>
          <a:bodyPr vert="horz" wrap="square" lIns="0" tIns="132715" rIns="0" bIns="0" rtlCol="0">
            <a:spAutoFit/>
          </a:bodyPr>
          <a:lstStyle/>
          <a:p>
            <a:pPr marL="12700">
              <a:lnSpc>
                <a:spcPct val="100000"/>
              </a:lnSpc>
              <a:spcBef>
                <a:spcPts val="1045"/>
              </a:spcBef>
            </a:pPr>
            <a:r>
              <a:rPr lang="vi-VN" dirty="0" err="1">
                <a:solidFill>
                  <a:schemeClr val="bg1"/>
                </a:solidFill>
                <a:latin typeface="Times New Roman" panose="02020603050405020304" pitchFamily="18" charset="0"/>
                <a:cs typeface="Times New Roman" panose="02020603050405020304" pitchFamily="18" charset="0"/>
              </a:rPr>
              <a:t>Management</a:t>
            </a:r>
            <a:r>
              <a:rPr lang="vi-VN" dirty="0">
                <a:solidFill>
                  <a:schemeClr val="bg1"/>
                </a:solidFill>
                <a:latin typeface="Times New Roman" panose="02020603050405020304" pitchFamily="18" charset="0"/>
                <a:cs typeface="Times New Roman" panose="02020603050405020304" pitchFamily="18" charset="0"/>
              </a:rPr>
              <a:t> </a:t>
            </a:r>
            <a:r>
              <a:rPr lang="vi-VN" dirty="0" err="1">
                <a:solidFill>
                  <a:schemeClr val="bg1"/>
                </a:solidFill>
                <a:latin typeface="Times New Roman" panose="02020603050405020304" pitchFamily="18" charset="0"/>
                <a:cs typeface="Times New Roman" panose="02020603050405020304" pitchFamily="18" charset="0"/>
              </a:rPr>
              <a:t>Processes</a:t>
            </a:r>
            <a:endParaRPr lang="vi-VN"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Quản Lý Chất Lượng Nhà Cung Cấp</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Quản lý chuỗi cung ứng</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Quản lý xưởng dịch vụ</a:t>
            </a:r>
          </a:p>
          <a:p>
            <a:pPr marL="12700">
              <a:lnSpc>
                <a:spcPct val="100000"/>
              </a:lnSpc>
              <a:spcBef>
                <a:spcPts val="1045"/>
              </a:spcBef>
            </a:pPr>
            <a:r>
              <a:rPr lang="vi-VN" dirty="0" err="1">
                <a:solidFill>
                  <a:schemeClr val="bg1"/>
                </a:solidFill>
                <a:latin typeface="Times New Roman" panose="02020603050405020304" pitchFamily="18" charset="0"/>
                <a:cs typeface="Times New Roman" panose="02020603050405020304" pitchFamily="18" charset="0"/>
              </a:rPr>
              <a:t>Core</a:t>
            </a:r>
            <a:r>
              <a:rPr lang="vi-VN" dirty="0">
                <a:solidFill>
                  <a:schemeClr val="bg1"/>
                </a:solidFill>
                <a:latin typeface="Times New Roman" panose="02020603050405020304" pitchFamily="18" charset="0"/>
                <a:cs typeface="Times New Roman" panose="02020603050405020304" pitchFamily="18" charset="0"/>
              </a:rPr>
              <a:t> </a:t>
            </a:r>
            <a:r>
              <a:rPr lang="vi-VN" dirty="0" err="1">
                <a:solidFill>
                  <a:schemeClr val="bg1"/>
                </a:solidFill>
                <a:latin typeface="Times New Roman" panose="02020603050405020304" pitchFamily="18" charset="0"/>
                <a:cs typeface="Times New Roman" panose="02020603050405020304" pitchFamily="18" charset="0"/>
              </a:rPr>
              <a:t>Processes</a:t>
            </a:r>
            <a:endParaRPr lang="vi-VN"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Sản xuất</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Bán hàng và giao hàng</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Chăm sóc khách hàng</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Hoàn trả hàng/tiền </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Vận hành xưởng </a:t>
            </a:r>
          </a:p>
          <a:p>
            <a:pPr marL="12700">
              <a:lnSpc>
                <a:spcPct val="100000"/>
              </a:lnSpc>
              <a:spcBef>
                <a:spcPts val="1045"/>
              </a:spcBef>
            </a:pPr>
            <a:r>
              <a:rPr lang="vi-VN" dirty="0" err="1">
                <a:solidFill>
                  <a:schemeClr val="bg1"/>
                </a:solidFill>
                <a:latin typeface="Times New Roman" panose="02020603050405020304" pitchFamily="18" charset="0"/>
                <a:cs typeface="Times New Roman" panose="02020603050405020304" pitchFamily="18" charset="0"/>
              </a:rPr>
              <a:t>Support</a:t>
            </a:r>
            <a:r>
              <a:rPr lang="vi-VN" dirty="0">
                <a:solidFill>
                  <a:schemeClr val="bg1"/>
                </a:solidFill>
                <a:latin typeface="Times New Roman" panose="02020603050405020304" pitchFamily="18" charset="0"/>
                <a:cs typeface="Times New Roman" panose="02020603050405020304" pitchFamily="18" charset="0"/>
              </a:rPr>
              <a:t> </a:t>
            </a:r>
            <a:r>
              <a:rPr lang="vi-VN" dirty="0" err="1">
                <a:solidFill>
                  <a:schemeClr val="bg1"/>
                </a:solidFill>
                <a:latin typeface="Times New Roman" panose="02020603050405020304" pitchFamily="18" charset="0"/>
                <a:cs typeface="Times New Roman" panose="02020603050405020304" pitchFamily="18" charset="0"/>
              </a:rPr>
              <a:t>Processes</a:t>
            </a:r>
            <a:endParaRPr lang="vi-VN" dirty="0">
              <a:solidFill>
                <a:schemeClr val="bg1"/>
              </a:solidFill>
              <a:latin typeface="Times New Roman" panose="02020603050405020304" pitchFamily="18" charset="0"/>
              <a:cs typeface="Times New Roman" panose="02020603050405020304" pitchFamily="18" charset="0"/>
            </a:endParaRP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Tuyển dụng, đào tạo &amp; phát triển nhân sự</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Hỗ trợ kỹ thuật tại chỗ</a:t>
            </a:r>
          </a:p>
          <a:p>
            <a:pPr marL="12700">
              <a:lnSpc>
                <a:spcPct val="100000"/>
              </a:lnSpc>
              <a:spcBef>
                <a:spcPts val="1045"/>
              </a:spcBef>
            </a:pPr>
            <a:r>
              <a:rPr lang="vi-VN" dirty="0">
                <a:solidFill>
                  <a:schemeClr val="bg1"/>
                </a:solidFill>
                <a:latin typeface="Times New Roman" panose="02020603050405020304" pitchFamily="18" charset="0"/>
                <a:cs typeface="Times New Roman" panose="02020603050405020304" pitchFamily="18" charset="0"/>
              </a:rPr>
              <a:t>•	Hỗ trợ IT</a:t>
            </a:r>
          </a:p>
          <a:p>
            <a:pPr marL="12700">
              <a:lnSpc>
                <a:spcPct val="100000"/>
              </a:lnSpc>
              <a:spcBef>
                <a:spcPts val="1045"/>
              </a:spcBef>
            </a:pP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226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5593-5879-7C9D-2603-4FF5F3FF75C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ECB8FE-38E4-C8D0-E11E-D8F3D8D9103A}"/>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9B4C6D30-7F7D-27A1-A304-DA8E4EE53362}"/>
              </a:ext>
            </a:extLst>
          </p:cNvPr>
          <p:cNvSpPr txBox="1">
            <a:spLocks noGrp="1"/>
          </p:cNvSpPr>
          <p:nvPr>
            <p:ph type="title"/>
          </p:nvPr>
        </p:nvSpPr>
        <p:spPr>
          <a:xfrm>
            <a:off x="558800" y="316995"/>
            <a:ext cx="71374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Kiến </a:t>
            </a:r>
            <a:r>
              <a:rPr lang="en-US" spc="-80" dirty="0" err="1">
                <a:latin typeface="Times New Roman" panose="02020603050405020304" pitchFamily="18" charset="0"/>
                <a:cs typeface="Times New Roman" panose="02020603050405020304" pitchFamily="18" charset="0"/>
              </a:rPr>
              <a:t>trúc</a:t>
            </a:r>
            <a:r>
              <a:rPr lang="en-US" spc="-80" dirty="0">
                <a:latin typeface="Times New Roman" panose="02020603050405020304" pitchFamily="18" charset="0"/>
                <a:cs typeface="Times New Roman" panose="02020603050405020304" pitchFamily="18" charset="0"/>
              </a:rPr>
              <a:t> </a:t>
            </a:r>
            <a:r>
              <a:rPr lang="en-US" spc="-80" dirty="0" err="1">
                <a:latin typeface="Times New Roman" panose="02020603050405020304" pitchFamily="18" charset="0"/>
                <a:cs typeface="Times New Roman" panose="02020603050405020304" pitchFamily="18" charset="0"/>
              </a:rPr>
              <a:t>quy</a:t>
            </a:r>
            <a:r>
              <a:rPr lang="en-US" spc="-80" dirty="0">
                <a:latin typeface="Times New Roman" panose="02020603050405020304" pitchFamily="18" charset="0"/>
                <a:cs typeface="Times New Roman" panose="02020603050405020304" pitchFamily="18" charset="0"/>
              </a:rPr>
              <a:t> </a:t>
            </a:r>
            <a:r>
              <a:rPr lang="en-US" spc="-80" dirty="0" err="1">
                <a:latin typeface="Times New Roman" panose="02020603050405020304" pitchFamily="18" charset="0"/>
                <a:cs typeface="Times New Roman" panose="02020603050405020304" pitchFamily="18" charset="0"/>
              </a:rPr>
              <a:t>trình</a:t>
            </a:r>
            <a:endParaRPr sz="2350" dirty="0">
              <a:latin typeface="Times New Roman" panose="02020603050405020304" pitchFamily="18" charset="0"/>
              <a:cs typeface="Times New Roman" panose="02020603050405020304" pitchFamily="18" charset="0"/>
            </a:endParaRPr>
          </a:p>
        </p:txBody>
      </p:sp>
      <p:sp>
        <p:nvSpPr>
          <p:cNvPr id="22" name="object 9">
            <a:extLst>
              <a:ext uri="{FF2B5EF4-FFF2-40B4-BE49-F238E27FC236}">
                <a16:creationId xmlns:a16="http://schemas.microsoft.com/office/drawing/2014/main" id="{9591CC1F-D89A-8786-723E-0DFC556C1B29}"/>
              </a:ext>
            </a:extLst>
          </p:cNvPr>
          <p:cNvSpPr txBox="1"/>
          <p:nvPr/>
        </p:nvSpPr>
        <p:spPr>
          <a:xfrm>
            <a:off x="685801" y="882873"/>
            <a:ext cx="4114800" cy="411010"/>
          </a:xfrm>
          <a:prstGeom prst="rect">
            <a:avLst/>
          </a:prstGeom>
        </p:spPr>
        <p:txBody>
          <a:bodyPr vert="horz" wrap="square" lIns="0" tIns="132715" rIns="0" bIns="0" rtlCol="0">
            <a:spAutoFit/>
          </a:bodyPr>
          <a:lstStyle/>
          <a:p>
            <a:pPr marL="12700">
              <a:lnSpc>
                <a:spcPct val="100000"/>
              </a:lnSpc>
              <a:spcBef>
                <a:spcPts val="1045"/>
              </a:spcBef>
            </a:pPr>
            <a:r>
              <a:rPr lang="en-US" dirty="0">
                <a:solidFill>
                  <a:schemeClr val="bg1"/>
                </a:solidFill>
                <a:latin typeface="Times New Roman" panose="02020603050405020304" pitchFamily="18" charset="0"/>
                <a:cs typeface="Times New Roman" panose="02020603050405020304" pitchFamily="18" charset="0"/>
              </a:rPr>
              <a:t>Quy </a:t>
            </a:r>
            <a:r>
              <a:rPr lang="en-US" dirty="0" err="1">
                <a:solidFill>
                  <a:schemeClr val="bg1"/>
                </a:solidFill>
                <a:latin typeface="Times New Roman" panose="02020603050405020304" pitchFamily="18" charset="0"/>
                <a:cs typeface="Times New Roman" panose="02020603050405020304" pitchFamily="18" charset="0"/>
              </a:rPr>
              <a:t>trình</a:t>
            </a:r>
            <a:r>
              <a:rPr lang="en-US" dirty="0">
                <a:solidFill>
                  <a:schemeClr val="bg1"/>
                </a:solidFill>
                <a:latin typeface="Times New Roman" panose="02020603050405020304" pitchFamily="18" charset="0"/>
                <a:cs typeface="Times New Roman" panose="02020603050405020304" pitchFamily="18" charset="0"/>
              </a:rPr>
              <a:t> Quản </a:t>
            </a:r>
            <a:r>
              <a:rPr lang="en-US" dirty="0" err="1">
                <a:solidFill>
                  <a:schemeClr val="bg1"/>
                </a:solidFill>
                <a:latin typeface="Times New Roman" panose="02020603050405020304" pitchFamily="18" charset="0"/>
                <a:cs typeface="Times New Roman" panose="02020603050405020304" pitchFamily="18" charset="0"/>
              </a:rPr>
              <a:t>lý</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chất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lượng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nhà</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cung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cấp</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8EA062-9692-A3E9-9042-FC0BA9948FCF}"/>
              </a:ext>
            </a:extLst>
          </p:cNvPr>
          <p:cNvPicPr>
            <a:picLocks noChangeAspect="1"/>
          </p:cNvPicPr>
          <p:nvPr/>
        </p:nvPicPr>
        <p:blipFill>
          <a:blip r:embed="rId2"/>
          <a:stretch>
            <a:fillRect/>
          </a:stretch>
        </p:blipFill>
        <p:spPr>
          <a:xfrm>
            <a:off x="685801" y="1599405"/>
            <a:ext cx="10939888" cy="1219201"/>
          </a:xfrm>
          <a:prstGeom prst="rect">
            <a:avLst/>
          </a:prstGeom>
        </p:spPr>
      </p:pic>
      <p:sp>
        <p:nvSpPr>
          <p:cNvPr id="5" name="object 9">
            <a:extLst>
              <a:ext uri="{FF2B5EF4-FFF2-40B4-BE49-F238E27FC236}">
                <a16:creationId xmlns:a16="http://schemas.microsoft.com/office/drawing/2014/main" id="{32641C66-AA4B-469F-F868-37366AB71FE2}"/>
              </a:ext>
            </a:extLst>
          </p:cNvPr>
          <p:cNvSpPr txBox="1"/>
          <p:nvPr/>
        </p:nvSpPr>
        <p:spPr>
          <a:xfrm>
            <a:off x="685801" y="3124128"/>
            <a:ext cx="4114800" cy="411010"/>
          </a:xfrm>
          <a:prstGeom prst="rect">
            <a:avLst/>
          </a:prstGeom>
        </p:spPr>
        <p:txBody>
          <a:bodyPr vert="horz" wrap="square" lIns="0" tIns="132715" rIns="0" bIns="0" rtlCol="0">
            <a:spAutoFit/>
          </a:bodyPr>
          <a:lstStyle/>
          <a:p>
            <a:pPr marL="12700">
              <a:lnSpc>
                <a:spcPct val="100000"/>
              </a:lnSpc>
              <a:spcBef>
                <a:spcPts val="1045"/>
              </a:spcBef>
            </a:pPr>
            <a:r>
              <a:rPr lang="en-US" dirty="0">
                <a:solidFill>
                  <a:schemeClr val="bg1"/>
                </a:solidFill>
                <a:latin typeface="Times New Roman" panose="02020603050405020304" pitchFamily="18" charset="0"/>
                <a:cs typeface="Times New Roman" panose="02020603050405020304" pitchFamily="18" charset="0"/>
              </a:rPr>
              <a:t>Quy </a:t>
            </a:r>
            <a:r>
              <a:rPr lang="en-US" dirty="0" err="1">
                <a:solidFill>
                  <a:schemeClr val="bg1"/>
                </a:solidFill>
                <a:latin typeface="Times New Roman" panose="02020603050405020304" pitchFamily="18" charset="0"/>
                <a:cs typeface="Times New Roman" panose="02020603050405020304" pitchFamily="18" charset="0"/>
              </a:rPr>
              <a:t>trình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bán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hàng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và</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giao</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hàng</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F371008-8BA5-A9A4-E74A-171B83579F45}"/>
              </a:ext>
            </a:extLst>
          </p:cNvPr>
          <p:cNvPicPr>
            <a:picLocks noChangeAspect="1"/>
          </p:cNvPicPr>
          <p:nvPr/>
        </p:nvPicPr>
        <p:blipFill>
          <a:blip r:embed="rId3"/>
          <a:stretch>
            <a:fillRect/>
          </a:stretch>
        </p:blipFill>
        <p:spPr>
          <a:xfrm>
            <a:off x="685801" y="3840660"/>
            <a:ext cx="11368620" cy="838200"/>
          </a:xfrm>
          <a:prstGeom prst="rect">
            <a:avLst/>
          </a:prstGeom>
        </p:spPr>
      </p:pic>
      <p:sp>
        <p:nvSpPr>
          <p:cNvPr id="8" name="object 9">
            <a:extLst>
              <a:ext uri="{FF2B5EF4-FFF2-40B4-BE49-F238E27FC236}">
                <a16:creationId xmlns:a16="http://schemas.microsoft.com/office/drawing/2014/main" id="{4FE23E82-E73C-66F0-E590-F87D2C077FD6}"/>
              </a:ext>
            </a:extLst>
          </p:cNvPr>
          <p:cNvSpPr txBox="1"/>
          <p:nvPr/>
        </p:nvSpPr>
        <p:spPr>
          <a:xfrm>
            <a:off x="723182" y="4858144"/>
            <a:ext cx="4114800" cy="411010"/>
          </a:xfrm>
          <a:prstGeom prst="rect">
            <a:avLst/>
          </a:prstGeom>
        </p:spPr>
        <p:txBody>
          <a:bodyPr vert="horz" wrap="square" lIns="0" tIns="132715" rIns="0" bIns="0" rtlCol="0">
            <a:spAutoFit/>
          </a:bodyPr>
          <a:lstStyle/>
          <a:p>
            <a:pPr marL="12700">
              <a:lnSpc>
                <a:spcPct val="100000"/>
              </a:lnSpc>
              <a:spcBef>
                <a:spcPts val="1045"/>
              </a:spcBef>
            </a:pPr>
            <a:r>
              <a:rPr lang="en-US" dirty="0">
                <a:solidFill>
                  <a:schemeClr val="bg1"/>
                </a:solidFill>
                <a:latin typeface="Times New Roman" panose="02020603050405020304" pitchFamily="18" charset="0"/>
                <a:cs typeface="Times New Roman" panose="02020603050405020304" pitchFamily="18" charset="0"/>
              </a:rPr>
              <a:t>Quy </a:t>
            </a:r>
            <a:r>
              <a:rPr lang="en-US" dirty="0" err="1">
                <a:solidFill>
                  <a:schemeClr val="bg1"/>
                </a:solidFill>
                <a:latin typeface="Times New Roman" panose="02020603050405020304" pitchFamily="18" charset="0"/>
                <a:cs typeface="Times New Roman" panose="02020603050405020304" pitchFamily="18" charset="0"/>
              </a:rPr>
              <a:t>trình</a:t>
            </a:r>
            <a:r>
              <a:rPr lang="en-US" dirty="0">
                <a:solidFill>
                  <a:schemeClr val="bg1"/>
                </a:solidFill>
                <a:latin typeface="Times New Roman" panose="02020603050405020304" pitchFamily="18" charset="0"/>
                <a:cs typeface="Times New Roman" panose="02020603050405020304" pitchFamily="18" charset="0"/>
              </a:rPr>
              <a:t> IT Support</a:t>
            </a:r>
          </a:p>
        </p:txBody>
      </p:sp>
      <p:pic>
        <p:nvPicPr>
          <p:cNvPr id="9" name="Picture 8" descr="A diagram of a diagram&#10;&#10;AI-generated content may be incorrect.">
            <a:extLst>
              <a:ext uri="{FF2B5EF4-FFF2-40B4-BE49-F238E27FC236}">
                <a16:creationId xmlns:a16="http://schemas.microsoft.com/office/drawing/2014/main" id="{904A6FF1-6E9B-EE90-3710-54D9054F4E5C}"/>
              </a:ext>
            </a:extLst>
          </p:cNvPr>
          <p:cNvPicPr>
            <a:picLocks noChangeAspect="1"/>
          </p:cNvPicPr>
          <p:nvPr/>
        </p:nvPicPr>
        <p:blipFill>
          <a:blip r:embed="rId4"/>
          <a:stretch>
            <a:fillRect/>
          </a:stretch>
        </p:blipFill>
        <p:spPr>
          <a:xfrm>
            <a:off x="708804" y="5448438"/>
            <a:ext cx="7550949" cy="1027768"/>
          </a:xfrm>
          <a:prstGeom prst="rect">
            <a:avLst/>
          </a:prstGeom>
        </p:spPr>
      </p:pic>
    </p:spTree>
    <p:extLst>
      <p:ext uri="{BB962C8B-B14F-4D97-AF65-F5344CB8AC3E}">
        <p14:creationId xmlns:p14="http://schemas.microsoft.com/office/powerpoint/2010/main" val="1499613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3B7B-5C45-508F-4143-634375B64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02E7A-9FDB-888B-48C4-3B1C7C238327}"/>
              </a:ext>
            </a:extLst>
          </p:cNvPr>
          <p:cNvSpPr>
            <a:spLocks noGrp="1"/>
          </p:cNvSpPr>
          <p:nvPr>
            <p:ph type="title"/>
          </p:nvPr>
        </p:nvSpPr>
        <p:spPr>
          <a:xfrm>
            <a:off x="1193800" y="1675606"/>
            <a:ext cx="10261600" cy="3046988"/>
          </a:xfrm>
        </p:spPr>
        <p:txBody>
          <a:bodyPr/>
          <a:lstStyle/>
          <a:p>
            <a:pPr algn="ctr"/>
            <a:r>
              <a:rPr lang="en-US" sz="6600" dirty="0" err="1">
                <a:latin typeface="Times New Roman" panose="02020603050405020304" pitchFamily="18" charset="0"/>
                <a:cs typeface="Times New Roman" panose="02020603050405020304" pitchFamily="18" charset="0"/>
              </a:rPr>
              <a:t>Mô</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hình</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hóa</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và</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phân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tích</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quy</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trình</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quản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lý</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chất</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lượng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nhà</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cung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cấp</a:t>
            </a:r>
            <a:endParaRPr lang="en-US"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774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8DD7-9C57-1906-B6A2-3169E376BD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DB2963-07D9-1582-A506-0BFFA4D2D41F}"/>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0A679818-AC86-9E2B-42D2-3F4081EDFC78}"/>
              </a:ext>
            </a:extLst>
          </p:cNvPr>
          <p:cNvSpPr txBox="1">
            <a:spLocks noGrp="1"/>
          </p:cNvSpPr>
          <p:nvPr>
            <p:ph type="title"/>
          </p:nvPr>
        </p:nvSpPr>
        <p:spPr>
          <a:xfrm>
            <a:off x="558800" y="316995"/>
            <a:ext cx="71374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PHƯƠNG PHÁP KHẢO SÁT QUY TRÌNH</a:t>
            </a:r>
            <a:endParaRPr sz="2350" dirty="0">
              <a:latin typeface="Times New Roman" panose="02020603050405020304" pitchFamily="18" charset="0"/>
              <a:cs typeface="Times New Roman" panose="02020603050405020304" pitchFamily="18" charset="0"/>
            </a:endParaRPr>
          </a:p>
        </p:txBody>
      </p:sp>
      <p:sp>
        <p:nvSpPr>
          <p:cNvPr id="22" name="object 9">
            <a:extLst>
              <a:ext uri="{FF2B5EF4-FFF2-40B4-BE49-F238E27FC236}">
                <a16:creationId xmlns:a16="http://schemas.microsoft.com/office/drawing/2014/main" id="{B4113066-5659-1A17-DF0F-39256FBCB90A}"/>
              </a:ext>
            </a:extLst>
          </p:cNvPr>
          <p:cNvSpPr txBox="1"/>
          <p:nvPr/>
        </p:nvSpPr>
        <p:spPr>
          <a:xfrm>
            <a:off x="602471" y="1523206"/>
            <a:ext cx="11513329" cy="4035079"/>
          </a:xfrm>
          <a:prstGeom prst="rect">
            <a:avLst/>
          </a:prstGeom>
        </p:spPr>
        <p:txBody>
          <a:bodyPr vert="horz" wrap="square" lIns="0" tIns="132715" rIns="0" bIns="0" rtlCol="0">
            <a:spAutoFit/>
          </a:bodyPr>
          <a:lstStyle/>
          <a:p>
            <a:pPr marL="12700">
              <a:lnSpc>
                <a:spcPct val="100000"/>
              </a:lnSpc>
              <a:spcBef>
                <a:spcPts val="1045"/>
              </a:spcBef>
            </a:pPr>
            <a:r>
              <a:rPr lang="en-US" sz="3600" spc="-100" dirty="0" err="1">
                <a:solidFill>
                  <a:srgbClr val="FFFFFF"/>
                </a:solidFill>
                <a:latin typeface="Times New Roman" panose="02020603050405020304" pitchFamily="18" charset="0"/>
                <a:cs typeface="Times New Roman" panose="02020603050405020304" pitchFamily="18" charset="0"/>
              </a:rPr>
              <a:t>Dựa</a:t>
            </a:r>
            <a:r>
              <a:rPr lang="en-US" sz="3600" spc="-100" dirty="0">
                <a:solidFill>
                  <a:srgbClr val="FFFFFF"/>
                </a:solidFill>
                <a:latin typeface="Times New Roman" panose="02020603050405020304" pitchFamily="18" charset="0"/>
                <a:cs typeface="Times New Roman" panose="02020603050405020304" pitchFamily="18" charset="0"/>
              </a:rPr>
              <a:t> </a:t>
            </a:r>
            <a:r>
              <a:rPr lang="en-US" sz="3600" spc="-100" dirty="0" err="1">
                <a:solidFill>
                  <a:srgbClr val="FFFFFF"/>
                </a:solidFill>
                <a:latin typeface="Times New Roman" panose="02020603050405020304" pitchFamily="18" charset="0"/>
                <a:cs typeface="Times New Roman" panose="02020603050405020304" pitchFamily="18" charset="0"/>
              </a:rPr>
              <a:t>trên</a:t>
            </a:r>
            <a:r>
              <a:rPr lang="en-US" sz="3600" spc="-100" dirty="0">
                <a:solidFill>
                  <a:srgbClr val="FFFFFF"/>
                </a:solidFill>
                <a:latin typeface="Times New Roman" panose="02020603050405020304" pitchFamily="18" charset="0"/>
                <a:cs typeface="Times New Roman" panose="02020603050405020304" pitchFamily="18" charset="0"/>
              </a:rPr>
              <a:t> </a:t>
            </a:r>
            <a:r>
              <a:rPr lang="en-US" sz="3600" spc="-100" dirty="0" err="1">
                <a:solidFill>
                  <a:srgbClr val="FFFFFF"/>
                </a:solidFill>
                <a:latin typeface="Times New Roman" panose="02020603050405020304" pitchFamily="18" charset="0"/>
                <a:cs typeface="Times New Roman" panose="02020603050405020304" pitchFamily="18" charset="0"/>
              </a:rPr>
              <a:t>bằng</a:t>
            </a:r>
            <a:r>
              <a:rPr lang="en-US" sz="3600" spc="-100" dirty="0">
                <a:solidFill>
                  <a:srgbClr val="FFFFFF"/>
                </a:solidFill>
                <a:latin typeface="Times New Roman" panose="02020603050405020304" pitchFamily="18" charset="0"/>
                <a:cs typeface="Times New Roman" panose="02020603050405020304" pitchFamily="18" charset="0"/>
              </a:rPr>
              <a:t> </a:t>
            </a:r>
            <a:r>
              <a:rPr lang="en-US" sz="3600" spc="-100" dirty="0" err="1">
                <a:solidFill>
                  <a:srgbClr val="FFFFFF"/>
                </a:solidFill>
                <a:latin typeface="Times New Roman" panose="02020603050405020304" pitchFamily="18" charset="0"/>
                <a:cs typeface="Times New Roman" panose="02020603050405020304" pitchFamily="18" charset="0"/>
              </a:rPr>
              <a:t>chứng</a:t>
            </a:r>
            <a:endParaRPr sz="3600" dirty="0">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sz="3600" spc="-70" dirty="0">
                <a:solidFill>
                  <a:srgbClr val="FFFFFF"/>
                </a:solidFill>
                <a:latin typeface="Times New Roman" panose="02020603050405020304" pitchFamily="18" charset="0"/>
                <a:cs typeface="Times New Roman" panose="02020603050405020304" pitchFamily="18" charset="0"/>
              </a:rPr>
              <a:t>Qu</a:t>
            </a:r>
            <a:r>
              <a:rPr lang="en-US" sz="3600" spc="-70" dirty="0">
                <a:solidFill>
                  <a:srgbClr val="FFFFFF"/>
                </a:solidFill>
                <a:latin typeface="Times New Roman" panose="02020603050405020304" pitchFamily="18" charset="0"/>
                <a:cs typeface="Times New Roman" panose="02020603050405020304" pitchFamily="18" charset="0"/>
              </a:rPr>
              <a:t>an </a:t>
            </a:r>
            <a:r>
              <a:rPr lang="en-US" sz="3600" spc="-70" dirty="0" err="1">
                <a:solidFill>
                  <a:srgbClr val="FFFFFF"/>
                </a:solidFill>
                <a:latin typeface="Times New Roman" panose="02020603050405020304" pitchFamily="18" charset="0"/>
                <a:cs typeface="Times New Roman" panose="02020603050405020304" pitchFamily="18" charset="0"/>
              </a:rPr>
              <a:t>sát</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quy</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trình</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hiện</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tại</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spc="-70" dirty="0" err="1">
                <a:solidFill>
                  <a:srgbClr val="FFFFFF"/>
                </a:solidFill>
                <a:latin typeface="Times New Roman" panose="02020603050405020304" pitchFamily="18" charset="0"/>
                <a:cs typeface="Times New Roman" panose="02020603050405020304" pitchFamily="18" charset="0"/>
              </a:rPr>
              <a:t>Sơ</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đồ</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tổ</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chức</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spc="-70" dirty="0" err="1">
                <a:solidFill>
                  <a:srgbClr val="FFFFFF"/>
                </a:solidFill>
                <a:latin typeface="Times New Roman" panose="02020603050405020304" pitchFamily="18" charset="0"/>
                <a:cs typeface="Times New Roman" panose="02020603050405020304" pitchFamily="18" charset="0"/>
              </a:rPr>
              <a:t>Kế</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hoạch</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làm</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việc</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spc="-70" dirty="0" err="1">
                <a:solidFill>
                  <a:srgbClr val="FFFFFF"/>
                </a:solidFill>
                <a:latin typeface="Times New Roman" panose="02020603050405020304" pitchFamily="18" charset="0"/>
                <a:cs typeface="Times New Roman" panose="02020603050405020304" pitchFamily="18" charset="0"/>
              </a:rPr>
              <a:t>Thuật</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ngữ</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sổ</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tay</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dirty="0">
                <a:solidFill>
                  <a:schemeClr val="bg1"/>
                </a:solidFill>
                <a:latin typeface="Times New Roman" panose="02020603050405020304" pitchFamily="18" charset="0"/>
                <a:cs typeface="Times New Roman" panose="02020603050405020304" pitchFamily="18" charset="0"/>
              </a:rPr>
              <a:t>Supplier quality management process discovery workshop</a:t>
            </a:r>
          </a:p>
        </p:txBody>
      </p:sp>
    </p:spTree>
    <p:extLst>
      <p:ext uri="{BB962C8B-B14F-4D97-AF65-F5344CB8AC3E}">
        <p14:creationId xmlns:p14="http://schemas.microsoft.com/office/powerpoint/2010/main" val="847781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5A59-BA05-B2D4-ADE1-2D57832492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3B38A5-A595-0F7B-AB35-55F1DC21DFA0}"/>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090CB0CF-2F5A-C502-8F71-B6080B855884}"/>
              </a:ext>
            </a:extLst>
          </p:cNvPr>
          <p:cNvSpPr txBox="1">
            <a:spLocks noGrp="1"/>
          </p:cNvSpPr>
          <p:nvPr>
            <p:ph type="title"/>
          </p:nvPr>
        </p:nvSpPr>
        <p:spPr>
          <a:xfrm>
            <a:off x="558800" y="316995"/>
            <a:ext cx="70612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PHƯƠNG PHÁP KHẢO SÁT QUY TRÌNH</a:t>
            </a:r>
            <a:endParaRPr sz="2350" dirty="0">
              <a:latin typeface="Times New Roman" panose="02020603050405020304" pitchFamily="18" charset="0"/>
              <a:cs typeface="Times New Roman" panose="02020603050405020304" pitchFamily="18" charset="0"/>
            </a:endParaRPr>
          </a:p>
        </p:txBody>
      </p:sp>
      <p:sp>
        <p:nvSpPr>
          <p:cNvPr id="23" name="object 9">
            <a:extLst>
              <a:ext uri="{FF2B5EF4-FFF2-40B4-BE49-F238E27FC236}">
                <a16:creationId xmlns:a16="http://schemas.microsoft.com/office/drawing/2014/main" id="{784CE61E-B6F1-B2A5-BBB0-A19100F6D08D}"/>
              </a:ext>
            </a:extLst>
          </p:cNvPr>
          <p:cNvSpPr txBox="1"/>
          <p:nvPr/>
        </p:nvSpPr>
        <p:spPr>
          <a:xfrm>
            <a:off x="457200" y="989806"/>
            <a:ext cx="10210800" cy="1185581"/>
          </a:xfrm>
          <a:prstGeom prst="rect">
            <a:avLst/>
          </a:prstGeom>
        </p:spPr>
        <p:txBody>
          <a:bodyPr vert="horz" wrap="square" lIns="0" tIns="132715" rIns="0" bIns="0" rtlCol="0">
            <a:spAutoFit/>
          </a:bodyPr>
          <a:lstStyle/>
          <a:p>
            <a:pPr marL="12700">
              <a:lnSpc>
                <a:spcPct val="100000"/>
              </a:lnSpc>
              <a:spcBef>
                <a:spcPts val="1045"/>
              </a:spcBef>
            </a:pPr>
            <a:r>
              <a:rPr lang="en-US" sz="2000" spc="-100" dirty="0" err="1">
                <a:solidFill>
                  <a:srgbClr val="FFFFFF"/>
                </a:solidFill>
                <a:latin typeface="Times New Roman" panose="02020603050405020304" pitchFamily="18" charset="0"/>
                <a:cs typeface="Times New Roman" panose="02020603050405020304" pitchFamily="18" charset="0"/>
              </a:rPr>
              <a:t>Dựa</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trên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phỏng</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vấn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chuyên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môn</a:t>
            </a:r>
            <a:endParaRPr lang="en-US" sz="2000" spc="-100" dirty="0">
              <a:solidFill>
                <a:srgbClr val="FFFFFF"/>
              </a:solidFill>
              <a:latin typeface="Times New Roman" panose="02020603050405020304" pitchFamily="18" charset="0"/>
              <a:cs typeface="Times New Roman" panose="02020603050405020304" pitchFamily="18" charset="0"/>
            </a:endParaRPr>
          </a:p>
          <a:p>
            <a:pPr marL="12700">
              <a:lnSpc>
                <a:spcPct val="100000"/>
              </a:lnSpc>
              <a:spcBef>
                <a:spcPts val="1045"/>
              </a:spcBef>
            </a:pPr>
            <a:r>
              <a:rPr lang="en-US" sz="2000" dirty="0" err="1">
                <a:solidFill>
                  <a:schemeClr val="bg1"/>
                </a:solidFill>
                <a:latin typeface="Times New Roman" panose="02020603050405020304" pitchFamily="18" charset="0"/>
                <a:cs typeface="Times New Roman" panose="02020603050405020304" pitchFamily="18" charset="0"/>
              </a:rPr>
              <a:t>Đối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tượng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phỏng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vấn</a:t>
            </a:r>
            <a:r>
              <a:rPr lang="en-US" sz="2000" dirty="0">
                <a:solidFill>
                  <a:schemeClr val="bg1"/>
                </a:solidFill>
                <a:latin typeface="Times New Roman" panose="02020603050405020304" pitchFamily="18" charset="0"/>
                <a:cs typeface="Times New Roman" panose="02020603050405020304" pitchFamily="18" charset="0"/>
              </a:rPr>
              <a:t>: Quality Manager, Procurement Manager, Supplier Development Specialist, Production Supervisor, Audit Team Leader</a:t>
            </a:r>
            <a:endParaRPr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474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8FDC-0C07-21FF-F0D4-B9E8887D04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7C4117-4CAD-A488-F475-AA6C741F4EA4}"/>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D8A4F841-E195-B1D8-0D6E-127758B51865}"/>
              </a:ext>
            </a:extLst>
          </p:cNvPr>
          <p:cNvSpPr txBox="1">
            <a:spLocks noGrp="1"/>
          </p:cNvSpPr>
          <p:nvPr>
            <p:ph type="title"/>
          </p:nvPr>
        </p:nvSpPr>
        <p:spPr>
          <a:xfrm>
            <a:off x="558800" y="316995"/>
            <a:ext cx="76708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PHƯƠNG PHÁP KHẢO SÁT QUY TRÌNH</a:t>
            </a:r>
            <a:endParaRPr sz="2350" dirty="0">
              <a:latin typeface="Times New Roman" panose="02020603050405020304" pitchFamily="18" charset="0"/>
              <a:cs typeface="Times New Roman" panose="02020603050405020304" pitchFamily="18" charset="0"/>
            </a:endParaRPr>
          </a:p>
        </p:txBody>
      </p:sp>
      <p:sp>
        <p:nvSpPr>
          <p:cNvPr id="23" name="object 9">
            <a:extLst>
              <a:ext uri="{FF2B5EF4-FFF2-40B4-BE49-F238E27FC236}">
                <a16:creationId xmlns:a16="http://schemas.microsoft.com/office/drawing/2014/main" id="{FFA4DAEA-B2BE-494F-4ADC-FD54A13BB42E}"/>
              </a:ext>
            </a:extLst>
          </p:cNvPr>
          <p:cNvSpPr txBox="1"/>
          <p:nvPr/>
        </p:nvSpPr>
        <p:spPr>
          <a:xfrm>
            <a:off x="457200" y="989806"/>
            <a:ext cx="5105400" cy="5366213"/>
          </a:xfrm>
          <a:prstGeom prst="rect">
            <a:avLst/>
          </a:prstGeom>
        </p:spPr>
        <p:txBody>
          <a:bodyPr vert="horz" wrap="square" lIns="0" tIns="132715" rIns="0" bIns="0" rtlCol="0">
            <a:spAutoFit/>
          </a:bodyPr>
          <a:lstStyle/>
          <a:p>
            <a:pPr marL="12700">
              <a:lnSpc>
                <a:spcPct val="100000"/>
              </a:lnSpc>
              <a:spcBef>
                <a:spcPts val="1045"/>
              </a:spcBef>
            </a:pPr>
            <a:r>
              <a:rPr lang="en-US" sz="2000" spc="-100" dirty="0" err="1">
                <a:solidFill>
                  <a:srgbClr val="FFFFFF"/>
                </a:solidFill>
                <a:latin typeface="Times New Roman" panose="02020603050405020304" pitchFamily="18" charset="0"/>
                <a:cs typeface="Times New Roman" panose="02020603050405020304" pitchFamily="18" charset="0"/>
              </a:rPr>
              <a:t>Dựa</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trên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phỏng</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vấn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chuyên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môn</a:t>
            </a:r>
            <a:endParaRPr sz="2000" dirty="0">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spc="-70" dirty="0" err="1">
                <a:solidFill>
                  <a:srgbClr val="FFFFFF"/>
                </a:solidFill>
                <a:latin typeface="Times New Roman" panose="02020603050405020304" pitchFamily="18" charset="0"/>
                <a:cs typeface="Times New Roman" panose="02020603050405020304" pitchFamily="18" charset="0"/>
              </a:rPr>
              <a:t>Câu</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hỏi</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định</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tính</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đóng</a:t>
            </a:r>
            <a:r>
              <a:rPr lang="en-US" sz="2000" spc="-70" dirty="0">
                <a:solidFill>
                  <a:srgbClr val="FFFFFF"/>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Khi đánh giá khả năng ban đầu của nhà cung cấp mới, yếu tố nào được ưu tiên hàng đầu?</a:t>
            </a:r>
            <a:endParaRPr lang="en-US" sz="2000" dirty="0">
              <a:solidFill>
                <a:schemeClr val="bg1"/>
              </a:solidFill>
              <a:latin typeface="Times New Roman" panose="02020603050405020304" pitchFamily="18" charset="0"/>
              <a:cs typeface="Times New Roman" panose="02020603050405020304" pitchFamily="18" charset="0"/>
            </a:endParaRP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a) Giá cả cạnh tranh và điều kiện thanh toán</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b) Chứng nhận ISO và hệ thống quản lý chất lượng</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c) Vị trí địa lý và khả năng giao hàng</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d) Mối quan hệ cá nhân và kinh nghiệm hợp tác trước đây</a:t>
            </a:r>
          </a:p>
          <a:p>
            <a:pPr marL="488315" indent="-285750">
              <a:lnSpc>
                <a:spcPct val="100000"/>
              </a:lnSpc>
              <a:spcBef>
                <a:spcPts val="875"/>
              </a:spcBef>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Câu</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hỏi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định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tính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mở</a:t>
            </a:r>
            <a:r>
              <a:rPr lang="en-US" sz="2000" dirty="0">
                <a:solidFill>
                  <a:schemeClr val="bg1"/>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en-US" sz="2000" dirty="0">
                <a:solidFill>
                  <a:schemeClr val="bg1"/>
                </a:solidFill>
                <a:latin typeface="Times New Roman" panose="02020603050405020304" pitchFamily="18" charset="0"/>
                <a:cs typeface="Times New Roman" panose="02020603050405020304" pitchFamily="18" charset="0"/>
              </a:rPr>
              <a:t>Theo </a:t>
            </a:r>
            <a:r>
              <a:rPr lang="en-US" sz="2000" dirty="0" err="1">
                <a:solidFill>
                  <a:schemeClr val="bg1"/>
                </a:solidFill>
                <a:latin typeface="Times New Roman" panose="02020603050405020304" pitchFamily="18" charset="0"/>
                <a:cs typeface="Times New Roman" panose="02020603050405020304" pitchFamily="18" charset="0"/>
              </a:rPr>
              <a:t>kinh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nghiệm</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của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anh</a:t>
            </a:r>
            <a:r>
              <a:rPr lang="en-US" sz="2000" dirty="0">
                <a:solidFill>
                  <a:schemeClr val="bg1"/>
                </a:solidFill>
                <a:latin typeface="Times New Roman" panose="02020603050405020304" pitchFamily="18" charset="0"/>
                <a:cs typeface="Times New Roman" panose="02020603050405020304" pitchFamily="18" charset="0"/>
              </a:rPr>
              <a:t>/</a:t>
            </a:r>
            <a:r>
              <a:rPr lang="en-US" sz="2000" dirty="0" err="1">
                <a:solidFill>
                  <a:schemeClr val="bg1"/>
                </a:solidFill>
                <a:latin typeface="Times New Roman" panose="02020603050405020304" pitchFamily="18" charset="0"/>
                <a:cs typeface="Times New Roman" panose="02020603050405020304" pitchFamily="18" charset="0"/>
              </a:rPr>
              <a:t>chị</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những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thách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thức</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lớn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nhất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khi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triển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khai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quy</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trình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đánh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giá</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nhà</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cung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cấp</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mới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là</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gì</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Tại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sao</a:t>
            </a:r>
            <a:r>
              <a:rPr lang="en-US" sz="2000" dirty="0">
                <a:solidFill>
                  <a:schemeClr val="bg1"/>
                </a:solidFill>
                <a:latin typeface="Times New Roman" panose="02020603050405020304" pitchFamily="18" charset="0"/>
                <a:cs typeface="Times New Roman" panose="02020603050405020304" pitchFamily="18" charset="0"/>
              </a:rPr>
              <a:t>?</a:t>
            </a:r>
          </a:p>
        </p:txBody>
      </p:sp>
      <p:sp>
        <p:nvSpPr>
          <p:cNvPr id="4" name="object 9">
            <a:extLst>
              <a:ext uri="{FF2B5EF4-FFF2-40B4-BE49-F238E27FC236}">
                <a16:creationId xmlns:a16="http://schemas.microsoft.com/office/drawing/2014/main" id="{E64A2113-50DC-66A4-92CC-0BD9F71D5645}"/>
              </a:ext>
            </a:extLst>
          </p:cNvPr>
          <p:cNvSpPr txBox="1"/>
          <p:nvPr/>
        </p:nvSpPr>
        <p:spPr>
          <a:xfrm>
            <a:off x="6477000" y="989806"/>
            <a:ext cx="5105400" cy="5481629"/>
          </a:xfrm>
          <a:prstGeom prst="rect">
            <a:avLst/>
          </a:prstGeom>
        </p:spPr>
        <p:txBody>
          <a:bodyPr vert="horz" wrap="square" lIns="0" tIns="132715" rIns="0" bIns="0" rtlCol="0">
            <a:spAutoFit/>
          </a:bodyPr>
          <a:lstStyle/>
          <a:p>
            <a:pPr marL="12700">
              <a:lnSpc>
                <a:spcPct val="100000"/>
              </a:lnSpc>
              <a:spcBef>
                <a:spcPts val="1045"/>
              </a:spcBef>
            </a:pPr>
            <a:r>
              <a:rPr lang="en-US" sz="2000" spc="-100" dirty="0" err="1">
                <a:solidFill>
                  <a:srgbClr val="FFFFFF"/>
                </a:solidFill>
                <a:latin typeface="Times New Roman" panose="02020603050405020304" pitchFamily="18" charset="0"/>
                <a:cs typeface="Times New Roman" panose="02020603050405020304" pitchFamily="18" charset="0"/>
              </a:rPr>
              <a:t>Dựa</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trên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phỏng</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vấn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chuyên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môn</a:t>
            </a:r>
            <a:endParaRPr sz="2000" dirty="0">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spc="-70" dirty="0" err="1">
                <a:solidFill>
                  <a:srgbClr val="FFFFFF"/>
                </a:solidFill>
                <a:latin typeface="Times New Roman" panose="02020603050405020304" pitchFamily="18" charset="0"/>
                <a:cs typeface="Times New Roman" panose="02020603050405020304" pitchFamily="18" charset="0"/>
              </a:rPr>
              <a:t>Câu</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hỏi</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định</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lượng</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đóng</a:t>
            </a:r>
            <a:r>
              <a:rPr lang="en-US" sz="2000" spc="-70" dirty="0">
                <a:solidFill>
                  <a:srgbClr val="FFFFFF"/>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Tỷ lệ nhà cung cấp vượt qua được giai đoạn đánh giá ban đầu thường là:</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a) Dưới 30%</a:t>
            </a:r>
            <a:endParaRPr lang="en-US" sz="2000" dirty="0">
              <a:solidFill>
                <a:schemeClr val="bg1"/>
              </a:solidFill>
              <a:latin typeface="Times New Roman" panose="02020603050405020304" pitchFamily="18" charset="0"/>
              <a:cs typeface="Times New Roman" panose="02020603050405020304" pitchFamily="18" charset="0"/>
            </a:endParaRP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b) 30-50%</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c) 50-70%</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d) Trên 70%</a:t>
            </a:r>
          </a:p>
          <a:p>
            <a:pPr marL="488315" indent="-285750">
              <a:lnSpc>
                <a:spcPct val="100000"/>
              </a:lnSpc>
              <a:spcBef>
                <a:spcPts val="875"/>
              </a:spcBef>
              <a:buFont typeface="Arial" panose="020B0604020202020204" pitchFamily="34" charset="0"/>
              <a:buChar char="•"/>
            </a:pPr>
            <a:endParaRPr lang="en-US" sz="2000" dirty="0">
              <a:solidFill>
                <a:schemeClr val="bg1"/>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Câu</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hỏi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định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tính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mở</a:t>
            </a:r>
            <a:r>
              <a:rPr lang="en-US" sz="2000" dirty="0">
                <a:solidFill>
                  <a:schemeClr val="bg1"/>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Trong năm vừa qua, tổng số nhà cung cấp mới được đánh giá là bao nhiêu? Trong đó có bao nhiêu được phê duyệt và tỷ lệ thành công cụ thể?</a:t>
            </a:r>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94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2173-F825-B148-16BF-E4644AC499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011E7C7-D820-632D-8D1D-46CB2CF78ABC}"/>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CD35306D-F440-8D78-7ABE-0DA6462FE3F6}"/>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err="1">
                <a:latin typeface="Times New Roman" panose="02020603050405020304" pitchFamily="18" charset="0"/>
                <a:cs typeface="Times New Roman" panose="02020603050405020304" pitchFamily="18" charset="0"/>
              </a:rPr>
              <a:t>Mô</a:t>
            </a:r>
            <a:r>
              <a:rPr lang="en-US" spc="-80" dirty="0">
                <a:latin typeface="Times New Roman" panose="02020603050405020304" pitchFamily="18" charset="0"/>
                <a:cs typeface="Times New Roman" panose="02020603050405020304" pitchFamily="18" charset="0"/>
              </a:rPr>
              <a:t> </a:t>
            </a:r>
            <a:r>
              <a:rPr lang="en-US" spc="-80" dirty="0" err="1">
                <a:latin typeface="Times New Roman" panose="02020603050405020304" pitchFamily="18" charset="0"/>
                <a:cs typeface="Times New Roman" panose="02020603050405020304" pitchFamily="18" charset="0"/>
              </a:rPr>
              <a:t>hình</a:t>
            </a:r>
            <a:r>
              <a:rPr lang="en-US" spc="-80" dirty="0">
                <a:latin typeface="Times New Roman" panose="02020603050405020304" pitchFamily="18" charset="0"/>
                <a:cs typeface="Times New Roman" panose="02020603050405020304" pitchFamily="18" charset="0"/>
              </a:rPr>
              <a:t> </a:t>
            </a:r>
            <a:r>
              <a:rPr lang="en-US" spc="-80" dirty="0" err="1">
                <a:latin typeface="Times New Roman" panose="02020603050405020304" pitchFamily="18" charset="0"/>
                <a:cs typeface="Times New Roman" panose="02020603050405020304" pitchFamily="18" charset="0"/>
              </a:rPr>
              <a:t>hóa</a:t>
            </a:r>
            <a:endParaRPr sz="2350" dirty="0">
              <a:latin typeface="Times New Roman" panose="02020603050405020304" pitchFamily="18" charset="0"/>
              <a:cs typeface="Times New Roman" panose="02020603050405020304" pitchFamily="18" charset="0"/>
            </a:endParaRPr>
          </a:p>
        </p:txBody>
      </p:sp>
      <p:sp>
        <p:nvSpPr>
          <p:cNvPr id="21" name="object 21">
            <a:extLst>
              <a:ext uri="{FF2B5EF4-FFF2-40B4-BE49-F238E27FC236}">
                <a16:creationId xmlns:a16="http://schemas.microsoft.com/office/drawing/2014/main" id="{6081DFF2-2F79-1143-12C9-0BB289F5EE00}"/>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pic>
        <p:nvPicPr>
          <p:cNvPr id="23" name="Picture 22" descr="A diagram of a computer&#10;&#10;AI-generated content may be incorrect.">
            <a:extLst>
              <a:ext uri="{FF2B5EF4-FFF2-40B4-BE49-F238E27FC236}">
                <a16:creationId xmlns:a16="http://schemas.microsoft.com/office/drawing/2014/main" id="{B885515E-6176-406A-C71D-A10AE9C560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799" y="1218406"/>
            <a:ext cx="11201400" cy="4780114"/>
          </a:xfrm>
          <a:prstGeom prst="rect">
            <a:avLst/>
          </a:prstGeom>
        </p:spPr>
      </p:pic>
    </p:spTree>
    <p:extLst>
      <p:ext uri="{BB962C8B-B14F-4D97-AF65-F5344CB8AC3E}">
        <p14:creationId xmlns:p14="http://schemas.microsoft.com/office/powerpoint/2010/main" val="237354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BAF58-30DF-3515-8392-6EAFD01759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0AD405-106C-4277-5A5D-07851C03BE1A}"/>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6B6C3A8F-CE77-CCC1-E506-4DD2E8DC2202}"/>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TÍNH</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22B13BA-B513-339F-153E-EAD46398497E}"/>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giá</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trị</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tăng</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8FB2A91-903F-64A8-B4F2-9220F50407F7}"/>
              </a:ext>
            </a:extLst>
          </p:cNvPr>
          <p:cNvGraphicFramePr>
            <a:graphicFrameLocks noGrp="1"/>
          </p:cNvGraphicFramePr>
          <p:nvPr>
            <p:extLst>
              <p:ext uri="{D42A27DB-BD31-4B8C-83A1-F6EECF244321}">
                <p14:modId xmlns:p14="http://schemas.microsoft.com/office/powerpoint/2010/main" val="2211373311"/>
              </p:ext>
            </p:extLst>
          </p:nvPr>
        </p:nvGraphicFramePr>
        <p:xfrm>
          <a:off x="4114800" y="1031163"/>
          <a:ext cx="3276600" cy="5456713"/>
        </p:xfrm>
        <a:graphic>
          <a:graphicData uri="http://schemas.openxmlformats.org/drawingml/2006/table">
            <a:tbl>
              <a:tblPr firstRow="1" firstCol="1" bandRow="1">
                <a:tableStyleId>{5C22544A-7EE6-4342-B048-85BDC9FD1C3A}</a:tableStyleId>
              </a:tblPr>
              <a:tblGrid>
                <a:gridCol w="1092200">
                  <a:extLst>
                    <a:ext uri="{9D8B030D-6E8A-4147-A177-3AD203B41FA5}">
                      <a16:colId xmlns:a16="http://schemas.microsoft.com/office/drawing/2014/main" val="2467352817"/>
                    </a:ext>
                  </a:extLst>
                </a:gridCol>
                <a:gridCol w="1092200">
                  <a:extLst>
                    <a:ext uri="{9D8B030D-6E8A-4147-A177-3AD203B41FA5}">
                      <a16:colId xmlns:a16="http://schemas.microsoft.com/office/drawing/2014/main" val="1381210911"/>
                    </a:ext>
                  </a:extLst>
                </a:gridCol>
                <a:gridCol w="1092200">
                  <a:extLst>
                    <a:ext uri="{9D8B030D-6E8A-4147-A177-3AD203B41FA5}">
                      <a16:colId xmlns:a16="http://schemas.microsoft.com/office/drawing/2014/main" val="1445207404"/>
                    </a:ext>
                  </a:extLst>
                </a:gridCol>
              </a:tblGrid>
              <a:tr h="260747">
                <a:tc>
                  <a:txBody>
                    <a:bodyPr/>
                    <a:lstStyle/>
                    <a:p>
                      <a:pPr marL="0" marR="0">
                        <a:lnSpc>
                          <a:spcPct val="115000"/>
                        </a:lnSpc>
                        <a:spcAft>
                          <a:spcPts val="800"/>
                        </a:spcAft>
                        <a:buNone/>
                      </a:pPr>
                      <a:r>
                        <a:rPr lang="en-US" sz="800" kern="100">
                          <a:effectLst/>
                        </a:rPr>
                        <a:t>Hoạt động</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2689" marB="42689"/>
                </a:tc>
                <a:tc>
                  <a:txBody>
                    <a:bodyPr/>
                    <a:lstStyle/>
                    <a:p>
                      <a:pPr marL="0" marR="0">
                        <a:lnSpc>
                          <a:spcPct val="115000"/>
                        </a:lnSpc>
                        <a:spcAft>
                          <a:spcPts val="800"/>
                        </a:spcAft>
                        <a:buNone/>
                      </a:pPr>
                      <a:r>
                        <a:rPr lang="en-US" sz="800" kern="100">
                          <a:effectLst/>
                        </a:rPr>
                        <a:t>Người thực hiện</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2689" marB="42689"/>
                </a:tc>
                <a:tc>
                  <a:txBody>
                    <a:bodyPr/>
                    <a:lstStyle/>
                    <a:p>
                      <a:pPr marL="0" marR="0">
                        <a:lnSpc>
                          <a:spcPct val="115000"/>
                        </a:lnSpc>
                        <a:spcAft>
                          <a:spcPts val="800"/>
                        </a:spcAft>
                        <a:buNone/>
                      </a:pPr>
                      <a:r>
                        <a:rPr lang="en-US" sz="800" kern="100">
                          <a:effectLst/>
                        </a:rPr>
                        <a:t>Loại giá trị</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2689" marB="42689"/>
                </a:tc>
                <a:extLst>
                  <a:ext uri="{0D108BD9-81ED-4DB2-BD59-A6C34878D82A}">
                    <a16:rowId xmlns:a16="http://schemas.microsoft.com/office/drawing/2014/main" val="990572914"/>
                  </a:ext>
                </a:extLst>
              </a:tr>
              <a:tr h="260747">
                <a:tc>
                  <a:txBody>
                    <a:bodyPr/>
                    <a:lstStyle/>
                    <a:p>
                      <a:pPr marL="0" marR="0">
                        <a:lnSpc>
                          <a:spcPct val="115000"/>
                        </a:lnSpc>
                        <a:spcAft>
                          <a:spcPts val="800"/>
                        </a:spcAft>
                        <a:buNone/>
                      </a:pPr>
                      <a:r>
                        <a:rPr lang="en-US" sz="800" kern="100">
                          <a:effectLst/>
                        </a:rPr>
                        <a:t>Supplier Onboarding</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BVA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310031342"/>
                  </a:ext>
                </a:extLst>
              </a:tr>
              <a:tr h="270353">
                <a:tc>
                  <a:txBody>
                    <a:bodyPr/>
                    <a:lstStyle/>
                    <a:p>
                      <a:pPr marL="0" marR="0">
                        <a:lnSpc>
                          <a:spcPct val="115000"/>
                        </a:lnSpc>
                        <a:spcAft>
                          <a:spcPts val="800"/>
                        </a:spcAft>
                        <a:buNone/>
                      </a:pPr>
                      <a:r>
                        <a:rPr lang="en-US" sz="800" kern="100">
                          <a:effectLst/>
                        </a:rPr>
                        <a:t>Evaluate Capability</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092487713"/>
                  </a:ext>
                </a:extLst>
              </a:tr>
              <a:tr h="260747">
                <a:tc>
                  <a:txBody>
                    <a:bodyPr/>
                    <a:lstStyle/>
                    <a:p>
                      <a:pPr marL="0" marR="0">
                        <a:lnSpc>
                          <a:spcPct val="115000"/>
                        </a:lnSpc>
                        <a:spcAft>
                          <a:spcPts val="800"/>
                        </a:spcAft>
                        <a:buNone/>
                      </a:pPr>
                      <a:r>
                        <a:rPr lang="en-US" sz="800" kern="100">
                          <a:effectLst/>
                        </a:rPr>
                        <a:t>Send Audit Request</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BVA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274409254"/>
                  </a:ext>
                </a:extLst>
              </a:tr>
              <a:tr h="381574">
                <a:tc>
                  <a:txBody>
                    <a:bodyPr/>
                    <a:lstStyle/>
                    <a:p>
                      <a:pPr marL="0" marR="0">
                        <a:lnSpc>
                          <a:spcPct val="115000"/>
                        </a:lnSpc>
                        <a:spcAft>
                          <a:spcPts val="800"/>
                        </a:spcAft>
                        <a:buNone/>
                      </a:pPr>
                      <a:r>
                        <a:rPr lang="en-US" sz="800" kern="100">
                          <a:effectLst/>
                        </a:rPr>
                        <a:t>Conduct Quality Documentation</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Supplier</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651400981"/>
                  </a:ext>
                </a:extLst>
              </a:tr>
              <a:tr h="260747">
                <a:tc>
                  <a:txBody>
                    <a:bodyPr/>
                    <a:lstStyle/>
                    <a:p>
                      <a:pPr marL="0" marR="0">
                        <a:lnSpc>
                          <a:spcPct val="115000"/>
                        </a:lnSpc>
                        <a:spcAft>
                          <a:spcPts val="800"/>
                        </a:spcAft>
                        <a:buNone/>
                      </a:pPr>
                      <a:r>
                        <a:rPr lang="en-US" sz="800" kern="100">
                          <a:effectLst/>
                        </a:rPr>
                        <a:t>Quality Check</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002370298"/>
                  </a:ext>
                </a:extLst>
              </a:tr>
              <a:tr h="381574">
                <a:tc>
                  <a:txBody>
                    <a:bodyPr/>
                    <a:lstStyle/>
                    <a:p>
                      <a:pPr marL="0" marR="0">
                        <a:lnSpc>
                          <a:spcPct val="115000"/>
                        </a:lnSpc>
                        <a:spcAft>
                          <a:spcPts val="800"/>
                        </a:spcAft>
                        <a:buNone/>
                      </a:pPr>
                      <a:r>
                        <a:rPr lang="en-US" sz="800" kern="100">
                          <a:effectLst/>
                        </a:rPr>
                        <a:t>Quality Improvement Process</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409505845"/>
                  </a:ext>
                </a:extLst>
              </a:tr>
              <a:tr h="260747">
                <a:tc>
                  <a:txBody>
                    <a:bodyPr/>
                    <a:lstStyle/>
                    <a:p>
                      <a:pPr marL="0" marR="0">
                        <a:lnSpc>
                          <a:spcPct val="115000"/>
                        </a:lnSpc>
                        <a:spcAft>
                          <a:spcPts val="800"/>
                        </a:spcAft>
                        <a:buNone/>
                      </a:pPr>
                      <a:r>
                        <a:rPr lang="en-US" sz="800" kern="100">
                          <a:effectLst/>
                        </a:rPr>
                        <a:t>Conduct Assessment</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3608583645"/>
                  </a:ext>
                </a:extLst>
              </a:tr>
              <a:tr h="270353">
                <a:tc>
                  <a:txBody>
                    <a:bodyPr/>
                    <a:lstStyle/>
                    <a:p>
                      <a:pPr marL="0" marR="0">
                        <a:lnSpc>
                          <a:spcPct val="115000"/>
                        </a:lnSpc>
                        <a:spcAft>
                          <a:spcPts val="800"/>
                        </a:spcAft>
                        <a:buNone/>
                      </a:pPr>
                      <a:r>
                        <a:rPr lang="en-US" sz="800" kern="100">
                          <a:effectLst/>
                        </a:rPr>
                        <a:t>Request Approval</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BVA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215744340"/>
                  </a:ext>
                </a:extLst>
              </a:tr>
              <a:tr h="381574">
                <a:tc>
                  <a:txBody>
                    <a:bodyPr/>
                    <a:lstStyle/>
                    <a:p>
                      <a:pPr marL="0" marR="0">
                        <a:lnSpc>
                          <a:spcPct val="115000"/>
                        </a:lnSpc>
                        <a:spcAft>
                          <a:spcPts val="800"/>
                        </a:spcAft>
                        <a:buNone/>
                      </a:pPr>
                      <a:r>
                        <a:rPr lang="en-US" sz="800" kern="100">
                          <a:effectLst/>
                        </a:rPr>
                        <a:t>Receive for Pre Approval</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Management</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BVA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4064998942"/>
                  </a:ext>
                </a:extLst>
              </a:tr>
              <a:tr h="260747">
                <a:tc>
                  <a:txBody>
                    <a:bodyPr/>
                    <a:lstStyle/>
                    <a:p>
                      <a:pPr marL="0" marR="0">
                        <a:lnSpc>
                          <a:spcPct val="115000"/>
                        </a:lnSpc>
                        <a:spcAft>
                          <a:spcPts val="800"/>
                        </a:spcAft>
                        <a:buNone/>
                      </a:pPr>
                      <a:r>
                        <a:rPr lang="en-US" sz="800" kern="100">
                          <a:effectLst/>
                        </a:rPr>
                        <a:t>Final Approval</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Management</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BVA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999966249"/>
                  </a:ext>
                </a:extLst>
              </a:tr>
              <a:tr h="381574">
                <a:tc>
                  <a:txBody>
                    <a:bodyPr/>
                    <a:lstStyle/>
                    <a:p>
                      <a:pPr marL="0" marR="0">
                        <a:lnSpc>
                          <a:spcPct val="115000"/>
                        </a:lnSpc>
                        <a:spcAft>
                          <a:spcPts val="800"/>
                        </a:spcAft>
                        <a:buNone/>
                      </a:pPr>
                      <a:r>
                        <a:rPr lang="en-US" sz="800" kern="100">
                          <a:effectLst/>
                        </a:rPr>
                        <a:t>Deliver New Production</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Supplier</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757988033"/>
                  </a:ext>
                </a:extLst>
              </a:tr>
              <a:tr h="260747">
                <a:tc>
                  <a:txBody>
                    <a:bodyPr/>
                    <a:lstStyle/>
                    <a:p>
                      <a:pPr marL="0" marR="0">
                        <a:lnSpc>
                          <a:spcPct val="115000"/>
                        </a:lnSpc>
                        <a:spcAft>
                          <a:spcPts val="800"/>
                        </a:spcAft>
                        <a:buNone/>
                      </a:pPr>
                      <a:r>
                        <a:rPr lang="en-US" sz="800" kern="100">
                          <a:effectLst/>
                        </a:rPr>
                        <a:t>Monitor Performance</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BVA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38607239"/>
                  </a:ext>
                </a:extLst>
              </a:tr>
              <a:tr h="260747">
                <a:tc>
                  <a:txBody>
                    <a:bodyPr/>
                    <a:lstStyle/>
                    <a:p>
                      <a:pPr marL="0" marR="0">
                        <a:lnSpc>
                          <a:spcPct val="115000"/>
                        </a:lnSpc>
                        <a:spcAft>
                          <a:spcPts val="800"/>
                        </a:spcAft>
                        <a:buNone/>
                      </a:pPr>
                      <a:r>
                        <a:rPr lang="en-US" sz="800" kern="100">
                          <a:effectLst/>
                        </a:rPr>
                        <a:t>Quality Docs</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Documentation Team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NVA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2255367993"/>
                  </a:ext>
                </a:extLst>
              </a:tr>
              <a:tr h="260747">
                <a:tc>
                  <a:txBody>
                    <a:bodyPr/>
                    <a:lstStyle/>
                    <a:p>
                      <a:pPr marL="0" marR="0">
                        <a:lnSpc>
                          <a:spcPct val="115000"/>
                        </a:lnSpc>
                        <a:spcAft>
                          <a:spcPts val="800"/>
                        </a:spcAft>
                        <a:buNone/>
                      </a:pPr>
                      <a:r>
                        <a:rPr lang="en-US" sz="800" kern="100">
                          <a:effectLst/>
                        </a:rPr>
                        <a:t>Supplier Rejected</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Manager</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NVA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3641513125"/>
                  </a:ext>
                </a:extLst>
              </a:tr>
              <a:tr h="260747">
                <a:tc>
                  <a:txBody>
                    <a:bodyPr/>
                    <a:lstStyle/>
                    <a:p>
                      <a:pPr marL="0" marR="0">
                        <a:lnSpc>
                          <a:spcPct val="115000"/>
                        </a:lnSpc>
                        <a:spcAft>
                          <a:spcPts val="800"/>
                        </a:spcAft>
                        <a:buNone/>
                      </a:pPr>
                      <a:r>
                        <a:rPr lang="en-US" sz="800" kern="100">
                          <a:effectLst/>
                        </a:rPr>
                        <a:t>Implementation Plan</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Process Manager</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NVA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914249693"/>
                  </a:ext>
                </a:extLst>
              </a:tr>
              <a:tr h="260747">
                <a:tc>
                  <a:txBody>
                    <a:bodyPr/>
                    <a:lstStyle/>
                    <a:p>
                      <a:pPr marL="0" marR="0">
                        <a:lnSpc>
                          <a:spcPct val="115000"/>
                        </a:lnSpc>
                        <a:spcAft>
                          <a:spcPts val="800"/>
                        </a:spcAft>
                        <a:buNone/>
                      </a:pPr>
                      <a:r>
                        <a:rPr lang="en-US" sz="800" kern="100">
                          <a:effectLst/>
                        </a:rPr>
                        <a:t>Approval Request</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Quality Manager</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NVA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498875814"/>
                  </a:ext>
                </a:extLst>
              </a:tr>
              <a:tr h="260747">
                <a:tc>
                  <a:txBody>
                    <a:bodyPr/>
                    <a:lstStyle/>
                    <a:p>
                      <a:pPr marL="0" marR="0">
                        <a:lnSpc>
                          <a:spcPct val="115000"/>
                        </a:lnSpc>
                        <a:spcAft>
                          <a:spcPts val="800"/>
                        </a:spcAft>
                        <a:buNone/>
                      </a:pPr>
                      <a:r>
                        <a:rPr lang="en-US" sz="800" kern="100">
                          <a:effectLst/>
                        </a:rPr>
                        <a:t>Supplier Management</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Admin</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NVA</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440011612"/>
                  </a:ext>
                </a:extLst>
              </a:tr>
              <a:tr h="260747">
                <a:tc>
                  <a:txBody>
                    <a:bodyPr/>
                    <a:lstStyle/>
                    <a:p>
                      <a:pPr marL="0" marR="0">
                        <a:lnSpc>
                          <a:spcPct val="115000"/>
                        </a:lnSpc>
                        <a:spcAft>
                          <a:spcPts val="800"/>
                        </a:spcAft>
                        <a:buNone/>
                      </a:pPr>
                      <a:r>
                        <a:rPr lang="en-US" sz="800" kern="100">
                          <a:effectLst/>
                        </a:rPr>
                        <a:t>Process Complete</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a:effectLst/>
                        </a:rPr>
                        <a:t>System</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tc>
                  <a:txBody>
                    <a:bodyPr/>
                    <a:lstStyle/>
                    <a:p>
                      <a:pPr marL="0" marR="0">
                        <a:lnSpc>
                          <a:spcPct val="115000"/>
                        </a:lnSpc>
                        <a:spcAft>
                          <a:spcPts val="800"/>
                        </a:spcAft>
                        <a:buNone/>
                      </a:pPr>
                      <a:r>
                        <a:rPr lang="en-US" sz="800" kern="100" dirty="0">
                          <a:effectLst/>
                        </a:rPr>
                        <a:t>NVA</a:t>
                      </a:r>
                      <a:endParaRPr lang="en-US" sz="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689" marR="42689" marT="48735" marB="48735" anchor="b"/>
                </a:tc>
                <a:extLst>
                  <a:ext uri="{0D108BD9-81ED-4DB2-BD59-A6C34878D82A}">
                    <a16:rowId xmlns:a16="http://schemas.microsoft.com/office/drawing/2014/main" val="147226436"/>
                  </a:ext>
                </a:extLst>
              </a:tr>
            </a:tbl>
          </a:graphicData>
        </a:graphic>
      </p:graphicFrame>
    </p:spTree>
    <p:extLst>
      <p:ext uri="{BB962C8B-B14F-4D97-AF65-F5344CB8AC3E}">
        <p14:creationId xmlns:p14="http://schemas.microsoft.com/office/powerpoint/2010/main" val="1631806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5D819-6B2B-6B8C-AFE3-03216AC7B22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9323F6-649F-319A-CC5B-09645F445024}"/>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BD111FC3-835E-D05D-D7AD-A2204601679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TÍNH</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CCA7F30-8DF2-F07F-8C21-70D33850C32E}"/>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lãng</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A09C68E-C66E-1243-F4FB-742611BEB157}"/>
              </a:ext>
            </a:extLst>
          </p:cNvPr>
          <p:cNvGraphicFramePr>
            <a:graphicFrameLocks noGrp="1"/>
          </p:cNvGraphicFramePr>
          <p:nvPr>
            <p:extLst>
              <p:ext uri="{D42A27DB-BD31-4B8C-83A1-F6EECF244321}">
                <p14:modId xmlns:p14="http://schemas.microsoft.com/office/powerpoint/2010/main" val="3110370096"/>
              </p:ext>
            </p:extLst>
          </p:nvPr>
        </p:nvGraphicFramePr>
        <p:xfrm>
          <a:off x="3188432" y="1792288"/>
          <a:ext cx="5879366" cy="4502789"/>
        </p:xfrm>
        <a:graphic>
          <a:graphicData uri="http://schemas.openxmlformats.org/drawingml/2006/table">
            <a:tbl>
              <a:tblPr firstRow="1" firstCol="1" bandRow="1">
                <a:tableStyleId>{5C22544A-7EE6-4342-B048-85BDC9FD1C3A}</a:tableStyleId>
              </a:tblPr>
              <a:tblGrid>
                <a:gridCol w="2939683">
                  <a:extLst>
                    <a:ext uri="{9D8B030D-6E8A-4147-A177-3AD203B41FA5}">
                      <a16:colId xmlns:a16="http://schemas.microsoft.com/office/drawing/2014/main" val="4069872339"/>
                    </a:ext>
                  </a:extLst>
                </a:gridCol>
                <a:gridCol w="2939683">
                  <a:extLst>
                    <a:ext uri="{9D8B030D-6E8A-4147-A177-3AD203B41FA5}">
                      <a16:colId xmlns:a16="http://schemas.microsoft.com/office/drawing/2014/main" val="3112086016"/>
                    </a:ext>
                  </a:extLst>
                </a:gridCol>
              </a:tblGrid>
              <a:tr h="506281">
                <a:tc>
                  <a:txBody>
                    <a:bodyPr/>
                    <a:lstStyle/>
                    <a:p>
                      <a:pPr marL="0" marR="0">
                        <a:lnSpc>
                          <a:spcPct val="115000"/>
                        </a:lnSpc>
                        <a:spcAft>
                          <a:spcPts val="800"/>
                        </a:spcAft>
                        <a:buNone/>
                      </a:pPr>
                      <a:r>
                        <a:rPr lang="en-US" sz="1200" kern="100">
                          <a:effectLst/>
                        </a:rPr>
                        <a:t>Loại lãng phí</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74912" marB="74912"/>
                </a:tc>
                <a:tc>
                  <a:txBody>
                    <a:bodyPr/>
                    <a:lstStyle/>
                    <a:p>
                      <a:pPr marL="0" marR="0">
                        <a:lnSpc>
                          <a:spcPct val="115000"/>
                        </a:lnSpc>
                        <a:spcAft>
                          <a:spcPts val="800"/>
                        </a:spcAft>
                        <a:buNone/>
                      </a:pPr>
                      <a:r>
                        <a:rPr lang="en-US" sz="1200" kern="100">
                          <a:effectLst/>
                        </a:rPr>
                        <a:t>Ví dụ trong quy trình</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74912" marB="74912"/>
                </a:tc>
                <a:extLst>
                  <a:ext uri="{0D108BD9-81ED-4DB2-BD59-A6C34878D82A}">
                    <a16:rowId xmlns:a16="http://schemas.microsoft.com/office/drawing/2014/main" val="3348080016"/>
                  </a:ext>
                </a:extLst>
              </a:tr>
              <a:tr h="1278441">
                <a:tc>
                  <a:txBody>
                    <a:bodyPr/>
                    <a:lstStyle/>
                    <a:p>
                      <a:pPr marL="0" marR="0">
                        <a:lnSpc>
                          <a:spcPct val="115000"/>
                        </a:lnSpc>
                        <a:spcAft>
                          <a:spcPts val="800"/>
                        </a:spcAft>
                        <a:buNone/>
                      </a:pPr>
                      <a:r>
                        <a:rPr lang="en-US" sz="1200" kern="100" dirty="0">
                          <a:effectLst/>
                        </a:rPr>
                        <a:t>Hold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85524" marB="85524" anchor="b"/>
                </a:tc>
                <a:tc>
                  <a:txBody>
                    <a:bodyPr/>
                    <a:lstStyle/>
                    <a:p>
                      <a:pPr marL="0" marR="0">
                        <a:lnSpc>
                          <a:spcPct val="115000"/>
                        </a:lnSpc>
                        <a:spcAft>
                          <a:spcPts val="800"/>
                        </a:spcAft>
                        <a:buNone/>
                      </a:pPr>
                      <a:r>
                        <a:rPr lang="en-US" sz="1200" kern="100" dirty="0">
                          <a:effectLst/>
                        </a:rPr>
                        <a:t>- </a:t>
                      </a:r>
                      <a:r>
                        <a:rPr lang="en-US" sz="1200" kern="100" dirty="0" err="1">
                          <a:effectLst/>
                        </a:rPr>
                        <a:t>Chờ</a:t>
                      </a:r>
                      <a:r>
                        <a:rPr lang="en-US" sz="1200" kern="100" dirty="0">
                          <a:effectLst/>
                        </a:rPr>
                        <a:t> </a:t>
                      </a:r>
                      <a:r>
                        <a:rPr lang="en-US" sz="1200" kern="100" dirty="0" err="1">
                          <a:effectLst/>
                        </a:rPr>
                        <a:t>phê</a:t>
                      </a:r>
                      <a:r>
                        <a:rPr lang="en-US" sz="1200" kern="100" dirty="0">
                          <a:effectLst/>
                        </a:rPr>
                        <a:t> </a:t>
                      </a:r>
                      <a:r>
                        <a:rPr lang="en-US" sz="1200" kern="100" dirty="0" err="1">
                          <a:effectLst/>
                        </a:rPr>
                        <a:t>duyệt</a:t>
                      </a:r>
                      <a:r>
                        <a:rPr lang="en-US" sz="1200" kern="100" dirty="0">
                          <a:effectLst/>
                        </a:rPr>
                        <a:t> </a:t>
                      </a:r>
                      <a:r>
                        <a:rPr lang="en-US" sz="1200" kern="100" dirty="0" err="1">
                          <a:effectLst/>
                        </a:rPr>
                        <a:t>từ</a:t>
                      </a:r>
                      <a:r>
                        <a:rPr lang="en-US" sz="1200" kern="100" dirty="0">
                          <a:effectLst/>
                        </a:rPr>
                        <a:t> </a:t>
                      </a:r>
                      <a:r>
                        <a:rPr lang="en-US" sz="1200" kern="100" dirty="0" err="1">
                          <a:effectLst/>
                        </a:rPr>
                        <a:t>cấp</a:t>
                      </a:r>
                      <a:r>
                        <a:rPr lang="en-US" sz="1200" kern="100" dirty="0">
                          <a:effectLst/>
                        </a:rPr>
                        <a:t> </a:t>
                      </a:r>
                      <a:r>
                        <a:rPr lang="en-US" sz="1200" kern="100" dirty="0" err="1">
                          <a:effectLst/>
                        </a:rPr>
                        <a:t>trên</a:t>
                      </a:r>
                      <a:r>
                        <a:rPr lang="en-US" sz="1200" kern="100" dirty="0">
                          <a:effectLst/>
                        </a:rPr>
                        <a:t> </a:t>
                      </a:r>
                      <a:r>
                        <a:rPr lang="en-US" sz="1200" kern="100" dirty="0" err="1">
                          <a:effectLst/>
                        </a:rPr>
                        <a:t>trong</a:t>
                      </a:r>
                      <a:r>
                        <a:rPr lang="en-US" sz="1200" kern="100" dirty="0">
                          <a:effectLst/>
                        </a:rPr>
                        <a:t> </a:t>
                      </a:r>
                      <a:r>
                        <a:rPr lang="en-US" sz="1200" kern="100" dirty="0" err="1">
                          <a:effectLst/>
                        </a:rPr>
                        <a:t>bước</a:t>
                      </a:r>
                      <a:r>
                        <a:rPr lang="en-US" sz="1200" kern="100" dirty="0">
                          <a:effectLst/>
                        </a:rPr>
                        <a:t> Request Approval</a:t>
                      </a:r>
                      <a:br>
                        <a:rPr lang="en-US" sz="1200" kern="100" dirty="0">
                          <a:effectLst/>
                        </a:rPr>
                      </a:br>
                      <a:r>
                        <a:rPr lang="en-US" sz="1200" kern="100" dirty="0">
                          <a:effectLst/>
                        </a:rPr>
                        <a:t>- </a:t>
                      </a:r>
                      <a:r>
                        <a:rPr lang="en-US" sz="1200" kern="100" dirty="0" err="1">
                          <a:effectLst/>
                        </a:rPr>
                        <a:t>Chờ</a:t>
                      </a:r>
                      <a:r>
                        <a:rPr lang="en-US" sz="1200" kern="100" dirty="0">
                          <a:effectLst/>
                        </a:rPr>
                        <a:t> </a:t>
                      </a:r>
                      <a:r>
                        <a:rPr lang="en-US" sz="1200" kern="100" dirty="0" err="1">
                          <a:effectLst/>
                        </a:rPr>
                        <a:t>nhà</a:t>
                      </a:r>
                      <a:r>
                        <a:rPr lang="en-US" sz="1200" kern="100" dirty="0">
                          <a:effectLst/>
                        </a:rPr>
                        <a:t> </a:t>
                      </a:r>
                      <a:r>
                        <a:rPr lang="en-US" sz="1200" kern="100" dirty="0" err="1">
                          <a:effectLst/>
                        </a:rPr>
                        <a:t>cung</a:t>
                      </a:r>
                      <a:r>
                        <a:rPr lang="en-US" sz="1200" kern="100" dirty="0">
                          <a:effectLst/>
                        </a:rPr>
                        <a:t> </a:t>
                      </a:r>
                      <a:r>
                        <a:rPr lang="en-US" sz="1200" kern="100" dirty="0" err="1">
                          <a:effectLst/>
                        </a:rPr>
                        <a:t>cấp</a:t>
                      </a:r>
                      <a:r>
                        <a:rPr lang="en-US" sz="1200" kern="100" dirty="0">
                          <a:effectLst/>
                        </a:rPr>
                        <a:t> </a:t>
                      </a:r>
                      <a:r>
                        <a:rPr lang="en-US" sz="1200" kern="100" dirty="0" err="1">
                          <a:effectLst/>
                        </a:rPr>
                        <a:t>hoàn</a:t>
                      </a:r>
                      <a:r>
                        <a:rPr lang="en-US" sz="1200" kern="100" dirty="0">
                          <a:effectLst/>
                        </a:rPr>
                        <a:t> </a:t>
                      </a:r>
                      <a:r>
                        <a:rPr lang="en-US" sz="1200" kern="100" dirty="0" err="1">
                          <a:effectLst/>
                        </a:rPr>
                        <a:t>thành</a:t>
                      </a:r>
                      <a:r>
                        <a:rPr lang="en-US" sz="1200" kern="100" dirty="0">
                          <a:effectLst/>
                        </a:rPr>
                        <a:t> Quality Documentation</a:t>
                      </a:r>
                      <a:br>
                        <a:rPr lang="en-US" sz="1200" kern="100" dirty="0">
                          <a:effectLst/>
                        </a:rPr>
                      </a:br>
                      <a:r>
                        <a:rPr lang="en-US" sz="1200" kern="100" dirty="0">
                          <a:effectLst/>
                        </a:rPr>
                        <a:t>- </a:t>
                      </a:r>
                      <a:r>
                        <a:rPr lang="en-US" sz="1200" kern="100" dirty="0" err="1">
                          <a:effectLst/>
                        </a:rPr>
                        <a:t>Chờ</a:t>
                      </a:r>
                      <a:r>
                        <a:rPr lang="en-US" sz="1200" kern="100" dirty="0">
                          <a:effectLst/>
                        </a:rPr>
                        <a:t> </a:t>
                      </a:r>
                      <a:r>
                        <a:rPr lang="en-US" sz="1200" kern="100" dirty="0" err="1">
                          <a:effectLst/>
                        </a:rPr>
                        <a:t>kết</a:t>
                      </a:r>
                      <a:r>
                        <a:rPr lang="en-US" sz="1200" kern="100" dirty="0">
                          <a:effectLst/>
                        </a:rPr>
                        <a:t> </a:t>
                      </a:r>
                      <a:r>
                        <a:rPr lang="en-US" sz="1200" kern="100" dirty="0" err="1">
                          <a:effectLst/>
                        </a:rPr>
                        <a:t>quả</a:t>
                      </a:r>
                      <a:r>
                        <a:rPr lang="en-US" sz="1200" kern="100" dirty="0">
                          <a:effectLst/>
                        </a:rPr>
                        <a:t> </a:t>
                      </a:r>
                      <a:r>
                        <a:rPr lang="en-US" sz="1200" kern="100" dirty="0" err="1">
                          <a:effectLst/>
                        </a:rPr>
                        <a:t>đánh</a:t>
                      </a:r>
                      <a:r>
                        <a:rPr lang="en-US" sz="1200" kern="100" dirty="0">
                          <a:effectLst/>
                        </a:rPr>
                        <a:t> </a:t>
                      </a:r>
                      <a:r>
                        <a:rPr lang="en-US" sz="1200" kern="100" dirty="0" err="1">
                          <a:effectLst/>
                        </a:rPr>
                        <a:t>giá</a:t>
                      </a:r>
                      <a:r>
                        <a:rPr lang="en-US" sz="1200" kern="100" dirty="0">
                          <a:effectLst/>
                        </a:rPr>
                        <a:t> </a:t>
                      </a:r>
                      <a:r>
                        <a:rPr lang="en-US" sz="1200" kern="100" dirty="0" err="1">
                          <a:effectLst/>
                        </a:rPr>
                        <a:t>từ</a:t>
                      </a:r>
                      <a:r>
                        <a:rPr lang="en-US" sz="1200" kern="100" dirty="0">
                          <a:effectLst/>
                        </a:rPr>
                        <a:t> Quality Check</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85524" marB="85524" anchor="b"/>
                </a:tc>
                <a:extLst>
                  <a:ext uri="{0D108BD9-81ED-4DB2-BD59-A6C34878D82A}">
                    <a16:rowId xmlns:a16="http://schemas.microsoft.com/office/drawing/2014/main" val="1881599026"/>
                  </a:ext>
                </a:extLst>
              </a:tr>
              <a:tr h="1180493">
                <a:tc>
                  <a:txBody>
                    <a:bodyPr/>
                    <a:lstStyle/>
                    <a:p>
                      <a:pPr marL="0" marR="0">
                        <a:lnSpc>
                          <a:spcPct val="115000"/>
                        </a:lnSpc>
                        <a:spcAft>
                          <a:spcPts val="800"/>
                        </a:spcAft>
                        <a:buNone/>
                      </a:pPr>
                      <a:r>
                        <a:rPr lang="en-US" sz="1200" kern="100">
                          <a:effectLst/>
                        </a:rPr>
                        <a:t>Move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85524" marB="85524" anchor="b"/>
                </a:tc>
                <a:tc>
                  <a:txBody>
                    <a:bodyPr/>
                    <a:lstStyle/>
                    <a:p>
                      <a:pPr marL="0" marR="0">
                        <a:lnSpc>
                          <a:spcPct val="115000"/>
                        </a:lnSpc>
                        <a:spcAft>
                          <a:spcPts val="800"/>
                        </a:spcAft>
                        <a:buNone/>
                      </a:pPr>
                      <a:r>
                        <a:rPr lang="en-US" sz="1200" kern="100">
                          <a:effectLst/>
                        </a:rPr>
                        <a:t>- Chuyển hồ sơ nhà cung cấp qua lại giữa các bộ phận Quality Team và Management</a:t>
                      </a:r>
                      <a:br>
                        <a:rPr lang="en-US" sz="1200" kern="100">
                          <a:effectLst/>
                        </a:rPr>
                      </a:br>
                      <a:r>
                        <a:rPr lang="en-US" sz="1200" kern="100">
                          <a:effectLst/>
                        </a:rPr>
                        <a:t>- Gửi tài liệu audit request nhiều lần nếu không đầy đủ</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85524" marB="85524" anchor="b"/>
                </a:tc>
                <a:extLst>
                  <a:ext uri="{0D108BD9-81ED-4DB2-BD59-A6C34878D82A}">
                    <a16:rowId xmlns:a16="http://schemas.microsoft.com/office/drawing/2014/main" val="1831616880"/>
                  </a:ext>
                </a:extLst>
              </a:tr>
              <a:tr h="1537574">
                <a:tc>
                  <a:txBody>
                    <a:bodyPr/>
                    <a:lstStyle/>
                    <a:p>
                      <a:pPr marL="0" marR="0">
                        <a:lnSpc>
                          <a:spcPct val="115000"/>
                        </a:lnSpc>
                        <a:spcAft>
                          <a:spcPts val="800"/>
                        </a:spcAft>
                        <a:buNone/>
                      </a:pPr>
                      <a:r>
                        <a:rPr lang="en-US" sz="1200" kern="100" dirty="0">
                          <a:effectLst/>
                        </a:rPr>
                        <a:t>Over-do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85524" marB="85524" anchor="b"/>
                </a:tc>
                <a:tc>
                  <a:txBody>
                    <a:bodyPr/>
                    <a:lstStyle/>
                    <a:p>
                      <a:pPr marL="0" marR="0">
                        <a:lnSpc>
                          <a:spcPct val="115000"/>
                        </a:lnSpc>
                        <a:spcAft>
                          <a:spcPts val="800"/>
                        </a:spcAft>
                        <a:buNone/>
                      </a:pPr>
                      <a:r>
                        <a:rPr lang="en-US" sz="1200" kern="100" dirty="0">
                          <a:effectLst/>
                        </a:rPr>
                        <a:t>- </a:t>
                      </a:r>
                      <a:r>
                        <a:rPr lang="en-US" sz="1200" kern="100" dirty="0" err="1">
                          <a:effectLst/>
                        </a:rPr>
                        <a:t>Đánh</a:t>
                      </a:r>
                      <a:r>
                        <a:rPr lang="en-US" sz="1200" kern="100" dirty="0">
                          <a:effectLst/>
                        </a:rPr>
                        <a:t> </a:t>
                      </a:r>
                      <a:r>
                        <a:rPr lang="en-US" sz="1200" kern="100" dirty="0" err="1">
                          <a:effectLst/>
                        </a:rPr>
                        <a:t>giá</a:t>
                      </a:r>
                      <a:r>
                        <a:rPr lang="en-US" sz="1200" kern="100" dirty="0">
                          <a:effectLst/>
                        </a:rPr>
                        <a:t> </a:t>
                      </a:r>
                      <a:r>
                        <a:rPr lang="en-US" sz="1200" kern="100" dirty="0" err="1">
                          <a:effectLst/>
                        </a:rPr>
                        <a:t>lại</a:t>
                      </a:r>
                      <a:r>
                        <a:rPr lang="en-US" sz="1200" kern="100" dirty="0">
                          <a:effectLst/>
                        </a:rPr>
                        <a:t> </a:t>
                      </a:r>
                      <a:r>
                        <a:rPr lang="en-US" sz="1200" kern="100" dirty="0" err="1">
                          <a:effectLst/>
                        </a:rPr>
                        <a:t>nhiều</a:t>
                      </a:r>
                      <a:r>
                        <a:rPr lang="en-US" sz="1200" kern="100" dirty="0">
                          <a:effectLst/>
                        </a:rPr>
                        <a:t> </a:t>
                      </a:r>
                      <a:r>
                        <a:rPr lang="en-US" sz="1200" kern="100" dirty="0" err="1">
                          <a:effectLst/>
                        </a:rPr>
                        <a:t>lần</a:t>
                      </a:r>
                      <a:r>
                        <a:rPr lang="en-US" sz="1200" kern="100" dirty="0">
                          <a:effectLst/>
                        </a:rPr>
                        <a:t> </a:t>
                      </a:r>
                      <a:r>
                        <a:rPr lang="en-US" sz="1200" kern="100" dirty="0" err="1">
                          <a:effectLst/>
                        </a:rPr>
                        <a:t>cùng</a:t>
                      </a:r>
                      <a:r>
                        <a:rPr lang="en-US" sz="1200" kern="100" dirty="0">
                          <a:effectLst/>
                        </a:rPr>
                        <a:t> </a:t>
                      </a:r>
                      <a:r>
                        <a:rPr lang="en-US" sz="1200" kern="100" dirty="0" err="1">
                          <a:effectLst/>
                        </a:rPr>
                        <a:t>một</a:t>
                      </a:r>
                      <a:r>
                        <a:rPr lang="en-US" sz="1200" kern="100" dirty="0">
                          <a:effectLst/>
                        </a:rPr>
                        <a:t> </a:t>
                      </a:r>
                      <a:r>
                        <a:rPr lang="en-US" sz="1200" kern="100" dirty="0" err="1">
                          <a:effectLst/>
                        </a:rPr>
                        <a:t>tiêu</a:t>
                      </a:r>
                      <a:r>
                        <a:rPr lang="en-US" sz="1200" kern="100" dirty="0">
                          <a:effectLst/>
                        </a:rPr>
                        <a:t> </a:t>
                      </a:r>
                      <a:r>
                        <a:rPr lang="en-US" sz="1200" kern="100" dirty="0" err="1">
                          <a:effectLst/>
                        </a:rPr>
                        <a:t>chí</a:t>
                      </a:r>
                      <a:r>
                        <a:rPr lang="en-US" sz="1200" kern="100" dirty="0">
                          <a:effectLst/>
                        </a:rPr>
                        <a:t> </a:t>
                      </a:r>
                      <a:r>
                        <a:rPr lang="en-US" sz="1200" kern="100" dirty="0" err="1">
                          <a:effectLst/>
                        </a:rPr>
                        <a:t>trong</a:t>
                      </a:r>
                      <a:r>
                        <a:rPr lang="en-US" sz="1200" kern="100" dirty="0">
                          <a:effectLst/>
                        </a:rPr>
                        <a:t> Conduct Assessment</a:t>
                      </a:r>
                      <a:br>
                        <a:rPr lang="en-US" sz="1200" kern="100" dirty="0">
                          <a:effectLst/>
                        </a:rPr>
                      </a:br>
                      <a:r>
                        <a:rPr lang="en-US" sz="1200" kern="100" dirty="0">
                          <a:effectLst/>
                        </a:rPr>
                        <a:t>- </a:t>
                      </a:r>
                      <a:r>
                        <a:rPr lang="en-US" sz="1200" kern="100" dirty="0" err="1">
                          <a:effectLst/>
                        </a:rPr>
                        <a:t>Yêu</a:t>
                      </a:r>
                      <a:r>
                        <a:rPr lang="en-US" sz="1200" kern="100" dirty="0">
                          <a:effectLst/>
                        </a:rPr>
                        <a:t> </a:t>
                      </a:r>
                      <a:r>
                        <a:rPr lang="en-US" sz="1200" kern="100" dirty="0" err="1">
                          <a:effectLst/>
                        </a:rPr>
                        <a:t>cầu</a:t>
                      </a:r>
                      <a:r>
                        <a:rPr lang="en-US" sz="1200" kern="100" dirty="0">
                          <a:effectLst/>
                        </a:rPr>
                        <a:t> </a:t>
                      </a:r>
                      <a:r>
                        <a:rPr lang="en-US" sz="1200" kern="100" dirty="0" err="1">
                          <a:effectLst/>
                        </a:rPr>
                        <a:t>tài</a:t>
                      </a:r>
                      <a:r>
                        <a:rPr lang="en-US" sz="1200" kern="100" dirty="0">
                          <a:effectLst/>
                        </a:rPr>
                        <a:t> </a:t>
                      </a:r>
                      <a:r>
                        <a:rPr lang="en-US" sz="1200" kern="100" dirty="0" err="1">
                          <a:effectLst/>
                        </a:rPr>
                        <a:t>liệu</a:t>
                      </a:r>
                      <a:r>
                        <a:rPr lang="en-US" sz="1200" kern="100" dirty="0">
                          <a:effectLst/>
                        </a:rPr>
                        <a:t> </a:t>
                      </a:r>
                      <a:r>
                        <a:rPr lang="en-US" sz="1200" kern="100" dirty="0" err="1">
                          <a:effectLst/>
                        </a:rPr>
                        <a:t>chứng</a:t>
                      </a:r>
                      <a:r>
                        <a:rPr lang="en-US" sz="1200" kern="100" dirty="0">
                          <a:effectLst/>
                        </a:rPr>
                        <a:t> </a:t>
                      </a:r>
                      <a:r>
                        <a:rPr lang="en-US" sz="1200" kern="100" dirty="0" err="1">
                          <a:effectLst/>
                        </a:rPr>
                        <a:t>minh</a:t>
                      </a:r>
                      <a:r>
                        <a:rPr lang="en-US" sz="1200" kern="100" dirty="0">
                          <a:effectLst/>
                        </a:rPr>
                        <a:t> </a:t>
                      </a:r>
                      <a:r>
                        <a:rPr lang="en-US" sz="1200" kern="100" dirty="0" err="1">
                          <a:effectLst/>
                        </a:rPr>
                        <a:t>thừa</a:t>
                      </a:r>
                      <a:r>
                        <a:rPr lang="en-US" sz="1200" kern="100" dirty="0">
                          <a:effectLst/>
                        </a:rPr>
                        <a:t> </a:t>
                      </a:r>
                      <a:r>
                        <a:rPr lang="en-US" sz="1200" kern="100" dirty="0" err="1">
                          <a:effectLst/>
                        </a:rPr>
                        <a:t>thãi</a:t>
                      </a:r>
                      <a:r>
                        <a:rPr lang="en-US" sz="1200" kern="100" dirty="0">
                          <a:effectLst/>
                        </a:rPr>
                        <a:t> </a:t>
                      </a:r>
                      <a:r>
                        <a:rPr lang="en-US" sz="1200" kern="100" dirty="0" err="1">
                          <a:effectLst/>
                        </a:rPr>
                        <a:t>trong</a:t>
                      </a:r>
                      <a:r>
                        <a:rPr lang="en-US" sz="1200" kern="100" dirty="0">
                          <a:effectLst/>
                        </a:rPr>
                        <a:t> Quality Documentation</a:t>
                      </a:r>
                      <a:br>
                        <a:rPr lang="en-US" sz="1200" kern="100" dirty="0">
                          <a:effectLst/>
                        </a:rPr>
                      </a:br>
                      <a:r>
                        <a:rPr lang="en-US" sz="1200" kern="100" dirty="0">
                          <a:effectLst/>
                        </a:rPr>
                        <a:t>- </a:t>
                      </a:r>
                      <a:r>
                        <a:rPr lang="en-US" sz="1200" kern="100" dirty="0" err="1">
                          <a:effectLst/>
                        </a:rPr>
                        <a:t>Kiểm</a:t>
                      </a:r>
                      <a:r>
                        <a:rPr lang="en-US" sz="1200" kern="100" dirty="0">
                          <a:effectLst/>
                        </a:rPr>
                        <a:t> </a:t>
                      </a:r>
                      <a:r>
                        <a:rPr lang="en-US" sz="1200" kern="100" dirty="0" err="1">
                          <a:effectLst/>
                        </a:rPr>
                        <a:t>tra</a:t>
                      </a:r>
                      <a:r>
                        <a:rPr lang="en-US" sz="1200" kern="100" dirty="0">
                          <a:effectLst/>
                        </a:rPr>
                        <a:t> </a:t>
                      </a:r>
                      <a:r>
                        <a:rPr lang="en-US" sz="1200" kern="100" dirty="0" err="1">
                          <a:effectLst/>
                        </a:rPr>
                        <a:t>chất</a:t>
                      </a:r>
                      <a:r>
                        <a:rPr lang="en-US" sz="1200" kern="100" dirty="0">
                          <a:effectLst/>
                        </a:rPr>
                        <a:t> </a:t>
                      </a:r>
                      <a:r>
                        <a:rPr lang="en-US" sz="1200" kern="100" dirty="0" err="1">
                          <a:effectLst/>
                        </a:rPr>
                        <a:t>lượng</a:t>
                      </a:r>
                      <a:r>
                        <a:rPr lang="en-US" sz="1200" kern="100" dirty="0">
                          <a:effectLst/>
                        </a:rPr>
                        <a:t> </a:t>
                      </a:r>
                      <a:r>
                        <a:rPr lang="en-US" sz="1200" kern="100" dirty="0" err="1">
                          <a:effectLst/>
                        </a:rPr>
                        <a:t>quá</a:t>
                      </a:r>
                      <a:r>
                        <a:rPr lang="en-US" sz="1200" kern="100" dirty="0">
                          <a:effectLst/>
                        </a:rPr>
                        <a:t> chi </a:t>
                      </a:r>
                      <a:r>
                        <a:rPr lang="en-US" sz="1200" kern="100" dirty="0" err="1">
                          <a:effectLst/>
                        </a:rPr>
                        <a:t>tiết</a:t>
                      </a:r>
                      <a:r>
                        <a:rPr lang="en-US" sz="1200" kern="100" dirty="0">
                          <a:effectLst/>
                        </a:rPr>
                        <a:t> </a:t>
                      </a:r>
                      <a:r>
                        <a:rPr lang="en-US" sz="1200" kern="100" dirty="0" err="1">
                          <a:effectLst/>
                        </a:rPr>
                        <a:t>cho</a:t>
                      </a:r>
                      <a:r>
                        <a:rPr lang="en-US" sz="1200" kern="100" dirty="0">
                          <a:effectLst/>
                        </a:rPr>
                        <a:t> </a:t>
                      </a:r>
                      <a:r>
                        <a:rPr lang="en-US" sz="1200" kern="100" dirty="0" err="1">
                          <a:effectLst/>
                        </a:rPr>
                        <a:t>các</a:t>
                      </a:r>
                      <a:r>
                        <a:rPr lang="en-US" sz="1200" kern="100" dirty="0">
                          <a:effectLst/>
                        </a:rPr>
                        <a:t> </a:t>
                      </a:r>
                      <a:r>
                        <a:rPr lang="en-US" sz="1200" kern="100" dirty="0" err="1">
                          <a:effectLst/>
                        </a:rPr>
                        <a:t>nhà</a:t>
                      </a:r>
                      <a:r>
                        <a:rPr lang="en-US" sz="1200" kern="100" dirty="0">
                          <a:effectLst/>
                        </a:rPr>
                        <a:t> </a:t>
                      </a:r>
                      <a:r>
                        <a:rPr lang="en-US" sz="1200" kern="100" dirty="0" err="1">
                          <a:effectLst/>
                        </a:rPr>
                        <a:t>cung</a:t>
                      </a:r>
                      <a:r>
                        <a:rPr lang="en-US" sz="1200" kern="100" dirty="0">
                          <a:effectLst/>
                        </a:rPr>
                        <a:t> </a:t>
                      </a:r>
                      <a:r>
                        <a:rPr lang="en-US" sz="1200" kern="100" dirty="0" err="1">
                          <a:effectLst/>
                        </a:rPr>
                        <a:t>cấp</a:t>
                      </a:r>
                      <a:r>
                        <a:rPr lang="en-US" sz="1200" kern="100" dirty="0">
                          <a:effectLst/>
                        </a:rPr>
                        <a:t> </a:t>
                      </a:r>
                      <a:r>
                        <a:rPr lang="en-US" sz="1200" kern="100" dirty="0" err="1">
                          <a:effectLst/>
                        </a:rPr>
                        <a:t>nhỏ</a:t>
                      </a:r>
                      <a:r>
                        <a:rPr lang="en-US" sz="1200" kern="100" dirty="0">
                          <a:effectLst/>
                        </a:rPr>
                        <a:t> </a:t>
                      </a:r>
                      <a:r>
                        <a:rPr lang="en-US" sz="1200" kern="100" dirty="0" err="1">
                          <a:effectLst/>
                        </a:rPr>
                        <a:t>không</a:t>
                      </a:r>
                      <a:r>
                        <a:rPr lang="en-US" sz="1200" kern="100" dirty="0">
                          <a:effectLst/>
                        </a:rPr>
                        <a:t> </a:t>
                      </a:r>
                      <a:r>
                        <a:rPr lang="en-US" sz="1200" kern="100" dirty="0" err="1">
                          <a:effectLst/>
                        </a:rPr>
                        <a:t>quan</a:t>
                      </a:r>
                      <a:r>
                        <a:rPr lang="en-US" sz="1200" kern="100" dirty="0">
                          <a:effectLst/>
                        </a:rPr>
                        <a:t> </a:t>
                      </a:r>
                      <a:r>
                        <a:rPr lang="en-US" sz="1200" kern="100" dirty="0" err="1">
                          <a:effectLst/>
                        </a:rPr>
                        <a:t>trọng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4912" marR="74912" marT="85524" marB="85524" anchor="b"/>
                </a:tc>
                <a:extLst>
                  <a:ext uri="{0D108BD9-81ED-4DB2-BD59-A6C34878D82A}">
                    <a16:rowId xmlns:a16="http://schemas.microsoft.com/office/drawing/2014/main" val="1262665770"/>
                  </a:ext>
                </a:extLst>
              </a:tr>
            </a:tbl>
          </a:graphicData>
        </a:graphic>
      </p:graphicFrame>
    </p:spTree>
    <p:extLst>
      <p:ext uri="{BB962C8B-B14F-4D97-AF65-F5344CB8AC3E}">
        <p14:creationId xmlns:p14="http://schemas.microsoft.com/office/powerpoint/2010/main" val="1922908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08E87-349A-1CD7-EF3D-ED3AE232827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BC8D0F-4406-7DAB-03EF-D8CBB92A248C}"/>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8BF16DC0-AF7E-ED5B-0203-340E9E35B459}"/>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43888FF-8E25-7CC6-77B5-D3C9882FA5E6}"/>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thời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C8B9923-9B2F-B950-1F94-AE32BEDB49BA}"/>
              </a:ext>
            </a:extLst>
          </p:cNvPr>
          <p:cNvSpPr txBox="1"/>
          <p:nvPr/>
        </p:nvSpPr>
        <p:spPr>
          <a:xfrm>
            <a:off x="762000" y="1675606"/>
            <a:ext cx="5257800" cy="646331"/>
          </a:xfrm>
          <a:prstGeom prst="rect">
            <a:avLst/>
          </a:prstGeom>
          <a:noFill/>
        </p:spPr>
        <p:txBody>
          <a:bodyPr wrap="square">
            <a:spAutoFit/>
          </a:bodyPr>
          <a:lstStyle/>
          <a:p>
            <a:r>
              <a:rPr lang="vi-VN" dirty="0">
                <a:solidFill>
                  <a:schemeClr val="bg1"/>
                </a:solidFill>
                <a:latin typeface="+mj-lt"/>
              </a:rPr>
              <a:t>Tính toán đường dẫn thành công</a:t>
            </a:r>
            <a:r>
              <a:rPr lang="en-US" dirty="0">
                <a:solidFill>
                  <a:schemeClr val="bg1"/>
                </a:solidFill>
                <a:latin typeface="+mj-lt"/>
              </a:rPr>
              <a:t> (Final Approval=yes)</a:t>
            </a:r>
            <a:r>
              <a:rPr lang="vi-VN" dirty="0">
                <a:solidFill>
                  <a:schemeClr val="bg1"/>
                </a:solidFill>
                <a:latin typeface="+mj-lt"/>
              </a:rPr>
              <a:t>:</a:t>
            </a:r>
          </a:p>
          <a:p>
            <a:r>
              <a:rPr lang="vi-VN" dirty="0">
                <a:solidFill>
                  <a:schemeClr val="bg1"/>
                </a:solidFill>
                <a:latin typeface="+mj-lt"/>
              </a:rPr>
              <a:t>24 + 26 + 20 + 12 + 20 + 52 + 3 + 2 + 12 + 6 = 177 giờ</a:t>
            </a:r>
          </a:p>
        </p:txBody>
      </p:sp>
      <p:graphicFrame>
        <p:nvGraphicFramePr>
          <p:cNvPr id="11" name="Table 10">
            <a:extLst>
              <a:ext uri="{FF2B5EF4-FFF2-40B4-BE49-F238E27FC236}">
                <a16:creationId xmlns:a16="http://schemas.microsoft.com/office/drawing/2014/main" id="{0C854B09-0BB1-D76A-443A-150AE3207F77}"/>
              </a:ext>
            </a:extLst>
          </p:cNvPr>
          <p:cNvGraphicFramePr>
            <a:graphicFrameLocks noGrp="1"/>
          </p:cNvGraphicFramePr>
          <p:nvPr/>
        </p:nvGraphicFramePr>
        <p:xfrm>
          <a:off x="6345936" y="1292773"/>
          <a:ext cx="6025010" cy="5121436"/>
        </p:xfrm>
        <a:graphic>
          <a:graphicData uri="http://schemas.openxmlformats.org/drawingml/2006/table">
            <a:tbl>
              <a:tblPr firstRow="1" firstCol="1" bandRow="1">
                <a:tableStyleId>{5C22544A-7EE6-4342-B048-85BDC9FD1C3A}</a:tableStyleId>
              </a:tblPr>
              <a:tblGrid>
                <a:gridCol w="1205002">
                  <a:extLst>
                    <a:ext uri="{9D8B030D-6E8A-4147-A177-3AD203B41FA5}">
                      <a16:colId xmlns:a16="http://schemas.microsoft.com/office/drawing/2014/main" val="1345268359"/>
                    </a:ext>
                  </a:extLst>
                </a:gridCol>
                <a:gridCol w="1205002">
                  <a:extLst>
                    <a:ext uri="{9D8B030D-6E8A-4147-A177-3AD203B41FA5}">
                      <a16:colId xmlns:a16="http://schemas.microsoft.com/office/drawing/2014/main" val="21720568"/>
                    </a:ext>
                  </a:extLst>
                </a:gridCol>
                <a:gridCol w="1205002">
                  <a:extLst>
                    <a:ext uri="{9D8B030D-6E8A-4147-A177-3AD203B41FA5}">
                      <a16:colId xmlns:a16="http://schemas.microsoft.com/office/drawing/2014/main" val="2447802265"/>
                    </a:ext>
                  </a:extLst>
                </a:gridCol>
                <a:gridCol w="1205002">
                  <a:extLst>
                    <a:ext uri="{9D8B030D-6E8A-4147-A177-3AD203B41FA5}">
                      <a16:colId xmlns:a16="http://schemas.microsoft.com/office/drawing/2014/main" val="2986795500"/>
                    </a:ext>
                  </a:extLst>
                </a:gridCol>
                <a:gridCol w="1205002">
                  <a:extLst>
                    <a:ext uri="{9D8B030D-6E8A-4147-A177-3AD203B41FA5}">
                      <a16:colId xmlns:a16="http://schemas.microsoft.com/office/drawing/2014/main" val="1403842571"/>
                    </a:ext>
                  </a:extLst>
                </a:gridCol>
              </a:tblGrid>
              <a:tr h="493825">
                <a:tc>
                  <a:txBody>
                    <a:bodyPr/>
                    <a:lstStyle/>
                    <a:p>
                      <a:pPr marL="0" marR="0">
                        <a:lnSpc>
                          <a:spcPct val="115000"/>
                        </a:lnSpc>
                        <a:spcAft>
                          <a:spcPts val="800"/>
                        </a:spcAft>
                        <a:buNone/>
                      </a:pPr>
                      <a:r>
                        <a:rPr lang="en-US" sz="1100" kern="100">
                          <a:effectLst/>
                        </a:rPr>
                        <a:t>STT</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65134" marB="65134"/>
                </a:tc>
                <a:tc>
                  <a:txBody>
                    <a:bodyPr/>
                    <a:lstStyle/>
                    <a:p>
                      <a:pPr marL="0" marR="0">
                        <a:lnSpc>
                          <a:spcPct val="115000"/>
                        </a:lnSpc>
                        <a:spcAft>
                          <a:spcPts val="800"/>
                        </a:spcAft>
                        <a:buNone/>
                      </a:pPr>
                      <a:r>
                        <a:rPr lang="en-US" sz="1100" kern="100">
                          <a:effectLst/>
                        </a:rPr>
                        <a:t>Hoạt động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65134" marB="65134"/>
                </a:tc>
                <a:tc>
                  <a:txBody>
                    <a:bodyPr/>
                    <a:lstStyle/>
                    <a:p>
                      <a:pPr marL="0" marR="0">
                        <a:lnSpc>
                          <a:spcPct val="115000"/>
                        </a:lnSpc>
                        <a:spcAft>
                          <a:spcPts val="800"/>
                        </a:spcAft>
                        <a:buNone/>
                      </a:pPr>
                      <a:r>
                        <a:rPr lang="en-US" sz="1100" kern="100">
                          <a:effectLst/>
                        </a:rPr>
                        <a:t>Thời gian xử lý (giờ)</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65134" marB="65134"/>
                </a:tc>
                <a:tc>
                  <a:txBody>
                    <a:bodyPr/>
                    <a:lstStyle/>
                    <a:p>
                      <a:pPr marL="0" marR="0">
                        <a:lnSpc>
                          <a:spcPct val="115000"/>
                        </a:lnSpc>
                        <a:spcAft>
                          <a:spcPts val="800"/>
                        </a:spcAft>
                        <a:buNone/>
                      </a:pPr>
                      <a:r>
                        <a:rPr lang="en-US" sz="1100" kern="100">
                          <a:effectLst/>
                        </a:rPr>
                        <a:t>Thời gian chờ (giờ)</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65134" marB="65134"/>
                </a:tc>
                <a:tc>
                  <a:txBody>
                    <a:bodyPr/>
                    <a:lstStyle/>
                    <a:p>
                      <a:pPr marL="0" marR="0">
                        <a:lnSpc>
                          <a:spcPct val="115000"/>
                        </a:lnSpc>
                        <a:spcAft>
                          <a:spcPts val="800"/>
                        </a:spcAft>
                        <a:buNone/>
                      </a:pPr>
                      <a:r>
                        <a:rPr lang="en-US" sz="1100" kern="100">
                          <a:effectLst/>
                        </a:rPr>
                        <a:t>Tổng thời gian (giờ)</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65134" marB="65134"/>
                </a:tc>
                <a:extLst>
                  <a:ext uri="{0D108BD9-81ED-4DB2-BD59-A6C34878D82A}">
                    <a16:rowId xmlns:a16="http://schemas.microsoft.com/office/drawing/2014/main" val="161361288"/>
                  </a:ext>
                </a:extLst>
              </a:tr>
              <a:tr h="499370">
                <a:tc>
                  <a:txBody>
                    <a:bodyPr/>
                    <a:lstStyle/>
                    <a:p>
                      <a:pPr marL="0" marR="0">
                        <a:lnSpc>
                          <a:spcPct val="115000"/>
                        </a:lnSpc>
                        <a:spcAft>
                          <a:spcPts val="800"/>
                        </a:spcAft>
                        <a:buNone/>
                      </a:pPr>
                      <a:r>
                        <a:rPr lang="en-US" sz="1100" kern="100">
                          <a:effectLst/>
                        </a:rPr>
                        <a:t>1</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Evaluate Capability</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16</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1584259530"/>
                  </a:ext>
                </a:extLst>
              </a:tr>
              <a:tr h="512282">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Send Audit Documentation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26</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4240591459"/>
                  </a:ext>
                </a:extLst>
              </a:tr>
              <a:tr h="512282">
                <a:tc>
                  <a:txBody>
                    <a:bodyPr/>
                    <a:lstStyle/>
                    <a:p>
                      <a:pPr marL="0" marR="0">
                        <a:lnSpc>
                          <a:spcPct val="115000"/>
                        </a:lnSpc>
                        <a:spcAft>
                          <a:spcPts val="800"/>
                        </a:spcAft>
                        <a:buNone/>
                      </a:pPr>
                      <a:r>
                        <a:rPr lang="en-US" sz="1100" kern="100">
                          <a:effectLst/>
                        </a:rPr>
                        <a:t>3</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Send Quality Documentation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16</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3517971901"/>
                  </a:ext>
                </a:extLst>
              </a:tr>
              <a:tr h="325687">
                <a:tc>
                  <a:txBody>
                    <a:bodyPr/>
                    <a:lstStyle/>
                    <a:p>
                      <a:pPr marL="0" marR="0">
                        <a:lnSpc>
                          <a:spcPct val="115000"/>
                        </a:lnSpc>
                        <a:spcAft>
                          <a:spcPts val="800"/>
                        </a:spcAft>
                        <a:buNone/>
                      </a:pPr>
                      <a:r>
                        <a:rPr lang="en-US" sz="1100" kern="100">
                          <a:effectLst/>
                        </a:rPr>
                        <a:t>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Quality Control</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12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2871173147"/>
                  </a:ext>
                </a:extLst>
              </a:tr>
              <a:tr h="512282">
                <a:tc>
                  <a:txBody>
                    <a:bodyPr/>
                    <a:lstStyle/>
                    <a:p>
                      <a:pPr marL="0" marR="0">
                        <a:lnSpc>
                          <a:spcPct val="115000"/>
                        </a:lnSpc>
                        <a:spcAft>
                          <a:spcPts val="800"/>
                        </a:spcAft>
                        <a:buNone/>
                      </a:pPr>
                      <a:r>
                        <a:rPr lang="en-US" sz="1100" kern="100">
                          <a:effectLst/>
                        </a:rPr>
                        <a:t>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Conduct Assessment</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12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1934588226"/>
                  </a:ext>
                </a:extLst>
              </a:tr>
              <a:tr h="499370">
                <a:tc>
                  <a:txBody>
                    <a:bodyPr/>
                    <a:lstStyle/>
                    <a:p>
                      <a:pPr marL="0" marR="0">
                        <a:lnSpc>
                          <a:spcPct val="115000"/>
                        </a:lnSpc>
                        <a:spcAft>
                          <a:spcPts val="800"/>
                        </a:spcAft>
                        <a:buNone/>
                      </a:pPr>
                      <a:r>
                        <a:rPr lang="en-US" sz="1100" kern="100">
                          <a:effectLst/>
                        </a:rPr>
                        <a:t>6</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Business Approval</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48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52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1294343783"/>
                  </a:ext>
                </a:extLst>
              </a:tr>
              <a:tr h="325687">
                <a:tc>
                  <a:txBody>
                    <a:bodyPr/>
                    <a:lstStyle/>
                    <a:p>
                      <a:pPr marL="0" marR="0">
                        <a:lnSpc>
                          <a:spcPct val="115000"/>
                        </a:lnSpc>
                        <a:spcAft>
                          <a:spcPts val="800"/>
                        </a:spcAft>
                        <a:buNone/>
                      </a:pPr>
                      <a:r>
                        <a:rPr lang="en-US" sz="1100" kern="100">
                          <a:effectLst/>
                        </a:rPr>
                        <a:t>7</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Receive Decision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1</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3</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1313478968"/>
                  </a:ext>
                </a:extLst>
              </a:tr>
              <a:tr h="512282">
                <a:tc>
                  <a:txBody>
                    <a:bodyPr/>
                    <a:lstStyle/>
                    <a:p>
                      <a:pPr marL="0" marR="0">
                        <a:lnSpc>
                          <a:spcPct val="115000"/>
                        </a:lnSpc>
                        <a:spcAft>
                          <a:spcPts val="800"/>
                        </a:spcAft>
                        <a:buNone/>
                      </a:pPr>
                      <a:r>
                        <a:rPr lang="en-US" sz="1100" kern="100">
                          <a:effectLst/>
                        </a:rPr>
                        <a:t>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Monitor Performance</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3508957429"/>
                  </a:ext>
                </a:extLst>
              </a:tr>
              <a:tr h="512282">
                <a:tc>
                  <a:txBody>
                    <a:bodyPr/>
                    <a:lstStyle/>
                    <a:p>
                      <a:pPr marL="0" marR="0">
                        <a:lnSpc>
                          <a:spcPct val="115000"/>
                        </a:lnSpc>
                        <a:spcAft>
                          <a:spcPts val="800"/>
                        </a:spcAft>
                        <a:buNone/>
                      </a:pPr>
                      <a:r>
                        <a:rPr lang="en-US" sz="1100" kern="100">
                          <a:effectLst/>
                        </a:rPr>
                        <a:t>9</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Service for Final Approval</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12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3358862865"/>
                  </a:ext>
                </a:extLst>
              </a:tr>
              <a:tr h="325687">
                <a:tc>
                  <a:txBody>
                    <a:bodyPr/>
                    <a:lstStyle/>
                    <a:p>
                      <a:pPr marL="0" marR="0">
                        <a:lnSpc>
                          <a:spcPct val="115000"/>
                        </a:lnSpc>
                        <a:spcAft>
                          <a:spcPts val="800"/>
                        </a:spcAft>
                        <a:buNone/>
                      </a:pPr>
                      <a:r>
                        <a:rPr lang="en-US" sz="1100" kern="100">
                          <a:effectLst/>
                        </a:rPr>
                        <a:t>10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Final Decision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a:effectLst/>
                        </a:rPr>
                        <a:t>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tc>
                  <a:txBody>
                    <a:bodyPr/>
                    <a:lstStyle/>
                    <a:p>
                      <a:pPr marL="0" marR="0">
                        <a:lnSpc>
                          <a:spcPct val="115000"/>
                        </a:lnSpc>
                        <a:spcAft>
                          <a:spcPts val="800"/>
                        </a:spcAft>
                        <a:buNone/>
                      </a:pPr>
                      <a:r>
                        <a:rPr lang="en-US" sz="1100" kern="100" dirty="0">
                          <a:effectLst/>
                        </a:rPr>
                        <a:t>6</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134" marR="65134" marT="74362" marB="74362" anchor="b"/>
                </a:tc>
                <a:extLst>
                  <a:ext uri="{0D108BD9-81ED-4DB2-BD59-A6C34878D82A}">
                    <a16:rowId xmlns:a16="http://schemas.microsoft.com/office/drawing/2014/main" val="1267344429"/>
                  </a:ext>
                </a:extLst>
              </a:tr>
            </a:tbl>
          </a:graphicData>
        </a:graphic>
      </p:graphicFrame>
    </p:spTree>
    <p:extLst>
      <p:ext uri="{BB962C8B-B14F-4D97-AF65-F5344CB8AC3E}">
        <p14:creationId xmlns:p14="http://schemas.microsoft.com/office/powerpoint/2010/main" val="987390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6CB0-3688-C094-F78B-01F911F5E5F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1E9AEB-EA35-60E9-5330-32DC298E7EA3}"/>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C0ED867A-A54A-1C87-521A-DC5656FA23FC}"/>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4BA4B69-8B88-8012-E5BD-4D940A30EE55}"/>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thời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BC78FE5-238B-CE71-BA5F-409F3060948E}"/>
              </a:ext>
            </a:extLst>
          </p:cNvPr>
          <p:cNvSpPr txBox="1"/>
          <p:nvPr/>
        </p:nvSpPr>
        <p:spPr>
          <a:xfrm>
            <a:off x="685800" y="3618052"/>
            <a:ext cx="6326036" cy="646331"/>
          </a:xfrm>
          <a:prstGeom prst="rect">
            <a:avLst/>
          </a:prstGeom>
          <a:noFill/>
        </p:spPr>
        <p:txBody>
          <a:bodyPr wrap="square">
            <a:spAutoFit/>
          </a:bodyPr>
          <a:lstStyle/>
          <a:p>
            <a:r>
              <a:rPr lang="vi-VN" dirty="0">
                <a:solidFill>
                  <a:schemeClr val="bg1"/>
                </a:solidFill>
                <a:latin typeface="+mj-lt"/>
              </a:rPr>
              <a:t>Tính toán đường dẫn cải tiến</a:t>
            </a:r>
            <a:r>
              <a:rPr lang="en-US" dirty="0">
                <a:solidFill>
                  <a:schemeClr val="bg1"/>
                </a:solidFill>
                <a:latin typeface="+mj-lt"/>
              </a:rPr>
              <a:t> (Final Approval = No)</a:t>
            </a:r>
            <a:r>
              <a:rPr lang="vi-VN" dirty="0">
                <a:solidFill>
                  <a:schemeClr val="bg1"/>
                </a:solidFill>
                <a:latin typeface="+mj-lt"/>
              </a:rPr>
              <a:t>:</a:t>
            </a:r>
          </a:p>
          <a:p>
            <a:r>
              <a:rPr lang="vi-VN" dirty="0">
                <a:solidFill>
                  <a:schemeClr val="bg1"/>
                </a:solidFill>
                <a:latin typeface="+mj-lt"/>
              </a:rPr>
              <a:t>Đường dẫn thành công + Hoạt động cải tiến = 177 + 48 = 225 giờ</a:t>
            </a:r>
          </a:p>
        </p:txBody>
      </p:sp>
      <p:graphicFrame>
        <p:nvGraphicFramePr>
          <p:cNvPr id="13" name="Table 12">
            <a:extLst>
              <a:ext uri="{FF2B5EF4-FFF2-40B4-BE49-F238E27FC236}">
                <a16:creationId xmlns:a16="http://schemas.microsoft.com/office/drawing/2014/main" id="{06B15123-F85A-82A8-F30B-B0619BCEF3DD}"/>
              </a:ext>
            </a:extLst>
          </p:cNvPr>
          <p:cNvGraphicFramePr>
            <a:graphicFrameLocks noGrp="1"/>
          </p:cNvGraphicFramePr>
          <p:nvPr>
            <p:extLst>
              <p:ext uri="{D42A27DB-BD31-4B8C-83A1-F6EECF244321}">
                <p14:modId xmlns:p14="http://schemas.microsoft.com/office/powerpoint/2010/main" val="1347951197"/>
              </p:ext>
            </p:extLst>
          </p:nvPr>
        </p:nvGraphicFramePr>
        <p:xfrm>
          <a:off x="710184" y="2285206"/>
          <a:ext cx="6384924" cy="854208"/>
        </p:xfrm>
        <a:graphic>
          <a:graphicData uri="http://schemas.openxmlformats.org/drawingml/2006/table">
            <a:tbl>
              <a:tblPr firstRow="1" firstCol="1" bandRow="1">
                <a:tableStyleId>{5C22544A-7EE6-4342-B048-85BDC9FD1C3A}</a:tableStyleId>
              </a:tblPr>
              <a:tblGrid>
                <a:gridCol w="1596231">
                  <a:extLst>
                    <a:ext uri="{9D8B030D-6E8A-4147-A177-3AD203B41FA5}">
                      <a16:colId xmlns:a16="http://schemas.microsoft.com/office/drawing/2014/main" val="1346512888"/>
                    </a:ext>
                  </a:extLst>
                </a:gridCol>
                <a:gridCol w="1596231">
                  <a:extLst>
                    <a:ext uri="{9D8B030D-6E8A-4147-A177-3AD203B41FA5}">
                      <a16:colId xmlns:a16="http://schemas.microsoft.com/office/drawing/2014/main" val="2528106793"/>
                    </a:ext>
                  </a:extLst>
                </a:gridCol>
                <a:gridCol w="1596231">
                  <a:extLst>
                    <a:ext uri="{9D8B030D-6E8A-4147-A177-3AD203B41FA5}">
                      <a16:colId xmlns:a16="http://schemas.microsoft.com/office/drawing/2014/main" val="3995970826"/>
                    </a:ext>
                  </a:extLst>
                </a:gridCol>
                <a:gridCol w="1596231">
                  <a:extLst>
                    <a:ext uri="{9D8B030D-6E8A-4147-A177-3AD203B41FA5}">
                      <a16:colId xmlns:a16="http://schemas.microsoft.com/office/drawing/2014/main" val="1666040258"/>
                    </a:ext>
                  </a:extLst>
                </a:gridCol>
              </a:tblGrid>
              <a:tr h="319131">
                <a:tc>
                  <a:txBody>
                    <a:bodyPr/>
                    <a:lstStyle/>
                    <a:p>
                      <a:pPr marL="0" marR="0">
                        <a:lnSpc>
                          <a:spcPct val="115000"/>
                        </a:lnSpc>
                        <a:spcAft>
                          <a:spcPts val="800"/>
                        </a:spcAft>
                        <a:buNone/>
                      </a:pPr>
                      <a:r>
                        <a:rPr lang="en-US" sz="1100" kern="100">
                          <a:effectLst/>
                        </a:rPr>
                        <a:t>Hoạt động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100" kern="100">
                          <a:effectLst/>
                        </a:rPr>
                        <a:t>Thời gian xử lý (giờ)</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100" kern="100">
                          <a:effectLst/>
                        </a:rPr>
                        <a:t>Thời gian chờ (giờ)</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100" kern="100">
                          <a:effectLst/>
                        </a:rPr>
                        <a:t>Tổng thời gian (giờ)</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extLst>
                  <a:ext uri="{0D108BD9-81ED-4DB2-BD59-A6C34878D82A}">
                    <a16:rowId xmlns:a16="http://schemas.microsoft.com/office/drawing/2014/main" val="2733979318"/>
                  </a:ext>
                </a:extLst>
              </a:tr>
              <a:tr h="529201">
                <a:tc>
                  <a:txBody>
                    <a:bodyPr/>
                    <a:lstStyle/>
                    <a:p>
                      <a:pPr marL="0" marR="0">
                        <a:lnSpc>
                          <a:spcPct val="115000"/>
                        </a:lnSpc>
                        <a:spcAft>
                          <a:spcPts val="800"/>
                        </a:spcAft>
                        <a:buNone/>
                      </a:pPr>
                      <a:r>
                        <a:rPr lang="en-US" sz="1100" kern="100">
                          <a:effectLst/>
                        </a:rPr>
                        <a:t>Implement Compliance Plan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100" kern="100" dirty="0">
                          <a:effectLst/>
                        </a:rPr>
                        <a:t>24</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100" kern="100">
                          <a:effectLst/>
                        </a:rPr>
                        <a:t>24</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100" kern="100" dirty="0">
                          <a:effectLst/>
                        </a:rPr>
                        <a:t>48</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extLst>
                  <a:ext uri="{0D108BD9-81ED-4DB2-BD59-A6C34878D82A}">
                    <a16:rowId xmlns:a16="http://schemas.microsoft.com/office/drawing/2014/main" val="1666665596"/>
                  </a:ext>
                </a:extLst>
              </a:tr>
            </a:tbl>
          </a:graphicData>
        </a:graphic>
      </p:graphicFrame>
    </p:spTree>
    <p:extLst>
      <p:ext uri="{BB962C8B-B14F-4D97-AF65-F5344CB8AC3E}">
        <p14:creationId xmlns:p14="http://schemas.microsoft.com/office/powerpoint/2010/main" val="2326105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15E47-3D2B-C064-EF78-1B82EBE374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588FD78-2FF4-C6B0-09FB-D80147F8F598}"/>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DFBBE1C0-E507-FD47-486E-A680FEAFAE49}"/>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F06AE5F-FBB8-D2CF-2DC4-2E0305C6FC58}"/>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thời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CD97338-EEA7-2FA2-60E1-070A5E800650}"/>
              </a:ext>
            </a:extLst>
          </p:cNvPr>
          <p:cNvSpPr txBox="1"/>
          <p:nvPr/>
        </p:nvSpPr>
        <p:spPr>
          <a:xfrm>
            <a:off x="762000" y="1675606"/>
            <a:ext cx="10515600" cy="2585323"/>
          </a:xfrm>
          <a:prstGeom prst="rect">
            <a:avLst/>
          </a:prstGeom>
          <a:noFill/>
        </p:spPr>
        <p:txBody>
          <a:bodyPr wrap="square">
            <a:spAutoFit/>
          </a:bodyPr>
          <a:lstStyle/>
          <a:p>
            <a:r>
              <a:rPr lang="vi-VN" dirty="0">
                <a:solidFill>
                  <a:schemeClr val="bg1"/>
                </a:solidFill>
                <a:latin typeface="+mj-lt"/>
              </a:rPr>
              <a:t>Xác suất tại các cổng XOR:</a:t>
            </a:r>
          </a:p>
          <a:p>
            <a:r>
              <a:rPr lang="vi-VN" dirty="0">
                <a:solidFill>
                  <a:schemeClr val="bg1"/>
                </a:solidFill>
                <a:latin typeface="+mj-lt"/>
              </a:rPr>
              <a:t>•	Cổng "</a:t>
            </a:r>
            <a:r>
              <a:rPr lang="vi-VN" dirty="0" err="1">
                <a:solidFill>
                  <a:schemeClr val="bg1"/>
                </a:solidFill>
                <a:latin typeface="+mj-lt"/>
              </a:rPr>
              <a:t>Qualified</a:t>
            </a:r>
            <a:r>
              <a:rPr lang="vi-VN" dirty="0">
                <a:solidFill>
                  <a:schemeClr val="bg1"/>
                </a:solidFill>
                <a:latin typeface="+mj-lt"/>
              </a:rPr>
              <a:t>" = 70% </a:t>
            </a:r>
            <a:r>
              <a:rPr lang="vi-VN" dirty="0" err="1">
                <a:solidFill>
                  <a:schemeClr val="bg1"/>
                </a:solidFill>
                <a:latin typeface="+mj-lt"/>
              </a:rPr>
              <a:t>Yes</a:t>
            </a:r>
            <a:r>
              <a:rPr lang="vi-VN" dirty="0">
                <a:solidFill>
                  <a:schemeClr val="bg1"/>
                </a:solidFill>
                <a:latin typeface="+mj-lt"/>
              </a:rPr>
              <a:t>, 30% No</a:t>
            </a:r>
          </a:p>
          <a:p>
            <a:r>
              <a:rPr lang="vi-VN" dirty="0">
                <a:solidFill>
                  <a:schemeClr val="bg1"/>
                </a:solidFill>
                <a:latin typeface="+mj-lt"/>
              </a:rPr>
              <a:t>•	Cổng "</a:t>
            </a:r>
            <a:r>
              <a:rPr lang="vi-VN" dirty="0" err="1">
                <a:solidFill>
                  <a:schemeClr val="bg1"/>
                </a:solidFill>
                <a:latin typeface="+mj-lt"/>
              </a:rPr>
              <a:t>Approved</a:t>
            </a:r>
            <a:r>
              <a:rPr lang="vi-VN" dirty="0">
                <a:solidFill>
                  <a:schemeClr val="bg1"/>
                </a:solidFill>
                <a:latin typeface="+mj-lt"/>
              </a:rPr>
              <a:t>" = 80% </a:t>
            </a:r>
            <a:r>
              <a:rPr lang="vi-VN" dirty="0" err="1">
                <a:solidFill>
                  <a:schemeClr val="bg1"/>
                </a:solidFill>
                <a:latin typeface="+mj-lt"/>
              </a:rPr>
              <a:t>Yes</a:t>
            </a:r>
            <a:r>
              <a:rPr lang="vi-VN" dirty="0">
                <a:solidFill>
                  <a:schemeClr val="bg1"/>
                </a:solidFill>
                <a:latin typeface="+mj-lt"/>
              </a:rPr>
              <a:t>, 20% No</a:t>
            </a:r>
          </a:p>
          <a:p>
            <a:r>
              <a:rPr lang="vi-VN" dirty="0">
                <a:solidFill>
                  <a:schemeClr val="bg1"/>
                </a:solidFill>
                <a:latin typeface="+mj-lt"/>
              </a:rPr>
              <a:t>•	Cổng "</a:t>
            </a:r>
            <a:r>
              <a:rPr lang="vi-VN" dirty="0" err="1">
                <a:solidFill>
                  <a:schemeClr val="bg1"/>
                </a:solidFill>
                <a:latin typeface="+mj-lt"/>
              </a:rPr>
              <a:t>Final</a:t>
            </a:r>
            <a:r>
              <a:rPr lang="vi-VN" dirty="0">
                <a:solidFill>
                  <a:schemeClr val="bg1"/>
                </a:solidFill>
                <a:latin typeface="+mj-lt"/>
              </a:rPr>
              <a:t> </a:t>
            </a:r>
            <a:r>
              <a:rPr lang="vi-VN" dirty="0" err="1">
                <a:solidFill>
                  <a:schemeClr val="bg1"/>
                </a:solidFill>
                <a:latin typeface="+mj-lt"/>
              </a:rPr>
              <a:t>Approval</a:t>
            </a:r>
            <a:r>
              <a:rPr lang="vi-VN" dirty="0">
                <a:solidFill>
                  <a:schemeClr val="bg1"/>
                </a:solidFill>
                <a:latin typeface="+mj-lt"/>
              </a:rPr>
              <a:t>" = 85% </a:t>
            </a:r>
            <a:r>
              <a:rPr lang="vi-VN" dirty="0" err="1">
                <a:solidFill>
                  <a:schemeClr val="bg1"/>
                </a:solidFill>
                <a:latin typeface="+mj-lt"/>
              </a:rPr>
              <a:t>Yes</a:t>
            </a:r>
            <a:r>
              <a:rPr lang="vi-VN" dirty="0">
                <a:solidFill>
                  <a:schemeClr val="bg1"/>
                </a:solidFill>
                <a:latin typeface="+mj-lt"/>
              </a:rPr>
              <a:t>, 15% No</a:t>
            </a:r>
            <a:endParaRPr lang="en-US" dirty="0">
              <a:solidFill>
                <a:schemeClr val="bg1"/>
              </a:solidFill>
              <a:latin typeface="+mj-lt"/>
            </a:endParaRPr>
          </a:p>
          <a:p>
            <a:endParaRPr lang="en-US" dirty="0">
              <a:solidFill>
                <a:schemeClr val="bg1"/>
              </a:solidFill>
              <a:latin typeface="+mj-lt"/>
            </a:endParaRPr>
          </a:p>
          <a:p>
            <a:r>
              <a:rPr lang="en-US" dirty="0" err="1">
                <a:solidFill>
                  <a:schemeClr val="bg1"/>
                </a:solidFill>
                <a:latin typeface="+mj-lt"/>
              </a:rPr>
              <a:t>Thời</a:t>
            </a:r>
            <a:r>
              <a:rPr lang="en-US" dirty="0">
                <a:solidFill>
                  <a:schemeClr val="bg1"/>
                </a:solidFill>
                <a:latin typeface="+mj-lt"/>
              </a:rPr>
              <a:t> </a:t>
            </a:r>
            <a:r>
              <a:rPr lang="en-US" dirty="0" err="1">
                <a:solidFill>
                  <a:schemeClr val="bg1"/>
                </a:solidFill>
                <a:latin typeface="+mj-lt"/>
              </a:rPr>
              <a:t>gian</a:t>
            </a:r>
            <a:r>
              <a:rPr lang="en-US" dirty="0">
                <a:solidFill>
                  <a:schemeClr val="bg1"/>
                </a:solidFill>
                <a:latin typeface="+mj-lt"/>
              </a:rPr>
              <a:t> chu </a:t>
            </a:r>
            <a:r>
              <a:rPr lang="en-US" dirty="0" err="1">
                <a:solidFill>
                  <a:schemeClr val="bg1"/>
                </a:solidFill>
                <a:latin typeface="+mj-lt"/>
              </a:rPr>
              <a:t>kỳ</a:t>
            </a:r>
            <a:r>
              <a:rPr lang="en-US" dirty="0">
                <a:solidFill>
                  <a:schemeClr val="bg1"/>
                </a:solidFill>
                <a:latin typeface="+mj-lt"/>
              </a:rPr>
              <a:t> </a:t>
            </a:r>
            <a:r>
              <a:rPr lang="en-US" dirty="0" err="1">
                <a:solidFill>
                  <a:schemeClr val="bg1"/>
                </a:solidFill>
                <a:latin typeface="+mj-lt"/>
              </a:rPr>
              <a:t>trung</a:t>
            </a:r>
            <a:r>
              <a:rPr lang="en-US" dirty="0">
                <a:solidFill>
                  <a:schemeClr val="bg1"/>
                </a:solidFill>
                <a:latin typeface="+mj-lt"/>
              </a:rPr>
              <a:t> </a:t>
            </a:r>
            <a:r>
              <a:rPr lang="en-US" dirty="0" err="1">
                <a:solidFill>
                  <a:schemeClr val="bg1"/>
                </a:solidFill>
                <a:latin typeface="+mj-lt"/>
              </a:rPr>
              <a:t>bình</a:t>
            </a:r>
            <a:r>
              <a:rPr lang="en-US" dirty="0">
                <a:solidFill>
                  <a:schemeClr val="bg1"/>
                </a:solidFill>
                <a:latin typeface="+mj-lt"/>
              </a:rPr>
              <a:t>:</a:t>
            </a:r>
          </a:p>
          <a:p>
            <a:r>
              <a:rPr lang="vi-VN" dirty="0">
                <a:solidFill>
                  <a:schemeClr val="bg1"/>
                </a:solidFill>
                <a:latin typeface="+mj-lt"/>
              </a:rPr>
              <a:t>Đường dẫn thành công: 177 giờ × 85% = 150.45 giờ</a:t>
            </a:r>
          </a:p>
          <a:p>
            <a:r>
              <a:rPr lang="vi-VN" dirty="0">
                <a:solidFill>
                  <a:schemeClr val="bg1"/>
                </a:solidFill>
                <a:latin typeface="+mj-lt"/>
              </a:rPr>
              <a:t>Đường dẫn cải tiến: 225 giờ × 15% = 33.75 giờ</a:t>
            </a:r>
          </a:p>
          <a:p>
            <a:r>
              <a:rPr lang="vi-VN" dirty="0">
                <a:solidFill>
                  <a:schemeClr val="bg1"/>
                </a:solidFill>
                <a:latin typeface="+mj-lt"/>
              </a:rPr>
              <a:t>Tổng cộng: 150.45 + 33.75 = 184.2 giờ</a:t>
            </a:r>
          </a:p>
        </p:txBody>
      </p:sp>
    </p:spTree>
    <p:extLst>
      <p:ext uri="{BB962C8B-B14F-4D97-AF65-F5344CB8AC3E}">
        <p14:creationId xmlns:p14="http://schemas.microsoft.com/office/powerpoint/2010/main" val="4036405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4397E-25CF-B5F8-9DA9-815907387B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36DD1F-1D8B-D59B-0411-BF39A8096D38}"/>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C5515620-7545-15C6-7399-9BC02F3949B6}"/>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D377A40-1777-F9C4-27FF-CCDA7ACBF87B}"/>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thời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1EC10E-17CC-FFB1-6979-907F0E6278EE}"/>
              </a:ext>
            </a:extLst>
          </p:cNvPr>
          <p:cNvSpPr txBox="1"/>
          <p:nvPr/>
        </p:nvSpPr>
        <p:spPr>
          <a:xfrm>
            <a:off x="62238" y="1675606"/>
            <a:ext cx="6326036" cy="3970318"/>
          </a:xfrm>
          <a:prstGeom prst="rect">
            <a:avLst/>
          </a:prstGeom>
          <a:noFill/>
        </p:spPr>
        <p:txBody>
          <a:bodyPr wrap="square">
            <a:spAutoFit/>
          </a:bodyPr>
          <a:lstStyle/>
          <a:p>
            <a:r>
              <a:rPr lang="vi-VN" dirty="0">
                <a:solidFill>
                  <a:schemeClr val="bg1"/>
                </a:solidFill>
                <a:latin typeface="+mj-lt"/>
              </a:rPr>
              <a:t>Tổng thời gian xử lý</a:t>
            </a:r>
            <a:r>
              <a:rPr lang="en-US" dirty="0">
                <a:solidFill>
                  <a:schemeClr val="bg1"/>
                </a:solidFill>
                <a:latin typeface="+mj-lt"/>
              </a:rPr>
              <a:t>:</a:t>
            </a:r>
            <a:endParaRPr lang="vi-VN" dirty="0">
              <a:solidFill>
                <a:schemeClr val="bg1"/>
              </a:solidFill>
              <a:latin typeface="+mj-lt"/>
            </a:endParaRPr>
          </a:p>
          <a:p>
            <a:r>
              <a:rPr lang="vi-VN" dirty="0" err="1">
                <a:solidFill>
                  <a:schemeClr val="bg1"/>
                </a:solidFill>
                <a:latin typeface="+mj-lt"/>
              </a:rPr>
              <a:t>Evaluate</a:t>
            </a:r>
            <a:r>
              <a:rPr lang="vi-VN" dirty="0">
                <a:solidFill>
                  <a:schemeClr val="bg1"/>
                </a:solidFill>
                <a:latin typeface="+mj-lt"/>
              </a:rPr>
              <a:t> </a:t>
            </a:r>
            <a:r>
              <a:rPr lang="vi-VN" dirty="0" err="1">
                <a:solidFill>
                  <a:schemeClr val="bg1"/>
                </a:solidFill>
                <a:latin typeface="+mj-lt"/>
              </a:rPr>
              <a:t>Capability</a:t>
            </a:r>
            <a:r>
              <a:rPr lang="vi-VN" dirty="0">
                <a:solidFill>
                  <a:schemeClr val="bg1"/>
                </a:solidFill>
                <a:latin typeface="+mj-lt"/>
              </a:rPr>
              <a:t>: 16 giờ</a:t>
            </a:r>
          </a:p>
          <a:p>
            <a:r>
              <a:rPr lang="vi-VN" dirty="0" err="1">
                <a:solidFill>
                  <a:schemeClr val="bg1"/>
                </a:solidFill>
                <a:latin typeface="+mj-lt"/>
              </a:rPr>
              <a:t>Send</a:t>
            </a:r>
            <a:r>
              <a:rPr lang="vi-VN" dirty="0">
                <a:solidFill>
                  <a:schemeClr val="bg1"/>
                </a:solidFill>
                <a:latin typeface="+mj-lt"/>
              </a:rPr>
              <a:t> </a:t>
            </a:r>
            <a:r>
              <a:rPr lang="vi-VN" dirty="0" err="1">
                <a:solidFill>
                  <a:schemeClr val="bg1"/>
                </a:solidFill>
                <a:latin typeface="+mj-lt"/>
              </a:rPr>
              <a:t>Audit</a:t>
            </a:r>
            <a:r>
              <a:rPr lang="vi-VN" dirty="0">
                <a:solidFill>
                  <a:schemeClr val="bg1"/>
                </a:solidFill>
                <a:latin typeface="+mj-lt"/>
              </a:rPr>
              <a:t> </a:t>
            </a:r>
            <a:r>
              <a:rPr lang="vi-VN" dirty="0" err="1">
                <a:solidFill>
                  <a:schemeClr val="bg1"/>
                </a:solidFill>
                <a:latin typeface="+mj-lt"/>
              </a:rPr>
              <a:t>Documentation</a:t>
            </a:r>
            <a:r>
              <a:rPr lang="vi-VN" dirty="0">
                <a:solidFill>
                  <a:schemeClr val="bg1"/>
                </a:solidFill>
                <a:latin typeface="+mj-lt"/>
              </a:rPr>
              <a:t>: 2 giờ</a:t>
            </a:r>
          </a:p>
          <a:p>
            <a:r>
              <a:rPr lang="vi-VN" dirty="0" err="1">
                <a:solidFill>
                  <a:schemeClr val="bg1"/>
                </a:solidFill>
                <a:latin typeface="+mj-lt"/>
              </a:rPr>
              <a:t>Send</a:t>
            </a:r>
            <a:r>
              <a:rPr lang="vi-VN" dirty="0">
                <a:solidFill>
                  <a:schemeClr val="bg1"/>
                </a:solidFill>
                <a:latin typeface="+mj-lt"/>
              </a:rPr>
              <a:t> </a:t>
            </a:r>
            <a:r>
              <a:rPr lang="vi-VN" dirty="0" err="1">
                <a:solidFill>
                  <a:schemeClr val="bg1"/>
                </a:solidFill>
                <a:latin typeface="+mj-lt"/>
              </a:rPr>
              <a:t>Quality</a:t>
            </a:r>
            <a:r>
              <a:rPr lang="vi-VN" dirty="0">
                <a:solidFill>
                  <a:schemeClr val="bg1"/>
                </a:solidFill>
                <a:latin typeface="+mj-lt"/>
              </a:rPr>
              <a:t> </a:t>
            </a:r>
            <a:r>
              <a:rPr lang="vi-VN" dirty="0" err="1">
                <a:solidFill>
                  <a:schemeClr val="bg1"/>
                </a:solidFill>
                <a:latin typeface="+mj-lt"/>
              </a:rPr>
              <a:t>Documentation</a:t>
            </a:r>
            <a:r>
              <a:rPr lang="vi-VN" dirty="0">
                <a:solidFill>
                  <a:schemeClr val="bg1"/>
                </a:solidFill>
                <a:latin typeface="+mj-lt"/>
              </a:rPr>
              <a:t>: 4 giờ</a:t>
            </a:r>
          </a:p>
          <a:p>
            <a:r>
              <a:rPr lang="vi-VN" dirty="0" err="1">
                <a:solidFill>
                  <a:schemeClr val="bg1"/>
                </a:solidFill>
                <a:latin typeface="+mj-lt"/>
              </a:rPr>
              <a:t>Quality</a:t>
            </a:r>
            <a:r>
              <a:rPr lang="vi-VN" dirty="0">
                <a:solidFill>
                  <a:schemeClr val="bg1"/>
                </a:solidFill>
                <a:latin typeface="+mj-lt"/>
              </a:rPr>
              <a:t> </a:t>
            </a:r>
            <a:r>
              <a:rPr lang="vi-VN" dirty="0" err="1">
                <a:solidFill>
                  <a:schemeClr val="bg1"/>
                </a:solidFill>
                <a:latin typeface="+mj-lt"/>
              </a:rPr>
              <a:t>Control</a:t>
            </a:r>
            <a:r>
              <a:rPr lang="vi-VN" dirty="0">
                <a:solidFill>
                  <a:schemeClr val="bg1"/>
                </a:solidFill>
                <a:latin typeface="+mj-lt"/>
              </a:rPr>
              <a:t>: 8 giờ</a:t>
            </a:r>
          </a:p>
          <a:p>
            <a:r>
              <a:rPr lang="vi-VN" dirty="0" err="1">
                <a:solidFill>
                  <a:schemeClr val="bg1"/>
                </a:solidFill>
                <a:latin typeface="+mj-lt"/>
              </a:rPr>
              <a:t>Conduct</a:t>
            </a:r>
            <a:r>
              <a:rPr lang="vi-VN" dirty="0">
                <a:solidFill>
                  <a:schemeClr val="bg1"/>
                </a:solidFill>
                <a:latin typeface="+mj-lt"/>
              </a:rPr>
              <a:t> </a:t>
            </a:r>
            <a:r>
              <a:rPr lang="vi-VN" dirty="0" err="1">
                <a:solidFill>
                  <a:schemeClr val="bg1"/>
                </a:solidFill>
                <a:latin typeface="+mj-lt"/>
              </a:rPr>
              <a:t>Assessment</a:t>
            </a:r>
            <a:r>
              <a:rPr lang="vi-VN" dirty="0">
                <a:solidFill>
                  <a:schemeClr val="bg1"/>
                </a:solidFill>
                <a:latin typeface="+mj-lt"/>
              </a:rPr>
              <a:t>: 12 giờ</a:t>
            </a:r>
          </a:p>
          <a:p>
            <a:r>
              <a:rPr lang="vi-VN" dirty="0" err="1">
                <a:solidFill>
                  <a:schemeClr val="bg1"/>
                </a:solidFill>
                <a:latin typeface="+mj-lt"/>
              </a:rPr>
              <a:t>Business</a:t>
            </a:r>
            <a:r>
              <a:rPr lang="vi-VN" dirty="0">
                <a:solidFill>
                  <a:schemeClr val="bg1"/>
                </a:solidFill>
                <a:latin typeface="+mj-lt"/>
              </a:rPr>
              <a:t> </a:t>
            </a:r>
            <a:r>
              <a:rPr lang="vi-VN" dirty="0" err="1">
                <a:solidFill>
                  <a:schemeClr val="bg1"/>
                </a:solidFill>
                <a:latin typeface="+mj-lt"/>
              </a:rPr>
              <a:t>Approval</a:t>
            </a:r>
            <a:r>
              <a:rPr lang="vi-VN" dirty="0">
                <a:solidFill>
                  <a:schemeClr val="bg1"/>
                </a:solidFill>
                <a:latin typeface="+mj-lt"/>
              </a:rPr>
              <a:t>: 4 giờ</a:t>
            </a:r>
          </a:p>
          <a:p>
            <a:r>
              <a:rPr lang="vi-VN" dirty="0" err="1">
                <a:solidFill>
                  <a:schemeClr val="bg1"/>
                </a:solidFill>
                <a:latin typeface="+mj-lt"/>
              </a:rPr>
              <a:t>Receive</a:t>
            </a:r>
            <a:r>
              <a:rPr lang="vi-VN" dirty="0">
                <a:solidFill>
                  <a:schemeClr val="bg1"/>
                </a:solidFill>
                <a:latin typeface="+mj-lt"/>
              </a:rPr>
              <a:t> </a:t>
            </a:r>
            <a:r>
              <a:rPr lang="vi-VN" dirty="0" err="1">
                <a:solidFill>
                  <a:schemeClr val="bg1"/>
                </a:solidFill>
                <a:latin typeface="+mj-lt"/>
              </a:rPr>
              <a:t>Decision</a:t>
            </a:r>
            <a:r>
              <a:rPr lang="vi-VN" dirty="0">
                <a:solidFill>
                  <a:schemeClr val="bg1"/>
                </a:solidFill>
                <a:latin typeface="+mj-lt"/>
              </a:rPr>
              <a:t>: 1 giờ</a:t>
            </a:r>
          </a:p>
          <a:p>
            <a:r>
              <a:rPr lang="vi-VN" dirty="0" err="1">
                <a:solidFill>
                  <a:schemeClr val="bg1"/>
                </a:solidFill>
                <a:latin typeface="+mj-lt"/>
              </a:rPr>
              <a:t>Monitor</a:t>
            </a:r>
            <a:r>
              <a:rPr lang="vi-VN" dirty="0">
                <a:solidFill>
                  <a:schemeClr val="bg1"/>
                </a:solidFill>
                <a:latin typeface="+mj-lt"/>
              </a:rPr>
              <a:t> </a:t>
            </a:r>
            <a:r>
              <a:rPr lang="vi-VN" dirty="0" err="1">
                <a:solidFill>
                  <a:schemeClr val="bg1"/>
                </a:solidFill>
                <a:latin typeface="+mj-lt"/>
              </a:rPr>
              <a:t>Performance</a:t>
            </a:r>
            <a:r>
              <a:rPr lang="vi-VN" dirty="0">
                <a:solidFill>
                  <a:schemeClr val="bg1"/>
                </a:solidFill>
                <a:latin typeface="+mj-lt"/>
              </a:rPr>
              <a:t>: 2 giờ</a:t>
            </a:r>
          </a:p>
          <a:p>
            <a:r>
              <a:rPr lang="vi-VN" dirty="0" err="1">
                <a:solidFill>
                  <a:schemeClr val="bg1"/>
                </a:solidFill>
                <a:latin typeface="+mj-lt"/>
              </a:rPr>
              <a:t>Service</a:t>
            </a:r>
            <a:r>
              <a:rPr lang="vi-VN" dirty="0">
                <a:solidFill>
                  <a:schemeClr val="bg1"/>
                </a:solidFill>
                <a:latin typeface="+mj-lt"/>
              </a:rPr>
              <a:t> </a:t>
            </a:r>
            <a:r>
              <a:rPr lang="vi-VN" dirty="0" err="1">
                <a:solidFill>
                  <a:schemeClr val="bg1"/>
                </a:solidFill>
                <a:latin typeface="+mj-lt"/>
              </a:rPr>
              <a:t>for</a:t>
            </a:r>
            <a:r>
              <a:rPr lang="vi-VN" dirty="0">
                <a:solidFill>
                  <a:schemeClr val="bg1"/>
                </a:solidFill>
                <a:latin typeface="+mj-lt"/>
              </a:rPr>
              <a:t> </a:t>
            </a:r>
            <a:r>
              <a:rPr lang="vi-VN" dirty="0" err="1">
                <a:solidFill>
                  <a:schemeClr val="bg1"/>
                </a:solidFill>
                <a:latin typeface="+mj-lt"/>
              </a:rPr>
              <a:t>Final</a:t>
            </a:r>
            <a:r>
              <a:rPr lang="vi-VN" dirty="0">
                <a:solidFill>
                  <a:schemeClr val="bg1"/>
                </a:solidFill>
                <a:latin typeface="+mj-lt"/>
              </a:rPr>
              <a:t> </a:t>
            </a:r>
            <a:r>
              <a:rPr lang="vi-VN" dirty="0" err="1">
                <a:solidFill>
                  <a:schemeClr val="bg1"/>
                </a:solidFill>
                <a:latin typeface="+mj-lt"/>
              </a:rPr>
              <a:t>Approval</a:t>
            </a:r>
            <a:r>
              <a:rPr lang="vi-VN" dirty="0">
                <a:solidFill>
                  <a:schemeClr val="bg1"/>
                </a:solidFill>
                <a:latin typeface="+mj-lt"/>
              </a:rPr>
              <a:t>: 4 giờ</a:t>
            </a:r>
          </a:p>
          <a:p>
            <a:r>
              <a:rPr lang="vi-VN" dirty="0" err="1">
                <a:solidFill>
                  <a:schemeClr val="bg1"/>
                </a:solidFill>
                <a:latin typeface="+mj-lt"/>
              </a:rPr>
              <a:t>Final</a:t>
            </a:r>
            <a:r>
              <a:rPr lang="vi-VN" dirty="0">
                <a:solidFill>
                  <a:schemeClr val="bg1"/>
                </a:solidFill>
                <a:latin typeface="+mj-lt"/>
              </a:rPr>
              <a:t> </a:t>
            </a:r>
            <a:r>
              <a:rPr lang="vi-VN" dirty="0" err="1">
                <a:solidFill>
                  <a:schemeClr val="bg1"/>
                </a:solidFill>
                <a:latin typeface="+mj-lt"/>
              </a:rPr>
              <a:t>Decision</a:t>
            </a:r>
            <a:r>
              <a:rPr lang="vi-VN" dirty="0">
                <a:solidFill>
                  <a:schemeClr val="bg1"/>
                </a:solidFill>
                <a:latin typeface="+mj-lt"/>
              </a:rPr>
              <a:t>: 2 giờ</a:t>
            </a:r>
          </a:p>
          <a:p>
            <a:r>
              <a:rPr lang="vi-VN" dirty="0" err="1">
                <a:solidFill>
                  <a:schemeClr val="bg1"/>
                </a:solidFill>
                <a:latin typeface="+mj-lt"/>
              </a:rPr>
              <a:t>Implement</a:t>
            </a:r>
            <a:r>
              <a:rPr lang="vi-VN" dirty="0">
                <a:solidFill>
                  <a:schemeClr val="bg1"/>
                </a:solidFill>
                <a:latin typeface="+mj-lt"/>
              </a:rPr>
              <a:t> </a:t>
            </a:r>
            <a:r>
              <a:rPr lang="vi-VN" dirty="0" err="1">
                <a:solidFill>
                  <a:schemeClr val="bg1"/>
                </a:solidFill>
                <a:latin typeface="+mj-lt"/>
              </a:rPr>
              <a:t>Compliance</a:t>
            </a:r>
            <a:r>
              <a:rPr lang="vi-VN" dirty="0">
                <a:solidFill>
                  <a:schemeClr val="bg1"/>
                </a:solidFill>
                <a:latin typeface="+mj-lt"/>
              </a:rPr>
              <a:t> </a:t>
            </a:r>
            <a:r>
              <a:rPr lang="vi-VN" dirty="0" err="1">
                <a:solidFill>
                  <a:schemeClr val="bg1"/>
                </a:solidFill>
                <a:latin typeface="+mj-lt"/>
              </a:rPr>
              <a:t>Plan</a:t>
            </a:r>
            <a:r>
              <a:rPr lang="vi-VN" dirty="0">
                <a:solidFill>
                  <a:schemeClr val="bg1"/>
                </a:solidFill>
                <a:latin typeface="+mj-lt"/>
              </a:rPr>
              <a:t> (có trọng số): 24 × 0.15 = 3.6 giờ</a:t>
            </a:r>
          </a:p>
          <a:p>
            <a:endParaRPr lang="vi-VN" dirty="0">
              <a:solidFill>
                <a:schemeClr val="bg1"/>
              </a:solidFill>
              <a:latin typeface="+mj-lt"/>
            </a:endParaRPr>
          </a:p>
          <a:p>
            <a:r>
              <a:rPr lang="vi-VN" dirty="0">
                <a:solidFill>
                  <a:schemeClr val="bg1"/>
                </a:solidFill>
                <a:latin typeface="+mj-lt"/>
              </a:rPr>
              <a:t>Tổng: 16+2+4+8+12+4+1+2+4+2+3.6 = 58.6 giờ</a:t>
            </a:r>
          </a:p>
        </p:txBody>
      </p:sp>
      <p:sp>
        <p:nvSpPr>
          <p:cNvPr id="7" name="TextBox 6">
            <a:extLst>
              <a:ext uri="{FF2B5EF4-FFF2-40B4-BE49-F238E27FC236}">
                <a16:creationId xmlns:a16="http://schemas.microsoft.com/office/drawing/2014/main" id="{2899FA15-DED9-8601-E4F1-991CD80987FB}"/>
              </a:ext>
            </a:extLst>
          </p:cNvPr>
          <p:cNvSpPr txBox="1"/>
          <p:nvPr/>
        </p:nvSpPr>
        <p:spPr>
          <a:xfrm>
            <a:off x="6553200" y="1563430"/>
            <a:ext cx="6326036" cy="4247317"/>
          </a:xfrm>
          <a:prstGeom prst="rect">
            <a:avLst/>
          </a:prstGeom>
          <a:noFill/>
        </p:spPr>
        <p:txBody>
          <a:bodyPr wrap="square">
            <a:spAutoFit/>
          </a:bodyPr>
          <a:lstStyle/>
          <a:p>
            <a:r>
              <a:rPr lang="en-US" dirty="0" err="1">
                <a:solidFill>
                  <a:schemeClr val="bg1"/>
                </a:solidFill>
                <a:latin typeface="+mj-lt"/>
              </a:rPr>
              <a:t>Tổng</a:t>
            </a:r>
            <a:r>
              <a:rPr lang="en-US" dirty="0">
                <a:solidFill>
                  <a:schemeClr val="bg1"/>
                </a:solidFill>
                <a:latin typeface="+mj-lt"/>
              </a:rPr>
              <a:t> </a:t>
            </a:r>
            <a:r>
              <a:rPr lang="en-US" dirty="0" err="1">
                <a:solidFill>
                  <a:schemeClr val="bg1"/>
                </a:solidFill>
                <a:latin typeface="+mj-lt"/>
              </a:rPr>
              <a:t>thời</a:t>
            </a:r>
            <a:r>
              <a:rPr lang="en-US" dirty="0">
                <a:solidFill>
                  <a:schemeClr val="bg1"/>
                </a:solidFill>
                <a:latin typeface="+mj-lt"/>
              </a:rPr>
              <a:t> </a:t>
            </a:r>
            <a:r>
              <a:rPr lang="en-US" dirty="0" err="1">
                <a:solidFill>
                  <a:schemeClr val="bg1"/>
                </a:solidFill>
                <a:latin typeface="+mj-lt"/>
              </a:rPr>
              <a:t>gian</a:t>
            </a:r>
            <a:r>
              <a:rPr lang="en-US" dirty="0">
                <a:solidFill>
                  <a:schemeClr val="bg1"/>
                </a:solidFill>
                <a:latin typeface="+mj-lt"/>
              </a:rPr>
              <a:t> </a:t>
            </a:r>
            <a:r>
              <a:rPr lang="en-US" dirty="0" err="1">
                <a:solidFill>
                  <a:schemeClr val="bg1"/>
                </a:solidFill>
                <a:latin typeface="+mj-lt"/>
              </a:rPr>
              <a:t>chờ</a:t>
            </a:r>
            <a:r>
              <a:rPr lang="en-US" dirty="0">
                <a:solidFill>
                  <a:schemeClr val="bg1"/>
                </a:solidFill>
                <a:latin typeface="+mj-lt"/>
              </a:rPr>
              <a:t>:</a:t>
            </a:r>
            <a:endParaRPr lang="vi-VN" dirty="0">
              <a:solidFill>
                <a:schemeClr val="bg1"/>
              </a:solidFill>
              <a:latin typeface="+mj-lt"/>
            </a:endParaRPr>
          </a:p>
          <a:p>
            <a:endParaRPr lang="vi-VN" dirty="0">
              <a:solidFill>
                <a:schemeClr val="bg1"/>
              </a:solidFill>
              <a:latin typeface="+mj-lt"/>
            </a:endParaRPr>
          </a:p>
          <a:p>
            <a:r>
              <a:rPr lang="vi-VN" dirty="0" err="1">
                <a:solidFill>
                  <a:schemeClr val="bg1"/>
                </a:solidFill>
                <a:latin typeface="+mj-lt"/>
              </a:rPr>
              <a:t>Evaluate</a:t>
            </a:r>
            <a:r>
              <a:rPr lang="vi-VN" dirty="0">
                <a:solidFill>
                  <a:schemeClr val="bg1"/>
                </a:solidFill>
                <a:latin typeface="+mj-lt"/>
              </a:rPr>
              <a:t> </a:t>
            </a:r>
            <a:r>
              <a:rPr lang="vi-VN" dirty="0" err="1">
                <a:solidFill>
                  <a:schemeClr val="bg1"/>
                </a:solidFill>
                <a:latin typeface="+mj-lt"/>
              </a:rPr>
              <a:t>Capability</a:t>
            </a:r>
            <a:r>
              <a:rPr lang="vi-VN" dirty="0">
                <a:solidFill>
                  <a:schemeClr val="bg1"/>
                </a:solidFill>
                <a:latin typeface="+mj-lt"/>
              </a:rPr>
              <a:t>: 8 giờ</a:t>
            </a:r>
          </a:p>
          <a:p>
            <a:r>
              <a:rPr lang="vi-VN" dirty="0" err="1">
                <a:solidFill>
                  <a:schemeClr val="bg1"/>
                </a:solidFill>
                <a:latin typeface="+mj-lt"/>
              </a:rPr>
              <a:t>Send</a:t>
            </a:r>
            <a:r>
              <a:rPr lang="vi-VN" dirty="0">
                <a:solidFill>
                  <a:schemeClr val="bg1"/>
                </a:solidFill>
                <a:latin typeface="+mj-lt"/>
              </a:rPr>
              <a:t> </a:t>
            </a:r>
            <a:r>
              <a:rPr lang="vi-VN" dirty="0" err="1">
                <a:solidFill>
                  <a:schemeClr val="bg1"/>
                </a:solidFill>
                <a:latin typeface="+mj-lt"/>
              </a:rPr>
              <a:t>Audit</a:t>
            </a:r>
            <a:r>
              <a:rPr lang="vi-VN" dirty="0">
                <a:solidFill>
                  <a:schemeClr val="bg1"/>
                </a:solidFill>
                <a:latin typeface="+mj-lt"/>
              </a:rPr>
              <a:t> </a:t>
            </a:r>
            <a:r>
              <a:rPr lang="vi-VN" dirty="0" err="1">
                <a:solidFill>
                  <a:schemeClr val="bg1"/>
                </a:solidFill>
                <a:latin typeface="+mj-lt"/>
              </a:rPr>
              <a:t>Documentation</a:t>
            </a:r>
            <a:r>
              <a:rPr lang="vi-VN" dirty="0">
                <a:solidFill>
                  <a:schemeClr val="bg1"/>
                </a:solidFill>
                <a:latin typeface="+mj-lt"/>
              </a:rPr>
              <a:t>: 24 giờ</a:t>
            </a:r>
          </a:p>
          <a:p>
            <a:r>
              <a:rPr lang="vi-VN" dirty="0" err="1">
                <a:solidFill>
                  <a:schemeClr val="bg1"/>
                </a:solidFill>
                <a:latin typeface="+mj-lt"/>
              </a:rPr>
              <a:t>Send</a:t>
            </a:r>
            <a:r>
              <a:rPr lang="vi-VN" dirty="0">
                <a:solidFill>
                  <a:schemeClr val="bg1"/>
                </a:solidFill>
                <a:latin typeface="+mj-lt"/>
              </a:rPr>
              <a:t> </a:t>
            </a:r>
            <a:r>
              <a:rPr lang="vi-VN" dirty="0" err="1">
                <a:solidFill>
                  <a:schemeClr val="bg1"/>
                </a:solidFill>
                <a:latin typeface="+mj-lt"/>
              </a:rPr>
              <a:t>Quality</a:t>
            </a:r>
            <a:r>
              <a:rPr lang="vi-VN" dirty="0">
                <a:solidFill>
                  <a:schemeClr val="bg1"/>
                </a:solidFill>
                <a:latin typeface="+mj-lt"/>
              </a:rPr>
              <a:t> </a:t>
            </a:r>
            <a:r>
              <a:rPr lang="vi-VN" dirty="0" err="1">
                <a:solidFill>
                  <a:schemeClr val="bg1"/>
                </a:solidFill>
                <a:latin typeface="+mj-lt"/>
              </a:rPr>
              <a:t>Documentation</a:t>
            </a:r>
            <a:r>
              <a:rPr lang="vi-VN" dirty="0">
                <a:solidFill>
                  <a:schemeClr val="bg1"/>
                </a:solidFill>
                <a:latin typeface="+mj-lt"/>
              </a:rPr>
              <a:t>: 16 giờ</a:t>
            </a:r>
          </a:p>
          <a:p>
            <a:r>
              <a:rPr lang="vi-VN" dirty="0" err="1">
                <a:solidFill>
                  <a:schemeClr val="bg1"/>
                </a:solidFill>
                <a:latin typeface="+mj-lt"/>
              </a:rPr>
              <a:t>Quality</a:t>
            </a:r>
            <a:r>
              <a:rPr lang="vi-VN" dirty="0">
                <a:solidFill>
                  <a:schemeClr val="bg1"/>
                </a:solidFill>
                <a:latin typeface="+mj-lt"/>
              </a:rPr>
              <a:t> </a:t>
            </a:r>
            <a:r>
              <a:rPr lang="vi-VN" dirty="0" err="1">
                <a:solidFill>
                  <a:schemeClr val="bg1"/>
                </a:solidFill>
                <a:latin typeface="+mj-lt"/>
              </a:rPr>
              <a:t>Control</a:t>
            </a:r>
            <a:r>
              <a:rPr lang="vi-VN" dirty="0">
                <a:solidFill>
                  <a:schemeClr val="bg1"/>
                </a:solidFill>
                <a:latin typeface="+mj-lt"/>
              </a:rPr>
              <a:t>: 4 giờ</a:t>
            </a:r>
          </a:p>
          <a:p>
            <a:r>
              <a:rPr lang="vi-VN" dirty="0" err="1">
                <a:solidFill>
                  <a:schemeClr val="bg1"/>
                </a:solidFill>
                <a:latin typeface="+mj-lt"/>
              </a:rPr>
              <a:t>Conduct</a:t>
            </a:r>
            <a:r>
              <a:rPr lang="vi-VN" dirty="0">
                <a:solidFill>
                  <a:schemeClr val="bg1"/>
                </a:solidFill>
                <a:latin typeface="+mj-lt"/>
              </a:rPr>
              <a:t> </a:t>
            </a:r>
            <a:r>
              <a:rPr lang="vi-VN" dirty="0" err="1">
                <a:solidFill>
                  <a:schemeClr val="bg1"/>
                </a:solidFill>
                <a:latin typeface="+mj-lt"/>
              </a:rPr>
              <a:t>Assessment</a:t>
            </a:r>
            <a:r>
              <a:rPr lang="vi-VN" dirty="0">
                <a:solidFill>
                  <a:schemeClr val="bg1"/>
                </a:solidFill>
                <a:latin typeface="+mj-lt"/>
              </a:rPr>
              <a:t>: 8 giờ</a:t>
            </a:r>
          </a:p>
          <a:p>
            <a:r>
              <a:rPr lang="vi-VN" dirty="0" err="1">
                <a:solidFill>
                  <a:schemeClr val="bg1"/>
                </a:solidFill>
                <a:latin typeface="+mj-lt"/>
              </a:rPr>
              <a:t>Business</a:t>
            </a:r>
            <a:r>
              <a:rPr lang="vi-VN" dirty="0">
                <a:solidFill>
                  <a:schemeClr val="bg1"/>
                </a:solidFill>
                <a:latin typeface="+mj-lt"/>
              </a:rPr>
              <a:t> </a:t>
            </a:r>
            <a:r>
              <a:rPr lang="vi-VN" dirty="0" err="1">
                <a:solidFill>
                  <a:schemeClr val="bg1"/>
                </a:solidFill>
                <a:latin typeface="+mj-lt"/>
              </a:rPr>
              <a:t>Approval</a:t>
            </a:r>
            <a:r>
              <a:rPr lang="vi-VN" dirty="0">
                <a:solidFill>
                  <a:schemeClr val="bg1"/>
                </a:solidFill>
                <a:latin typeface="+mj-lt"/>
              </a:rPr>
              <a:t>: 48 giờ</a:t>
            </a:r>
          </a:p>
          <a:p>
            <a:r>
              <a:rPr lang="vi-VN" dirty="0" err="1">
                <a:solidFill>
                  <a:schemeClr val="bg1"/>
                </a:solidFill>
                <a:latin typeface="+mj-lt"/>
              </a:rPr>
              <a:t>Receive</a:t>
            </a:r>
            <a:r>
              <a:rPr lang="vi-VN" dirty="0">
                <a:solidFill>
                  <a:schemeClr val="bg1"/>
                </a:solidFill>
                <a:latin typeface="+mj-lt"/>
              </a:rPr>
              <a:t> </a:t>
            </a:r>
            <a:r>
              <a:rPr lang="vi-VN" dirty="0" err="1">
                <a:solidFill>
                  <a:schemeClr val="bg1"/>
                </a:solidFill>
                <a:latin typeface="+mj-lt"/>
              </a:rPr>
              <a:t>Decision</a:t>
            </a:r>
            <a:r>
              <a:rPr lang="vi-VN" dirty="0">
                <a:solidFill>
                  <a:schemeClr val="bg1"/>
                </a:solidFill>
                <a:latin typeface="+mj-lt"/>
              </a:rPr>
              <a:t>: 2 giờ</a:t>
            </a:r>
          </a:p>
          <a:p>
            <a:r>
              <a:rPr lang="vi-VN" dirty="0" err="1">
                <a:solidFill>
                  <a:schemeClr val="bg1"/>
                </a:solidFill>
                <a:latin typeface="+mj-lt"/>
              </a:rPr>
              <a:t>Monitor</a:t>
            </a:r>
            <a:r>
              <a:rPr lang="vi-VN" dirty="0">
                <a:solidFill>
                  <a:schemeClr val="bg1"/>
                </a:solidFill>
                <a:latin typeface="+mj-lt"/>
              </a:rPr>
              <a:t> </a:t>
            </a:r>
            <a:r>
              <a:rPr lang="vi-VN" dirty="0" err="1">
                <a:solidFill>
                  <a:schemeClr val="bg1"/>
                </a:solidFill>
                <a:latin typeface="+mj-lt"/>
              </a:rPr>
              <a:t>Performance</a:t>
            </a:r>
            <a:r>
              <a:rPr lang="vi-VN" dirty="0">
                <a:solidFill>
                  <a:schemeClr val="bg1"/>
                </a:solidFill>
                <a:latin typeface="+mj-lt"/>
              </a:rPr>
              <a:t>: 0 giờ</a:t>
            </a:r>
          </a:p>
          <a:p>
            <a:r>
              <a:rPr lang="vi-VN" dirty="0" err="1">
                <a:solidFill>
                  <a:schemeClr val="bg1"/>
                </a:solidFill>
                <a:latin typeface="+mj-lt"/>
              </a:rPr>
              <a:t>Service</a:t>
            </a:r>
            <a:r>
              <a:rPr lang="vi-VN" dirty="0">
                <a:solidFill>
                  <a:schemeClr val="bg1"/>
                </a:solidFill>
                <a:latin typeface="+mj-lt"/>
              </a:rPr>
              <a:t> </a:t>
            </a:r>
            <a:r>
              <a:rPr lang="vi-VN" dirty="0" err="1">
                <a:solidFill>
                  <a:schemeClr val="bg1"/>
                </a:solidFill>
                <a:latin typeface="+mj-lt"/>
              </a:rPr>
              <a:t>for</a:t>
            </a:r>
            <a:r>
              <a:rPr lang="vi-VN" dirty="0">
                <a:solidFill>
                  <a:schemeClr val="bg1"/>
                </a:solidFill>
                <a:latin typeface="+mj-lt"/>
              </a:rPr>
              <a:t> </a:t>
            </a:r>
            <a:r>
              <a:rPr lang="vi-VN" dirty="0" err="1">
                <a:solidFill>
                  <a:schemeClr val="bg1"/>
                </a:solidFill>
                <a:latin typeface="+mj-lt"/>
              </a:rPr>
              <a:t>Final</a:t>
            </a:r>
            <a:r>
              <a:rPr lang="vi-VN" dirty="0">
                <a:solidFill>
                  <a:schemeClr val="bg1"/>
                </a:solidFill>
                <a:latin typeface="+mj-lt"/>
              </a:rPr>
              <a:t> </a:t>
            </a:r>
            <a:r>
              <a:rPr lang="vi-VN" dirty="0" err="1">
                <a:solidFill>
                  <a:schemeClr val="bg1"/>
                </a:solidFill>
                <a:latin typeface="+mj-lt"/>
              </a:rPr>
              <a:t>Approval</a:t>
            </a:r>
            <a:r>
              <a:rPr lang="vi-VN" dirty="0">
                <a:solidFill>
                  <a:schemeClr val="bg1"/>
                </a:solidFill>
                <a:latin typeface="+mj-lt"/>
              </a:rPr>
              <a:t>: 8 giờ</a:t>
            </a:r>
          </a:p>
          <a:p>
            <a:r>
              <a:rPr lang="vi-VN" dirty="0" err="1">
                <a:solidFill>
                  <a:schemeClr val="bg1"/>
                </a:solidFill>
                <a:latin typeface="+mj-lt"/>
              </a:rPr>
              <a:t>Final</a:t>
            </a:r>
            <a:r>
              <a:rPr lang="vi-VN" dirty="0">
                <a:solidFill>
                  <a:schemeClr val="bg1"/>
                </a:solidFill>
                <a:latin typeface="+mj-lt"/>
              </a:rPr>
              <a:t> </a:t>
            </a:r>
            <a:r>
              <a:rPr lang="vi-VN" dirty="0" err="1">
                <a:solidFill>
                  <a:schemeClr val="bg1"/>
                </a:solidFill>
                <a:latin typeface="+mj-lt"/>
              </a:rPr>
              <a:t>Decision</a:t>
            </a:r>
            <a:r>
              <a:rPr lang="vi-VN" dirty="0">
                <a:solidFill>
                  <a:schemeClr val="bg1"/>
                </a:solidFill>
                <a:latin typeface="+mj-lt"/>
              </a:rPr>
              <a:t>: 4 giờ</a:t>
            </a:r>
          </a:p>
          <a:p>
            <a:r>
              <a:rPr lang="vi-VN" dirty="0" err="1">
                <a:solidFill>
                  <a:schemeClr val="bg1"/>
                </a:solidFill>
                <a:latin typeface="+mj-lt"/>
              </a:rPr>
              <a:t>Implement</a:t>
            </a:r>
            <a:r>
              <a:rPr lang="vi-VN" dirty="0">
                <a:solidFill>
                  <a:schemeClr val="bg1"/>
                </a:solidFill>
                <a:latin typeface="+mj-lt"/>
              </a:rPr>
              <a:t> </a:t>
            </a:r>
            <a:r>
              <a:rPr lang="vi-VN" dirty="0" err="1">
                <a:solidFill>
                  <a:schemeClr val="bg1"/>
                </a:solidFill>
                <a:latin typeface="+mj-lt"/>
              </a:rPr>
              <a:t>Compliance</a:t>
            </a:r>
            <a:r>
              <a:rPr lang="vi-VN" dirty="0">
                <a:solidFill>
                  <a:schemeClr val="bg1"/>
                </a:solidFill>
                <a:latin typeface="+mj-lt"/>
              </a:rPr>
              <a:t> </a:t>
            </a:r>
            <a:r>
              <a:rPr lang="vi-VN" dirty="0" err="1">
                <a:solidFill>
                  <a:schemeClr val="bg1"/>
                </a:solidFill>
                <a:latin typeface="+mj-lt"/>
              </a:rPr>
              <a:t>Plan</a:t>
            </a:r>
            <a:r>
              <a:rPr lang="vi-VN" dirty="0">
                <a:solidFill>
                  <a:schemeClr val="bg1"/>
                </a:solidFill>
                <a:latin typeface="+mj-lt"/>
              </a:rPr>
              <a:t> (có trọng số): 24 × 0.15 = 3.6 giờ</a:t>
            </a:r>
          </a:p>
          <a:p>
            <a:endParaRPr lang="vi-VN" dirty="0">
              <a:solidFill>
                <a:schemeClr val="bg1"/>
              </a:solidFill>
              <a:latin typeface="+mj-lt"/>
            </a:endParaRPr>
          </a:p>
          <a:p>
            <a:r>
              <a:rPr lang="vi-VN" dirty="0">
                <a:solidFill>
                  <a:schemeClr val="bg1"/>
                </a:solidFill>
                <a:latin typeface="+mj-lt"/>
              </a:rPr>
              <a:t>Tổng: 8+24+16+4+8+48+2+0+8+4+3.6 = 125.6 giờ</a:t>
            </a:r>
          </a:p>
        </p:txBody>
      </p:sp>
      <p:sp>
        <p:nvSpPr>
          <p:cNvPr id="9" name="TextBox 8">
            <a:extLst>
              <a:ext uri="{FF2B5EF4-FFF2-40B4-BE49-F238E27FC236}">
                <a16:creationId xmlns:a16="http://schemas.microsoft.com/office/drawing/2014/main" id="{288C2566-7E44-CBD1-81CB-19018EE1495E}"/>
              </a:ext>
            </a:extLst>
          </p:cNvPr>
          <p:cNvSpPr txBox="1"/>
          <p:nvPr/>
        </p:nvSpPr>
        <p:spPr>
          <a:xfrm>
            <a:off x="2362200" y="6156327"/>
            <a:ext cx="6326036" cy="369332"/>
          </a:xfrm>
          <a:prstGeom prst="rect">
            <a:avLst/>
          </a:prstGeom>
          <a:noFill/>
        </p:spPr>
        <p:txBody>
          <a:bodyPr wrap="square">
            <a:spAutoFit/>
          </a:bodyPr>
          <a:lstStyle/>
          <a:p>
            <a:r>
              <a:rPr lang="vi-VN" dirty="0">
                <a:solidFill>
                  <a:schemeClr val="bg1"/>
                </a:solidFill>
                <a:latin typeface="+mj-lt"/>
              </a:rPr>
              <a:t>Hiệu suất = </a:t>
            </a:r>
            <a:r>
              <a:rPr lang="en-US" dirty="0">
                <a:solidFill>
                  <a:schemeClr val="bg1"/>
                </a:solidFill>
                <a:latin typeface="+mj-lt"/>
              </a:rPr>
              <a:t>58.6</a:t>
            </a:r>
            <a:r>
              <a:rPr lang="vi-VN" dirty="0">
                <a:solidFill>
                  <a:schemeClr val="bg1"/>
                </a:solidFill>
                <a:latin typeface="+mj-lt"/>
              </a:rPr>
              <a:t> giờ</a:t>
            </a:r>
            <a:r>
              <a:rPr lang="en-US" dirty="0">
                <a:solidFill>
                  <a:schemeClr val="bg1"/>
                </a:solidFill>
                <a:latin typeface="+mj-lt"/>
              </a:rPr>
              <a:t> </a:t>
            </a:r>
            <a:r>
              <a:rPr lang="vi-VN" dirty="0">
                <a:solidFill>
                  <a:schemeClr val="bg1"/>
                </a:solidFill>
                <a:latin typeface="+mj-lt"/>
              </a:rPr>
              <a:t> / 184 giờ = 0.505 = </a:t>
            </a:r>
            <a:r>
              <a:rPr lang="en-US" dirty="0">
                <a:solidFill>
                  <a:schemeClr val="bg1"/>
                </a:solidFill>
                <a:latin typeface="+mj-lt"/>
              </a:rPr>
              <a:t>31.85</a:t>
            </a:r>
            <a:r>
              <a:rPr lang="vi-VN" dirty="0">
                <a:solidFill>
                  <a:schemeClr val="bg1"/>
                </a:solidFill>
                <a:latin typeface="+mj-lt"/>
              </a:rPr>
              <a:t>%</a:t>
            </a:r>
          </a:p>
        </p:txBody>
      </p:sp>
    </p:spTree>
    <p:extLst>
      <p:ext uri="{BB962C8B-B14F-4D97-AF65-F5344CB8AC3E}">
        <p14:creationId xmlns:p14="http://schemas.microsoft.com/office/powerpoint/2010/main" val="2587845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7EC94-724C-1455-0BB3-B53D278742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93C10F-83FA-D038-A5BA-18A895603E2C}"/>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5F94D12C-A056-D4CE-3228-9717D4696145}"/>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7998C84-EB72-34E4-02DF-3F3FA9AE7524}"/>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chi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A7D0D3C-1E54-1753-388C-799A7DF3817E}"/>
              </a:ext>
            </a:extLst>
          </p:cNvPr>
          <p:cNvSpPr txBox="1"/>
          <p:nvPr/>
        </p:nvSpPr>
        <p:spPr>
          <a:xfrm>
            <a:off x="762000" y="1648962"/>
            <a:ext cx="6326036" cy="923330"/>
          </a:xfrm>
          <a:prstGeom prst="rect">
            <a:avLst/>
          </a:prstGeom>
          <a:noFill/>
        </p:spPr>
        <p:txBody>
          <a:bodyPr wrap="square">
            <a:spAutoFit/>
          </a:bodyPr>
          <a:lstStyle/>
          <a:p>
            <a:r>
              <a:rPr lang="vi-VN" dirty="0">
                <a:solidFill>
                  <a:schemeClr val="bg1"/>
                </a:solidFill>
                <a:latin typeface="+mj-lt"/>
              </a:rPr>
              <a:t>Tính toán chi phí </a:t>
            </a:r>
            <a:r>
              <a:rPr lang="en-US" dirty="0" err="1">
                <a:solidFill>
                  <a:schemeClr val="bg1"/>
                </a:solidFill>
                <a:latin typeface="+mj-lt"/>
              </a:rPr>
              <a:t>đường</a:t>
            </a:r>
            <a:r>
              <a:rPr lang="en-US" dirty="0">
                <a:solidFill>
                  <a:schemeClr val="bg1"/>
                </a:solidFill>
                <a:latin typeface="+mj-lt"/>
              </a:rPr>
              <a:t> </a:t>
            </a:r>
            <a:r>
              <a:rPr lang="en-US" dirty="0" err="1">
                <a:solidFill>
                  <a:schemeClr val="bg1"/>
                </a:solidFill>
                <a:latin typeface="+mj-lt"/>
              </a:rPr>
              <a:t>dẫn</a:t>
            </a:r>
            <a:r>
              <a:rPr lang="en-US" dirty="0">
                <a:solidFill>
                  <a:schemeClr val="bg1"/>
                </a:solidFill>
                <a:latin typeface="+mj-lt"/>
              </a:rPr>
              <a:t> </a:t>
            </a:r>
            <a:r>
              <a:rPr lang="en-US" dirty="0" err="1">
                <a:solidFill>
                  <a:schemeClr val="bg1"/>
                </a:solidFill>
                <a:latin typeface="+mj-lt"/>
              </a:rPr>
              <a:t>thành</a:t>
            </a:r>
            <a:r>
              <a:rPr lang="en-US" dirty="0">
                <a:solidFill>
                  <a:schemeClr val="bg1"/>
                </a:solidFill>
                <a:latin typeface="+mj-lt"/>
              </a:rPr>
              <a:t> </a:t>
            </a:r>
            <a:r>
              <a:rPr lang="en-US" dirty="0" err="1">
                <a:solidFill>
                  <a:schemeClr val="bg1"/>
                </a:solidFill>
                <a:latin typeface="+mj-lt"/>
              </a:rPr>
              <a:t>công</a:t>
            </a:r>
            <a:r>
              <a:rPr lang="en-US" dirty="0">
                <a:solidFill>
                  <a:schemeClr val="bg1"/>
                </a:solidFill>
                <a:latin typeface="+mj-lt"/>
              </a:rPr>
              <a:t> (Final Approval=YES)</a:t>
            </a:r>
            <a:r>
              <a:rPr lang="vi-VN" dirty="0">
                <a:solidFill>
                  <a:schemeClr val="bg1"/>
                </a:solidFill>
                <a:latin typeface="+mj-lt"/>
              </a:rPr>
              <a:t>:</a:t>
            </a:r>
          </a:p>
          <a:p>
            <a:r>
              <a:rPr lang="fr-FR" dirty="0">
                <a:solidFill>
                  <a:schemeClr val="bg1"/>
                </a:solidFill>
                <a:latin typeface="+mj-lt"/>
              </a:rPr>
              <a:t>1,000 + 150 + 300 + 700 + 1,000 + 300 + 75 + 150 + 450 + 600 + 300 + 150 = 5,175 EUR</a:t>
            </a:r>
          </a:p>
        </p:txBody>
      </p:sp>
      <p:graphicFrame>
        <p:nvGraphicFramePr>
          <p:cNvPr id="4" name="Table 3">
            <a:extLst>
              <a:ext uri="{FF2B5EF4-FFF2-40B4-BE49-F238E27FC236}">
                <a16:creationId xmlns:a16="http://schemas.microsoft.com/office/drawing/2014/main" id="{AE700017-11A2-A677-4A74-928C7407AAE6}"/>
              </a:ext>
            </a:extLst>
          </p:cNvPr>
          <p:cNvGraphicFramePr>
            <a:graphicFrameLocks noGrp="1"/>
          </p:cNvGraphicFramePr>
          <p:nvPr>
            <p:extLst>
              <p:ext uri="{D42A27DB-BD31-4B8C-83A1-F6EECF244321}">
                <p14:modId xmlns:p14="http://schemas.microsoft.com/office/powerpoint/2010/main" val="696383620"/>
              </p:ext>
            </p:extLst>
          </p:nvPr>
        </p:nvGraphicFramePr>
        <p:xfrm>
          <a:off x="7370790" y="1370806"/>
          <a:ext cx="4771950" cy="4699889"/>
        </p:xfrm>
        <a:graphic>
          <a:graphicData uri="http://schemas.openxmlformats.org/drawingml/2006/table">
            <a:tbl>
              <a:tblPr firstRow="1" firstCol="1" bandRow="1">
                <a:tableStyleId>{5C22544A-7EE6-4342-B048-85BDC9FD1C3A}</a:tableStyleId>
              </a:tblPr>
              <a:tblGrid>
                <a:gridCol w="954390">
                  <a:extLst>
                    <a:ext uri="{9D8B030D-6E8A-4147-A177-3AD203B41FA5}">
                      <a16:colId xmlns:a16="http://schemas.microsoft.com/office/drawing/2014/main" val="803397453"/>
                    </a:ext>
                  </a:extLst>
                </a:gridCol>
                <a:gridCol w="954390">
                  <a:extLst>
                    <a:ext uri="{9D8B030D-6E8A-4147-A177-3AD203B41FA5}">
                      <a16:colId xmlns:a16="http://schemas.microsoft.com/office/drawing/2014/main" val="1812591583"/>
                    </a:ext>
                  </a:extLst>
                </a:gridCol>
                <a:gridCol w="954390">
                  <a:extLst>
                    <a:ext uri="{9D8B030D-6E8A-4147-A177-3AD203B41FA5}">
                      <a16:colId xmlns:a16="http://schemas.microsoft.com/office/drawing/2014/main" val="3274951105"/>
                    </a:ext>
                  </a:extLst>
                </a:gridCol>
                <a:gridCol w="954390">
                  <a:extLst>
                    <a:ext uri="{9D8B030D-6E8A-4147-A177-3AD203B41FA5}">
                      <a16:colId xmlns:a16="http://schemas.microsoft.com/office/drawing/2014/main" val="3726708845"/>
                    </a:ext>
                  </a:extLst>
                </a:gridCol>
                <a:gridCol w="954390">
                  <a:extLst>
                    <a:ext uri="{9D8B030D-6E8A-4147-A177-3AD203B41FA5}">
                      <a16:colId xmlns:a16="http://schemas.microsoft.com/office/drawing/2014/main" val="1112969747"/>
                    </a:ext>
                  </a:extLst>
                </a:gridCol>
              </a:tblGrid>
              <a:tr h="380897">
                <a:tc>
                  <a:txBody>
                    <a:bodyPr/>
                    <a:lstStyle/>
                    <a:p>
                      <a:pPr marL="0" marR="0">
                        <a:lnSpc>
                          <a:spcPct val="115000"/>
                        </a:lnSpc>
                        <a:spcAft>
                          <a:spcPts val="800"/>
                        </a:spcAft>
                        <a:buNone/>
                      </a:pPr>
                      <a:r>
                        <a:rPr lang="en-US" sz="800" kern="100">
                          <a:effectLst/>
                        </a:rPr>
                        <a:t>STT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1589" marB="51589"/>
                </a:tc>
                <a:tc>
                  <a:txBody>
                    <a:bodyPr/>
                    <a:lstStyle/>
                    <a:p>
                      <a:pPr marL="0" marR="0">
                        <a:lnSpc>
                          <a:spcPct val="115000"/>
                        </a:lnSpc>
                        <a:spcAft>
                          <a:spcPts val="800"/>
                        </a:spcAft>
                        <a:buNone/>
                      </a:pPr>
                      <a:r>
                        <a:rPr lang="en-US" sz="800" kern="100">
                          <a:effectLst/>
                        </a:rPr>
                        <a:t>Hoạt động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1589" marB="51589"/>
                </a:tc>
                <a:tc>
                  <a:txBody>
                    <a:bodyPr/>
                    <a:lstStyle/>
                    <a:p>
                      <a:pPr marL="0" marR="0">
                        <a:lnSpc>
                          <a:spcPct val="115000"/>
                        </a:lnSpc>
                        <a:spcAft>
                          <a:spcPts val="800"/>
                        </a:spcAft>
                        <a:buNone/>
                      </a:pPr>
                      <a:r>
                        <a:rPr lang="en-US" sz="800" kern="100">
                          <a:effectLst/>
                        </a:rPr>
                        <a:t>Chi phí nhân sự (EUR)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1589" marB="51589"/>
                </a:tc>
                <a:tc>
                  <a:txBody>
                    <a:bodyPr/>
                    <a:lstStyle/>
                    <a:p>
                      <a:pPr marL="0" marR="0">
                        <a:lnSpc>
                          <a:spcPct val="115000"/>
                        </a:lnSpc>
                        <a:spcAft>
                          <a:spcPts val="800"/>
                        </a:spcAft>
                        <a:buNone/>
                      </a:pPr>
                      <a:r>
                        <a:rPr lang="en-US" sz="800" kern="100">
                          <a:effectLst/>
                        </a:rPr>
                        <a:t>Chi phí vận hành (EUR)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1589" marB="51589"/>
                </a:tc>
                <a:tc>
                  <a:txBody>
                    <a:bodyPr/>
                    <a:lstStyle/>
                    <a:p>
                      <a:pPr marL="0" marR="0">
                        <a:lnSpc>
                          <a:spcPct val="115000"/>
                        </a:lnSpc>
                        <a:spcAft>
                          <a:spcPts val="800"/>
                        </a:spcAft>
                        <a:buNone/>
                      </a:pPr>
                      <a:r>
                        <a:rPr lang="en-US" sz="800" kern="100">
                          <a:effectLst/>
                        </a:rPr>
                        <a:t>Tổng chi phí (EUR)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1589" marB="51589"/>
                </a:tc>
                <a:extLst>
                  <a:ext uri="{0D108BD9-81ED-4DB2-BD59-A6C34878D82A}">
                    <a16:rowId xmlns:a16="http://schemas.microsoft.com/office/drawing/2014/main" val="2974122633"/>
                  </a:ext>
                </a:extLst>
              </a:tr>
              <a:tr h="395512">
                <a:tc>
                  <a:txBody>
                    <a:bodyPr/>
                    <a:lstStyle/>
                    <a:p>
                      <a:pPr marL="0" marR="0">
                        <a:lnSpc>
                          <a:spcPct val="115000"/>
                        </a:lnSpc>
                        <a:spcAft>
                          <a:spcPts val="800"/>
                        </a:spcAft>
                        <a:buNone/>
                      </a:pPr>
                      <a:r>
                        <a:rPr lang="en-US" sz="800" kern="100">
                          <a:effectLst/>
                        </a:rPr>
                        <a:t>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Evaluate Capability</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800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200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3673749860"/>
                  </a:ext>
                </a:extLst>
              </a:tr>
              <a:tr h="395512">
                <a:tc>
                  <a:txBody>
                    <a:bodyPr/>
                    <a:lstStyle/>
                    <a:p>
                      <a:pPr marL="0" marR="0">
                        <a:lnSpc>
                          <a:spcPct val="115000"/>
                        </a:lnSpc>
                        <a:spcAft>
                          <a:spcPts val="800"/>
                        </a:spcAft>
                        <a:buNone/>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Send Audit Documentation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1850842810"/>
                  </a:ext>
                </a:extLst>
              </a:tr>
              <a:tr h="395512">
                <a:tc>
                  <a:txBody>
                    <a:bodyPr/>
                    <a:lstStyle/>
                    <a:p>
                      <a:pPr marL="0" marR="0">
                        <a:lnSpc>
                          <a:spcPct val="115000"/>
                        </a:lnSpc>
                        <a:spcAft>
                          <a:spcPts val="800"/>
                        </a:spcAft>
                        <a:buNone/>
                      </a:pPr>
                      <a:r>
                        <a:rPr lang="en-US" sz="800" kern="100">
                          <a:effectLst/>
                        </a:rPr>
                        <a:t>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Send Quality Documentation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200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300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1732182458"/>
                  </a:ext>
                </a:extLst>
              </a:tr>
              <a:tr h="253128">
                <a:tc>
                  <a:txBody>
                    <a:bodyPr/>
                    <a:lstStyle/>
                    <a:p>
                      <a:pPr marL="0" marR="0">
                        <a:lnSpc>
                          <a:spcPct val="115000"/>
                        </a:lnSpc>
                        <a:spcAft>
                          <a:spcPts val="800"/>
                        </a:spcAft>
                        <a:buNone/>
                      </a:pPr>
                      <a:r>
                        <a:rPr lang="en-US" sz="800" kern="100">
                          <a:effectLst/>
                        </a:rPr>
                        <a:t>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Quality Control</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400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300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700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3327313413"/>
                  </a:ext>
                </a:extLst>
              </a:tr>
              <a:tr h="395512">
                <a:tc>
                  <a:txBody>
                    <a:bodyPr/>
                    <a:lstStyle/>
                    <a:p>
                      <a:pPr marL="0" marR="0">
                        <a:lnSpc>
                          <a:spcPct val="115000"/>
                        </a:lnSpc>
                        <a:spcAft>
                          <a:spcPts val="800"/>
                        </a:spcAft>
                        <a:buNone/>
                      </a:pPr>
                      <a:r>
                        <a:rPr lang="en-US" sz="800" kern="100">
                          <a:effectLst/>
                        </a:rPr>
                        <a:t>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Conduct Assessment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600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400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1636950584"/>
                  </a:ext>
                </a:extLst>
              </a:tr>
              <a:tr h="395512">
                <a:tc>
                  <a:txBody>
                    <a:bodyPr/>
                    <a:lstStyle/>
                    <a:p>
                      <a:pPr marL="0" marR="0">
                        <a:lnSpc>
                          <a:spcPct val="115000"/>
                        </a:lnSpc>
                        <a:spcAft>
                          <a:spcPts val="800"/>
                        </a:spcAft>
                        <a:buNone/>
                      </a:pPr>
                      <a:r>
                        <a:rPr lang="en-US" sz="800" kern="100">
                          <a:effectLst/>
                        </a:rPr>
                        <a:t>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Business Approval</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200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300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3626431983"/>
                  </a:ext>
                </a:extLst>
              </a:tr>
              <a:tr h="253128">
                <a:tc>
                  <a:txBody>
                    <a:bodyPr/>
                    <a:lstStyle/>
                    <a:p>
                      <a:pPr marL="0" marR="0">
                        <a:lnSpc>
                          <a:spcPct val="115000"/>
                        </a:lnSpc>
                        <a:spcAft>
                          <a:spcPts val="800"/>
                        </a:spcAft>
                        <a:buNone/>
                      </a:pPr>
                      <a:r>
                        <a:rPr lang="en-US" sz="800" kern="100">
                          <a:effectLst/>
                        </a:rPr>
                        <a:t>7</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Receive Decision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25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75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525508152"/>
                  </a:ext>
                </a:extLst>
              </a:tr>
              <a:tr h="395512">
                <a:tc>
                  <a:txBody>
                    <a:bodyPr/>
                    <a:lstStyle/>
                    <a:p>
                      <a:pPr marL="0" marR="0">
                        <a:lnSpc>
                          <a:spcPct val="115000"/>
                        </a:lnSpc>
                        <a:spcAft>
                          <a:spcPts val="800"/>
                        </a:spcAft>
                        <a:buNone/>
                      </a:pPr>
                      <a:r>
                        <a:rPr lang="en-US" sz="800" kern="100">
                          <a:effectLst/>
                        </a:rPr>
                        <a:t>8</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Monitor Performance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125028174"/>
                  </a:ext>
                </a:extLst>
              </a:tr>
              <a:tr h="395512">
                <a:tc>
                  <a:txBody>
                    <a:bodyPr/>
                    <a:lstStyle/>
                    <a:p>
                      <a:pPr marL="0" marR="0">
                        <a:lnSpc>
                          <a:spcPct val="115000"/>
                        </a:lnSpc>
                        <a:spcAft>
                          <a:spcPts val="800"/>
                        </a:spcAft>
                        <a:buNone/>
                      </a:pPr>
                      <a:r>
                        <a:rPr lang="en-US" sz="800" kern="100">
                          <a:effectLst/>
                        </a:rPr>
                        <a:t>9</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Process Audit Request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300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450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2088059716"/>
                  </a:ext>
                </a:extLst>
              </a:tr>
              <a:tr h="395512">
                <a:tc>
                  <a:txBody>
                    <a:bodyPr/>
                    <a:lstStyle/>
                    <a:p>
                      <a:pPr marL="0" marR="0">
                        <a:lnSpc>
                          <a:spcPct val="115000"/>
                        </a:lnSpc>
                        <a:spcAft>
                          <a:spcPts val="800"/>
                        </a:spcAft>
                        <a:buNone/>
                      </a:pPr>
                      <a:r>
                        <a:rPr lang="en-US" sz="800" kern="100">
                          <a:effectLst/>
                        </a:rPr>
                        <a:t>10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Assess Quality Documentation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400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200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600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1975909307"/>
                  </a:ext>
                </a:extLst>
              </a:tr>
              <a:tr h="395512">
                <a:tc>
                  <a:txBody>
                    <a:bodyPr/>
                    <a:lstStyle/>
                    <a:p>
                      <a:pPr marL="0" marR="0">
                        <a:lnSpc>
                          <a:spcPct val="115000"/>
                        </a:lnSpc>
                        <a:spcAft>
                          <a:spcPts val="800"/>
                        </a:spcAft>
                        <a:buNone/>
                      </a:pPr>
                      <a:r>
                        <a:rPr lang="en-US" sz="800" kern="100">
                          <a:effectLst/>
                        </a:rPr>
                        <a:t>11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Service for Final Approval</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200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300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4242886031"/>
                  </a:ext>
                </a:extLst>
              </a:tr>
              <a:tr h="253128">
                <a:tc>
                  <a:txBody>
                    <a:bodyPr/>
                    <a:lstStyle/>
                    <a:p>
                      <a:pPr marL="0" marR="0">
                        <a:lnSpc>
                          <a:spcPct val="115000"/>
                        </a:lnSpc>
                        <a:spcAft>
                          <a:spcPts val="800"/>
                        </a:spcAft>
                        <a:buNone/>
                      </a:pPr>
                      <a:r>
                        <a:rPr lang="en-US" sz="800" kern="100">
                          <a:effectLst/>
                        </a:rPr>
                        <a:t>12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Final Decision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100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a:effectLst/>
                        </a:rPr>
                        <a:t>50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tc>
                  <a:txBody>
                    <a:bodyPr/>
                    <a:lstStyle/>
                    <a:p>
                      <a:pPr marL="0" marR="0">
                        <a:lnSpc>
                          <a:spcPct val="115000"/>
                        </a:lnSpc>
                        <a:spcAft>
                          <a:spcPts val="800"/>
                        </a:spcAft>
                        <a:buNone/>
                      </a:pPr>
                      <a:r>
                        <a:rPr lang="en-US" sz="800" kern="100" dirty="0">
                          <a:effectLst/>
                        </a:rPr>
                        <a:t>150</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1589" marR="51589" marT="58897" marB="58897" anchor="b"/>
                </a:tc>
                <a:extLst>
                  <a:ext uri="{0D108BD9-81ED-4DB2-BD59-A6C34878D82A}">
                    <a16:rowId xmlns:a16="http://schemas.microsoft.com/office/drawing/2014/main" val="3189809722"/>
                  </a:ext>
                </a:extLst>
              </a:tr>
            </a:tbl>
          </a:graphicData>
        </a:graphic>
      </p:graphicFrame>
    </p:spTree>
    <p:extLst>
      <p:ext uri="{BB962C8B-B14F-4D97-AF65-F5344CB8AC3E}">
        <p14:creationId xmlns:p14="http://schemas.microsoft.com/office/powerpoint/2010/main" val="1120858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72D9-BA4F-18AE-AF62-3B8FEEC809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A348C6-D2BD-9E48-486C-9F4576D14BA9}"/>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977B1175-815F-4DA1-AAFF-04256F322A1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C75C0A3-E167-AA0D-DEA7-4D64AA2C6CC2}"/>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chi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F23958A-4D87-081E-6B8C-2890712D770E}"/>
              </a:ext>
            </a:extLst>
          </p:cNvPr>
          <p:cNvSpPr txBox="1"/>
          <p:nvPr/>
        </p:nvSpPr>
        <p:spPr>
          <a:xfrm>
            <a:off x="685800" y="3159957"/>
            <a:ext cx="10744200" cy="646331"/>
          </a:xfrm>
          <a:prstGeom prst="rect">
            <a:avLst/>
          </a:prstGeom>
          <a:noFill/>
        </p:spPr>
        <p:txBody>
          <a:bodyPr wrap="square">
            <a:spAutoFit/>
          </a:bodyPr>
          <a:lstStyle/>
          <a:p>
            <a:r>
              <a:rPr lang="vi-VN" dirty="0">
                <a:solidFill>
                  <a:schemeClr val="bg1"/>
                </a:solidFill>
                <a:latin typeface="+mj-lt"/>
              </a:rPr>
              <a:t>Tính toán chi phí </a:t>
            </a:r>
            <a:r>
              <a:rPr lang="en-US" dirty="0" err="1">
                <a:solidFill>
                  <a:schemeClr val="bg1"/>
                </a:solidFill>
                <a:latin typeface="+mj-lt"/>
              </a:rPr>
              <a:t>đường</a:t>
            </a:r>
            <a:r>
              <a:rPr lang="en-US" dirty="0">
                <a:solidFill>
                  <a:schemeClr val="bg1"/>
                </a:solidFill>
                <a:latin typeface="+mj-lt"/>
              </a:rPr>
              <a:t> </a:t>
            </a:r>
            <a:r>
              <a:rPr lang="en-US" dirty="0" err="1">
                <a:solidFill>
                  <a:schemeClr val="bg1"/>
                </a:solidFill>
                <a:latin typeface="+mj-lt"/>
              </a:rPr>
              <a:t>dẫn</a:t>
            </a:r>
            <a:r>
              <a:rPr lang="en-US" dirty="0">
                <a:solidFill>
                  <a:schemeClr val="bg1"/>
                </a:solidFill>
                <a:latin typeface="+mj-lt"/>
              </a:rPr>
              <a:t> </a:t>
            </a:r>
            <a:r>
              <a:rPr lang="en-US" dirty="0" err="1">
                <a:solidFill>
                  <a:schemeClr val="bg1"/>
                </a:solidFill>
                <a:latin typeface="+mj-lt"/>
              </a:rPr>
              <a:t>cần</a:t>
            </a:r>
            <a:r>
              <a:rPr lang="en-US" dirty="0">
                <a:solidFill>
                  <a:schemeClr val="bg1"/>
                </a:solidFill>
                <a:latin typeface="+mj-lt"/>
              </a:rPr>
              <a:t> </a:t>
            </a:r>
            <a:r>
              <a:rPr lang="en-US" dirty="0" err="1">
                <a:solidFill>
                  <a:schemeClr val="bg1"/>
                </a:solidFill>
                <a:latin typeface="+mj-lt"/>
              </a:rPr>
              <a:t>cải</a:t>
            </a:r>
            <a:r>
              <a:rPr lang="en-US" dirty="0">
                <a:solidFill>
                  <a:schemeClr val="bg1"/>
                </a:solidFill>
                <a:latin typeface="+mj-lt"/>
              </a:rPr>
              <a:t> </a:t>
            </a:r>
            <a:r>
              <a:rPr lang="en-US" dirty="0" err="1">
                <a:solidFill>
                  <a:schemeClr val="bg1"/>
                </a:solidFill>
                <a:latin typeface="+mj-lt"/>
              </a:rPr>
              <a:t>tiến</a:t>
            </a:r>
            <a:r>
              <a:rPr lang="en-US" dirty="0">
                <a:solidFill>
                  <a:schemeClr val="bg1"/>
                </a:solidFill>
                <a:latin typeface="+mj-lt"/>
              </a:rPr>
              <a:t> (Final Approval=NO)</a:t>
            </a:r>
            <a:r>
              <a:rPr lang="vi-VN" dirty="0">
                <a:solidFill>
                  <a:schemeClr val="bg1"/>
                </a:solidFill>
                <a:latin typeface="+mj-lt"/>
              </a:rPr>
              <a:t>:</a:t>
            </a:r>
          </a:p>
          <a:p>
            <a:r>
              <a:rPr lang="vi-VN" dirty="0">
                <a:solidFill>
                  <a:schemeClr val="bg1"/>
                </a:solidFill>
                <a:latin typeface="+mj-lt"/>
              </a:rPr>
              <a:t>Chi phí đường dẫn thành công + Chi phí hoạt động cải tiến</a:t>
            </a:r>
            <a:r>
              <a:rPr lang="en-US" dirty="0">
                <a:solidFill>
                  <a:schemeClr val="bg1"/>
                </a:solidFill>
                <a:latin typeface="+mj-lt"/>
              </a:rPr>
              <a:t> </a:t>
            </a:r>
            <a:r>
              <a:rPr lang="vi-VN" dirty="0">
                <a:solidFill>
                  <a:schemeClr val="bg1"/>
                </a:solidFill>
                <a:latin typeface="+mj-lt"/>
              </a:rPr>
              <a:t>= 5,175 + 2,000 = 7,175 EUR</a:t>
            </a:r>
            <a:endParaRPr lang="fr-FR" dirty="0">
              <a:solidFill>
                <a:schemeClr val="bg1"/>
              </a:solidFill>
              <a:latin typeface="+mj-lt"/>
            </a:endParaRPr>
          </a:p>
        </p:txBody>
      </p:sp>
      <p:graphicFrame>
        <p:nvGraphicFramePr>
          <p:cNvPr id="7" name="Table 6">
            <a:extLst>
              <a:ext uri="{FF2B5EF4-FFF2-40B4-BE49-F238E27FC236}">
                <a16:creationId xmlns:a16="http://schemas.microsoft.com/office/drawing/2014/main" id="{9544A064-2445-E753-24EA-DB59A9421A98}"/>
              </a:ext>
            </a:extLst>
          </p:cNvPr>
          <p:cNvGraphicFramePr>
            <a:graphicFrameLocks noGrp="1"/>
          </p:cNvGraphicFramePr>
          <p:nvPr>
            <p:extLst>
              <p:ext uri="{D42A27DB-BD31-4B8C-83A1-F6EECF244321}">
                <p14:modId xmlns:p14="http://schemas.microsoft.com/office/powerpoint/2010/main" val="1439974512"/>
              </p:ext>
            </p:extLst>
          </p:nvPr>
        </p:nvGraphicFramePr>
        <p:xfrm>
          <a:off x="838200" y="1930066"/>
          <a:ext cx="6384924" cy="854208"/>
        </p:xfrm>
        <a:graphic>
          <a:graphicData uri="http://schemas.openxmlformats.org/drawingml/2006/table">
            <a:tbl>
              <a:tblPr firstRow="1" firstCol="1" bandRow="1">
                <a:tableStyleId>{5C22544A-7EE6-4342-B048-85BDC9FD1C3A}</a:tableStyleId>
              </a:tblPr>
              <a:tblGrid>
                <a:gridCol w="1596231">
                  <a:extLst>
                    <a:ext uri="{9D8B030D-6E8A-4147-A177-3AD203B41FA5}">
                      <a16:colId xmlns:a16="http://schemas.microsoft.com/office/drawing/2014/main" val="230721925"/>
                    </a:ext>
                  </a:extLst>
                </a:gridCol>
                <a:gridCol w="1596231">
                  <a:extLst>
                    <a:ext uri="{9D8B030D-6E8A-4147-A177-3AD203B41FA5}">
                      <a16:colId xmlns:a16="http://schemas.microsoft.com/office/drawing/2014/main" val="2204280505"/>
                    </a:ext>
                  </a:extLst>
                </a:gridCol>
                <a:gridCol w="1596231">
                  <a:extLst>
                    <a:ext uri="{9D8B030D-6E8A-4147-A177-3AD203B41FA5}">
                      <a16:colId xmlns:a16="http://schemas.microsoft.com/office/drawing/2014/main" val="379587963"/>
                    </a:ext>
                  </a:extLst>
                </a:gridCol>
                <a:gridCol w="1596231">
                  <a:extLst>
                    <a:ext uri="{9D8B030D-6E8A-4147-A177-3AD203B41FA5}">
                      <a16:colId xmlns:a16="http://schemas.microsoft.com/office/drawing/2014/main" val="3728802144"/>
                    </a:ext>
                  </a:extLst>
                </a:gridCol>
              </a:tblGrid>
              <a:tr h="319131">
                <a:tc>
                  <a:txBody>
                    <a:bodyPr/>
                    <a:lstStyle/>
                    <a:p>
                      <a:pPr marL="0" marR="0">
                        <a:lnSpc>
                          <a:spcPct val="115000"/>
                        </a:lnSpc>
                        <a:spcAft>
                          <a:spcPts val="800"/>
                        </a:spcAft>
                        <a:buNone/>
                      </a:pPr>
                      <a:r>
                        <a:rPr lang="en-US" sz="1100" kern="100">
                          <a:effectLst/>
                        </a:rPr>
                        <a:t>Hoạt động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100" kern="100">
                          <a:effectLst/>
                        </a:rPr>
                        <a:t>Chi phí nhân sự (EUR)</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100" kern="100">
                          <a:effectLst/>
                        </a:rPr>
                        <a:t>Chi phí vận hành (EUR)</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100" kern="100">
                          <a:effectLst/>
                        </a:rPr>
                        <a:t>Tổng chi phí (EUR)</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extLst>
                  <a:ext uri="{0D108BD9-81ED-4DB2-BD59-A6C34878D82A}">
                    <a16:rowId xmlns:a16="http://schemas.microsoft.com/office/drawing/2014/main" val="2721166292"/>
                  </a:ext>
                </a:extLst>
              </a:tr>
              <a:tr h="529201">
                <a:tc>
                  <a:txBody>
                    <a:bodyPr/>
                    <a:lstStyle/>
                    <a:p>
                      <a:pPr marL="0" marR="0">
                        <a:lnSpc>
                          <a:spcPct val="115000"/>
                        </a:lnSpc>
                        <a:spcAft>
                          <a:spcPts val="800"/>
                        </a:spcAft>
                        <a:buNone/>
                      </a:pPr>
                      <a:r>
                        <a:rPr lang="en-US" sz="1100" kern="100" dirty="0">
                          <a:effectLst/>
                        </a:rPr>
                        <a:t>Implement Compliance Plan</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100" kern="100">
                          <a:effectLst/>
                        </a:rPr>
                        <a:t>1,200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100" kern="100">
                          <a:effectLst/>
                        </a:rPr>
                        <a:t>800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100" kern="100" dirty="0">
                          <a:effectLst/>
                        </a:rPr>
                        <a:t>2,000</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extLst>
                  <a:ext uri="{0D108BD9-81ED-4DB2-BD59-A6C34878D82A}">
                    <a16:rowId xmlns:a16="http://schemas.microsoft.com/office/drawing/2014/main" val="1551713305"/>
                  </a:ext>
                </a:extLst>
              </a:tr>
            </a:tbl>
          </a:graphicData>
        </a:graphic>
      </p:graphicFrame>
    </p:spTree>
    <p:extLst>
      <p:ext uri="{BB962C8B-B14F-4D97-AF65-F5344CB8AC3E}">
        <p14:creationId xmlns:p14="http://schemas.microsoft.com/office/powerpoint/2010/main" val="1315026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F71C6-276F-ADB1-0A99-D939751F94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D8941C6-3F1C-E30D-42DA-25862C319FA6}"/>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FC8AB8B2-2325-5A01-2C35-78F0350AD08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2794C9F-3138-7C0F-AB30-DC6B35B9FDED}"/>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chi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F738D53-8A9C-BBAA-96EE-5A66BD9A5B64}"/>
              </a:ext>
            </a:extLst>
          </p:cNvPr>
          <p:cNvSpPr txBox="1"/>
          <p:nvPr/>
        </p:nvSpPr>
        <p:spPr>
          <a:xfrm>
            <a:off x="571499" y="1980406"/>
            <a:ext cx="10744200" cy="1754326"/>
          </a:xfrm>
          <a:prstGeom prst="rect">
            <a:avLst/>
          </a:prstGeom>
          <a:noFill/>
        </p:spPr>
        <p:txBody>
          <a:bodyPr wrap="square">
            <a:spAutoFit/>
          </a:bodyPr>
          <a:lstStyle/>
          <a:p>
            <a:r>
              <a:rPr lang="en-US" dirty="0">
                <a:solidFill>
                  <a:schemeClr val="bg1"/>
                </a:solidFill>
                <a:latin typeface="+mj-lt"/>
              </a:rPr>
              <a:t>Chi </a:t>
            </a:r>
            <a:r>
              <a:rPr lang="en-US" dirty="0" err="1">
                <a:solidFill>
                  <a:schemeClr val="bg1"/>
                </a:solidFill>
                <a:latin typeface="+mj-lt"/>
              </a:rPr>
              <a:t>phí</a:t>
            </a:r>
            <a:r>
              <a:rPr lang="en-US" dirty="0">
                <a:solidFill>
                  <a:schemeClr val="bg1"/>
                </a:solidFill>
                <a:latin typeface="+mj-lt"/>
              </a:rPr>
              <a:t> </a:t>
            </a:r>
            <a:r>
              <a:rPr lang="en-US" dirty="0" err="1">
                <a:solidFill>
                  <a:schemeClr val="bg1"/>
                </a:solidFill>
                <a:latin typeface="+mj-lt"/>
              </a:rPr>
              <a:t>trung</a:t>
            </a:r>
            <a:r>
              <a:rPr lang="en-US" dirty="0">
                <a:solidFill>
                  <a:schemeClr val="bg1"/>
                </a:solidFill>
                <a:latin typeface="+mj-lt"/>
              </a:rPr>
              <a:t> </a:t>
            </a:r>
            <a:r>
              <a:rPr lang="en-US" dirty="0" err="1">
                <a:solidFill>
                  <a:schemeClr val="bg1"/>
                </a:solidFill>
                <a:latin typeface="+mj-lt"/>
              </a:rPr>
              <a:t>bình</a:t>
            </a:r>
            <a:r>
              <a:rPr lang="en-US" dirty="0">
                <a:solidFill>
                  <a:schemeClr val="bg1"/>
                </a:solidFill>
                <a:latin typeface="+mj-lt"/>
              </a:rPr>
              <a:t>: </a:t>
            </a:r>
          </a:p>
          <a:p>
            <a:r>
              <a:rPr lang="vi-VN" dirty="0">
                <a:solidFill>
                  <a:schemeClr val="bg1"/>
                </a:solidFill>
                <a:latin typeface="+mj-lt"/>
              </a:rPr>
              <a:t>Chi phí trung bình = (Chi phí đường dẫn </a:t>
            </a:r>
            <a:r>
              <a:rPr lang="en-US" dirty="0" err="1">
                <a:solidFill>
                  <a:schemeClr val="bg1"/>
                </a:solidFill>
                <a:latin typeface="+mj-lt"/>
              </a:rPr>
              <a:t>thành</a:t>
            </a:r>
            <a:r>
              <a:rPr lang="en-US" dirty="0">
                <a:solidFill>
                  <a:schemeClr val="bg1"/>
                </a:solidFill>
                <a:latin typeface="+mj-lt"/>
              </a:rPr>
              <a:t> </a:t>
            </a:r>
            <a:r>
              <a:rPr lang="en-US" dirty="0" err="1">
                <a:solidFill>
                  <a:schemeClr val="bg1"/>
                </a:solidFill>
                <a:latin typeface="+mj-lt"/>
              </a:rPr>
              <a:t>công</a:t>
            </a:r>
            <a:r>
              <a:rPr lang="vi-VN" dirty="0">
                <a:solidFill>
                  <a:schemeClr val="bg1"/>
                </a:solidFill>
                <a:latin typeface="+mj-lt"/>
              </a:rPr>
              <a:t> × Xác suất </a:t>
            </a:r>
            <a:r>
              <a:rPr lang="en-US" dirty="0" err="1">
                <a:solidFill>
                  <a:schemeClr val="bg1"/>
                </a:solidFill>
                <a:latin typeface="+mj-lt"/>
              </a:rPr>
              <a:t>thành</a:t>
            </a:r>
            <a:r>
              <a:rPr lang="en-US" dirty="0">
                <a:solidFill>
                  <a:schemeClr val="bg1"/>
                </a:solidFill>
                <a:latin typeface="+mj-lt"/>
              </a:rPr>
              <a:t> </a:t>
            </a:r>
            <a:r>
              <a:rPr lang="en-US" dirty="0" err="1">
                <a:solidFill>
                  <a:schemeClr val="bg1"/>
                </a:solidFill>
                <a:latin typeface="+mj-lt"/>
              </a:rPr>
              <a:t>công</a:t>
            </a:r>
            <a:r>
              <a:rPr lang="vi-VN" dirty="0">
                <a:solidFill>
                  <a:schemeClr val="bg1"/>
                </a:solidFill>
                <a:latin typeface="+mj-lt"/>
              </a:rPr>
              <a:t>) + (Chi phí đường dẫn </a:t>
            </a:r>
            <a:r>
              <a:rPr lang="en-US" dirty="0" err="1">
                <a:solidFill>
                  <a:schemeClr val="bg1"/>
                </a:solidFill>
                <a:latin typeface="+mj-lt"/>
              </a:rPr>
              <a:t>cần</a:t>
            </a:r>
            <a:r>
              <a:rPr lang="en-US" dirty="0">
                <a:solidFill>
                  <a:schemeClr val="bg1"/>
                </a:solidFill>
                <a:latin typeface="+mj-lt"/>
              </a:rPr>
              <a:t> </a:t>
            </a:r>
            <a:r>
              <a:rPr lang="en-US" dirty="0" err="1">
                <a:solidFill>
                  <a:schemeClr val="bg1"/>
                </a:solidFill>
                <a:latin typeface="+mj-lt"/>
              </a:rPr>
              <a:t>cải</a:t>
            </a:r>
            <a:r>
              <a:rPr lang="en-US" dirty="0">
                <a:solidFill>
                  <a:schemeClr val="bg1"/>
                </a:solidFill>
                <a:latin typeface="+mj-lt"/>
              </a:rPr>
              <a:t> </a:t>
            </a:r>
            <a:r>
              <a:rPr lang="en-US" dirty="0" err="1">
                <a:solidFill>
                  <a:schemeClr val="bg1"/>
                </a:solidFill>
                <a:latin typeface="+mj-lt"/>
              </a:rPr>
              <a:t>tiến</a:t>
            </a:r>
            <a:r>
              <a:rPr lang="vi-VN" dirty="0">
                <a:solidFill>
                  <a:schemeClr val="bg1"/>
                </a:solidFill>
                <a:latin typeface="+mj-lt"/>
              </a:rPr>
              <a:t> × Xác suất </a:t>
            </a:r>
            <a:r>
              <a:rPr lang="en-US" dirty="0" err="1">
                <a:solidFill>
                  <a:schemeClr val="bg1"/>
                </a:solidFill>
                <a:latin typeface="+mj-lt"/>
              </a:rPr>
              <a:t>cải</a:t>
            </a:r>
            <a:r>
              <a:rPr lang="en-US" dirty="0">
                <a:solidFill>
                  <a:schemeClr val="bg1"/>
                </a:solidFill>
                <a:latin typeface="+mj-lt"/>
              </a:rPr>
              <a:t> </a:t>
            </a:r>
            <a:r>
              <a:rPr lang="en-US" dirty="0" err="1">
                <a:solidFill>
                  <a:schemeClr val="bg1"/>
                </a:solidFill>
                <a:latin typeface="+mj-lt"/>
              </a:rPr>
              <a:t>tiến</a:t>
            </a:r>
            <a:r>
              <a:rPr lang="vi-VN" dirty="0">
                <a:solidFill>
                  <a:schemeClr val="bg1"/>
                </a:solidFill>
                <a:latin typeface="+mj-lt"/>
              </a:rPr>
              <a:t>)</a:t>
            </a:r>
          </a:p>
          <a:p>
            <a:r>
              <a:rPr lang="fr-FR" dirty="0">
                <a:solidFill>
                  <a:schemeClr val="bg1"/>
                </a:solidFill>
                <a:latin typeface="+mj-lt"/>
              </a:rPr>
              <a:t>= (5,175 × 0.85) + (7,175 × 0.15)</a:t>
            </a:r>
          </a:p>
          <a:p>
            <a:r>
              <a:rPr lang="fr-FR" dirty="0">
                <a:solidFill>
                  <a:schemeClr val="bg1"/>
                </a:solidFill>
                <a:latin typeface="+mj-lt"/>
              </a:rPr>
              <a:t>= 4,398.75 + 1,076.25</a:t>
            </a:r>
          </a:p>
          <a:p>
            <a:r>
              <a:rPr lang="fr-FR" dirty="0">
                <a:solidFill>
                  <a:schemeClr val="bg1"/>
                </a:solidFill>
                <a:latin typeface="+mj-lt"/>
              </a:rPr>
              <a:t>= 5,475 EUR</a:t>
            </a:r>
          </a:p>
        </p:txBody>
      </p:sp>
    </p:spTree>
    <p:extLst>
      <p:ext uri="{BB962C8B-B14F-4D97-AF65-F5344CB8AC3E}">
        <p14:creationId xmlns:p14="http://schemas.microsoft.com/office/powerpoint/2010/main" val="463713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4BD1-EA60-BBFC-A21C-DB40691042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214DE5-32D4-8D54-78EC-1A61E47880C5}"/>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7B901F54-7D04-3D03-606B-E4BCFE2BB67B}"/>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A980018-3572-EC37-8C16-C1273684AE18}"/>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chất</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lượng</a:t>
            </a:r>
            <a:endParaRPr lang="en-US" sz="28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3DCE9FA-6614-321B-F395-2CA2AAFB67DE}"/>
              </a:ext>
            </a:extLst>
          </p:cNvPr>
          <p:cNvGraphicFramePr>
            <a:graphicFrameLocks noGrp="1"/>
          </p:cNvGraphicFramePr>
          <p:nvPr>
            <p:extLst>
              <p:ext uri="{D42A27DB-BD31-4B8C-83A1-F6EECF244321}">
                <p14:modId xmlns:p14="http://schemas.microsoft.com/office/powerpoint/2010/main" val="2319959935"/>
              </p:ext>
            </p:extLst>
          </p:nvPr>
        </p:nvGraphicFramePr>
        <p:xfrm>
          <a:off x="2438400" y="1895229"/>
          <a:ext cx="7460601" cy="4267561"/>
        </p:xfrm>
        <a:graphic>
          <a:graphicData uri="http://schemas.openxmlformats.org/drawingml/2006/table">
            <a:tbl>
              <a:tblPr firstRow="1" firstCol="1" bandRow="1">
                <a:tableStyleId>{5C22544A-7EE6-4342-B048-85BDC9FD1C3A}</a:tableStyleId>
              </a:tblPr>
              <a:tblGrid>
                <a:gridCol w="2486867">
                  <a:extLst>
                    <a:ext uri="{9D8B030D-6E8A-4147-A177-3AD203B41FA5}">
                      <a16:colId xmlns:a16="http://schemas.microsoft.com/office/drawing/2014/main" val="569937891"/>
                    </a:ext>
                  </a:extLst>
                </a:gridCol>
                <a:gridCol w="2486867">
                  <a:extLst>
                    <a:ext uri="{9D8B030D-6E8A-4147-A177-3AD203B41FA5}">
                      <a16:colId xmlns:a16="http://schemas.microsoft.com/office/drawing/2014/main" val="2933578557"/>
                    </a:ext>
                  </a:extLst>
                </a:gridCol>
                <a:gridCol w="2486867">
                  <a:extLst>
                    <a:ext uri="{9D8B030D-6E8A-4147-A177-3AD203B41FA5}">
                      <a16:colId xmlns:a16="http://schemas.microsoft.com/office/drawing/2014/main" val="2753122472"/>
                    </a:ext>
                  </a:extLst>
                </a:gridCol>
              </a:tblGrid>
              <a:tr h="472173">
                <a:tc>
                  <a:txBody>
                    <a:bodyPr/>
                    <a:lstStyle/>
                    <a:p>
                      <a:pPr marL="0" marR="0">
                        <a:lnSpc>
                          <a:spcPct val="115000"/>
                        </a:lnSpc>
                        <a:spcAft>
                          <a:spcPts val="800"/>
                        </a:spcAft>
                        <a:buNone/>
                      </a:pPr>
                      <a:r>
                        <a:rPr lang="en-US" sz="1700" kern="100">
                          <a:effectLst/>
                        </a:rPr>
                        <a:t>Chỉ số</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95813" marB="95813"/>
                </a:tc>
                <a:tc>
                  <a:txBody>
                    <a:bodyPr/>
                    <a:lstStyle/>
                    <a:p>
                      <a:pPr marL="0" marR="0">
                        <a:lnSpc>
                          <a:spcPct val="115000"/>
                        </a:lnSpc>
                        <a:spcAft>
                          <a:spcPts val="800"/>
                        </a:spcAft>
                        <a:buNone/>
                      </a:pPr>
                      <a:r>
                        <a:rPr lang="en-US" sz="1700" kern="100">
                          <a:effectLst/>
                        </a:rPr>
                        <a:t>Mô tả</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95813" marB="95813"/>
                </a:tc>
                <a:tc>
                  <a:txBody>
                    <a:bodyPr/>
                    <a:lstStyle/>
                    <a:p>
                      <a:pPr marL="0" marR="0">
                        <a:lnSpc>
                          <a:spcPct val="115000"/>
                        </a:lnSpc>
                        <a:spcAft>
                          <a:spcPts val="800"/>
                        </a:spcAft>
                        <a:buNone/>
                      </a:pPr>
                      <a:r>
                        <a:rPr lang="en-US" sz="1700" kern="100">
                          <a:effectLst/>
                        </a:rPr>
                        <a:t>Giá trị ước tính</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95813" marB="95813"/>
                </a:tc>
                <a:extLst>
                  <a:ext uri="{0D108BD9-81ED-4DB2-BD59-A6C34878D82A}">
                    <a16:rowId xmlns:a16="http://schemas.microsoft.com/office/drawing/2014/main" val="1801101032"/>
                  </a:ext>
                </a:extLst>
              </a:tr>
              <a:tr h="795075">
                <a:tc>
                  <a:txBody>
                    <a:bodyPr/>
                    <a:lstStyle/>
                    <a:p>
                      <a:pPr marL="0" marR="0">
                        <a:lnSpc>
                          <a:spcPct val="115000"/>
                        </a:lnSpc>
                        <a:spcAft>
                          <a:spcPts val="800"/>
                        </a:spcAft>
                        <a:buNone/>
                      </a:pPr>
                      <a:r>
                        <a:rPr lang="en-US" sz="1700" kern="100" dirty="0" err="1">
                          <a:effectLst/>
                        </a:rPr>
                        <a:t>Tỷ</a:t>
                      </a:r>
                      <a:r>
                        <a:rPr lang="en-US" sz="1700" kern="100" dirty="0">
                          <a:effectLst/>
                        </a:rPr>
                        <a:t> </a:t>
                      </a:r>
                      <a:r>
                        <a:rPr lang="en-US" sz="1700" kern="100" dirty="0" err="1">
                          <a:effectLst/>
                        </a:rPr>
                        <a:t>lệ</a:t>
                      </a:r>
                      <a:r>
                        <a:rPr lang="en-US" sz="1700" kern="100" dirty="0">
                          <a:effectLst/>
                        </a:rPr>
                        <a:t> </a:t>
                      </a:r>
                      <a:r>
                        <a:rPr lang="en-US" sz="1700" kern="100" dirty="0" err="1">
                          <a:effectLst/>
                        </a:rPr>
                        <a:t>phê</a:t>
                      </a:r>
                      <a:r>
                        <a:rPr lang="en-US" sz="1700" kern="100" dirty="0">
                          <a:effectLst/>
                        </a:rPr>
                        <a:t> </a:t>
                      </a:r>
                      <a:r>
                        <a:rPr lang="en-US" sz="1700" kern="100" dirty="0" err="1">
                          <a:effectLst/>
                        </a:rPr>
                        <a:t>duyệt</a:t>
                      </a:r>
                      <a:r>
                        <a:rPr lang="en-US" sz="1700" kern="100" dirty="0">
                          <a:effectLst/>
                        </a:rPr>
                        <a:t> </a:t>
                      </a:r>
                      <a:r>
                        <a:rPr lang="en-US" sz="1700" kern="100" dirty="0" err="1">
                          <a:effectLst/>
                        </a:rPr>
                        <a:t>thành</a:t>
                      </a:r>
                      <a:r>
                        <a:rPr lang="en-US" sz="1700" kern="100" dirty="0">
                          <a:effectLst/>
                        </a:rPr>
                        <a:t> </a:t>
                      </a:r>
                      <a:r>
                        <a:rPr lang="en-US" sz="1700" kern="100" dirty="0" err="1">
                          <a:effectLst/>
                        </a:rPr>
                        <a:t>công</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a:effectLst/>
                        </a:rPr>
                        <a:t>Tỷ lệ nhà cung cấp được phê duyệt sau quy trình</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a:effectLst/>
                        </a:rPr>
                        <a:t>85%</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extLst>
                  <a:ext uri="{0D108BD9-81ED-4DB2-BD59-A6C34878D82A}">
                    <a16:rowId xmlns:a16="http://schemas.microsoft.com/office/drawing/2014/main" val="2570292058"/>
                  </a:ext>
                </a:extLst>
              </a:tr>
              <a:tr h="1090829">
                <a:tc>
                  <a:txBody>
                    <a:bodyPr/>
                    <a:lstStyle/>
                    <a:p>
                      <a:pPr marL="0" marR="0">
                        <a:lnSpc>
                          <a:spcPct val="115000"/>
                        </a:lnSpc>
                        <a:spcAft>
                          <a:spcPts val="800"/>
                        </a:spcAft>
                        <a:buNone/>
                      </a:pPr>
                      <a:r>
                        <a:rPr lang="en-US" sz="1700" kern="100" dirty="0" err="1">
                          <a:effectLst/>
                        </a:rPr>
                        <a:t>Tỷ</a:t>
                      </a:r>
                      <a:r>
                        <a:rPr lang="en-US" sz="1700" kern="100" dirty="0">
                          <a:effectLst/>
                        </a:rPr>
                        <a:t> </a:t>
                      </a:r>
                      <a:r>
                        <a:rPr lang="en-US" sz="1700" kern="100" dirty="0" err="1">
                          <a:effectLst/>
                        </a:rPr>
                        <a:t>lệ</a:t>
                      </a:r>
                      <a:r>
                        <a:rPr lang="en-US" sz="1700" kern="100" dirty="0">
                          <a:effectLst/>
                        </a:rPr>
                        <a:t> </a:t>
                      </a:r>
                      <a:r>
                        <a:rPr lang="en-US" sz="1700" kern="100" dirty="0" err="1">
                          <a:effectLst/>
                        </a:rPr>
                        <a:t>cần</a:t>
                      </a:r>
                      <a:r>
                        <a:rPr lang="en-US" sz="1700" kern="100" dirty="0">
                          <a:effectLst/>
                        </a:rPr>
                        <a:t> </a:t>
                      </a:r>
                      <a:r>
                        <a:rPr lang="en-US" sz="1700" kern="100" dirty="0" err="1">
                          <a:effectLst/>
                        </a:rPr>
                        <a:t>cải</a:t>
                      </a:r>
                      <a:r>
                        <a:rPr lang="en-US" sz="1700" kern="100" dirty="0">
                          <a:effectLst/>
                        </a:rPr>
                        <a:t> </a:t>
                      </a:r>
                      <a:r>
                        <a:rPr lang="en-US" sz="1700" kern="100" dirty="0" err="1">
                          <a:effectLst/>
                        </a:rPr>
                        <a:t>tiến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dirty="0" err="1">
                          <a:effectLst/>
                        </a:rPr>
                        <a:t>Tỷ</a:t>
                      </a:r>
                      <a:r>
                        <a:rPr lang="en-US" sz="1700" kern="100" dirty="0">
                          <a:effectLst/>
                        </a:rPr>
                        <a:t> </a:t>
                      </a:r>
                      <a:r>
                        <a:rPr lang="en-US" sz="1700" kern="100" dirty="0" err="1">
                          <a:effectLst/>
                        </a:rPr>
                        <a:t>lệ</a:t>
                      </a:r>
                      <a:r>
                        <a:rPr lang="en-US" sz="1700" kern="100" dirty="0">
                          <a:effectLst/>
                        </a:rPr>
                        <a:t> </a:t>
                      </a:r>
                      <a:r>
                        <a:rPr lang="en-US" sz="1700" kern="100" dirty="0" err="1">
                          <a:effectLst/>
                        </a:rPr>
                        <a:t>nhà</a:t>
                      </a:r>
                      <a:r>
                        <a:rPr lang="en-US" sz="1700" kern="100" dirty="0">
                          <a:effectLst/>
                        </a:rPr>
                        <a:t> </a:t>
                      </a:r>
                      <a:r>
                        <a:rPr lang="en-US" sz="1700" kern="100" dirty="0" err="1">
                          <a:effectLst/>
                        </a:rPr>
                        <a:t>cung</a:t>
                      </a:r>
                      <a:r>
                        <a:rPr lang="en-US" sz="1700" kern="100" dirty="0">
                          <a:effectLst/>
                        </a:rPr>
                        <a:t> </a:t>
                      </a:r>
                      <a:r>
                        <a:rPr lang="en-US" sz="1700" kern="100" dirty="0" err="1">
                          <a:effectLst/>
                        </a:rPr>
                        <a:t>cấp</a:t>
                      </a:r>
                      <a:r>
                        <a:rPr lang="en-US" sz="1700" kern="100" dirty="0">
                          <a:effectLst/>
                        </a:rPr>
                        <a:t> </a:t>
                      </a:r>
                      <a:r>
                        <a:rPr lang="en-US" sz="1700" kern="100" dirty="0" err="1">
                          <a:effectLst/>
                        </a:rPr>
                        <a:t>cần</a:t>
                      </a:r>
                      <a:r>
                        <a:rPr lang="en-US" sz="1700" kern="100" dirty="0">
                          <a:effectLst/>
                        </a:rPr>
                        <a:t> </a:t>
                      </a:r>
                      <a:r>
                        <a:rPr lang="en-US" sz="1700" kern="100" dirty="0" err="1">
                          <a:effectLst/>
                        </a:rPr>
                        <a:t>thực</a:t>
                      </a:r>
                      <a:r>
                        <a:rPr lang="en-US" sz="1700" kern="100" dirty="0">
                          <a:effectLst/>
                        </a:rPr>
                        <a:t> </a:t>
                      </a:r>
                      <a:r>
                        <a:rPr lang="en-US" sz="1700" kern="100" dirty="0" err="1">
                          <a:effectLst/>
                        </a:rPr>
                        <a:t>hiện</a:t>
                      </a:r>
                      <a:r>
                        <a:rPr lang="en-US" sz="1700" kern="100" dirty="0">
                          <a:effectLst/>
                        </a:rPr>
                        <a:t> </a:t>
                      </a:r>
                      <a:r>
                        <a:rPr lang="en-US" sz="1700" kern="100" dirty="0" err="1">
                          <a:effectLst/>
                        </a:rPr>
                        <a:t>kế</a:t>
                      </a:r>
                      <a:r>
                        <a:rPr lang="en-US" sz="1700" kern="100" dirty="0">
                          <a:effectLst/>
                        </a:rPr>
                        <a:t> </a:t>
                      </a:r>
                      <a:r>
                        <a:rPr lang="en-US" sz="1700" kern="100" dirty="0" err="1">
                          <a:effectLst/>
                        </a:rPr>
                        <a:t>hoạch</a:t>
                      </a:r>
                      <a:r>
                        <a:rPr lang="en-US" sz="1700" kern="100" dirty="0">
                          <a:effectLst/>
                        </a:rPr>
                        <a:t> </a:t>
                      </a:r>
                      <a:r>
                        <a:rPr lang="en-US" sz="1700" kern="100" dirty="0" err="1">
                          <a:effectLst/>
                        </a:rPr>
                        <a:t>tuân</a:t>
                      </a:r>
                      <a:r>
                        <a:rPr lang="en-US" sz="1700" kern="100" dirty="0">
                          <a:effectLst/>
                        </a:rPr>
                        <a:t> </a:t>
                      </a:r>
                      <a:r>
                        <a:rPr lang="en-US" sz="1700" kern="100" dirty="0" err="1">
                          <a:effectLst/>
                        </a:rPr>
                        <a:t>thủ</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a:effectLst/>
                        </a:rPr>
                        <a:t>15%</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extLst>
                  <a:ext uri="{0D108BD9-81ED-4DB2-BD59-A6C34878D82A}">
                    <a16:rowId xmlns:a16="http://schemas.microsoft.com/office/drawing/2014/main" val="1564516455"/>
                  </a:ext>
                </a:extLst>
              </a:tr>
              <a:tr h="795075">
                <a:tc>
                  <a:txBody>
                    <a:bodyPr/>
                    <a:lstStyle/>
                    <a:p>
                      <a:pPr marL="0" marR="0">
                        <a:lnSpc>
                          <a:spcPct val="115000"/>
                        </a:lnSpc>
                        <a:spcAft>
                          <a:spcPts val="800"/>
                        </a:spcAft>
                        <a:buNone/>
                      </a:pPr>
                      <a:r>
                        <a:rPr lang="en-US" sz="1700" kern="100">
                          <a:effectLst/>
                        </a:rPr>
                        <a:t>Độ chính xác đánh giá</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dirty="0" err="1">
                          <a:effectLst/>
                        </a:rPr>
                        <a:t>Tỷ</a:t>
                      </a:r>
                      <a:r>
                        <a:rPr lang="en-US" sz="1700" kern="100" dirty="0">
                          <a:effectLst/>
                        </a:rPr>
                        <a:t> </a:t>
                      </a:r>
                      <a:r>
                        <a:rPr lang="en-US" sz="1700" kern="100" dirty="0" err="1">
                          <a:effectLst/>
                        </a:rPr>
                        <a:t>lệ</a:t>
                      </a:r>
                      <a:r>
                        <a:rPr lang="en-US" sz="1700" kern="100" dirty="0">
                          <a:effectLst/>
                        </a:rPr>
                        <a:t> </a:t>
                      </a:r>
                      <a:r>
                        <a:rPr lang="en-US" sz="1700" kern="100" dirty="0" err="1">
                          <a:effectLst/>
                        </a:rPr>
                        <a:t>đánh</a:t>
                      </a:r>
                      <a:r>
                        <a:rPr lang="en-US" sz="1700" kern="100" dirty="0">
                          <a:effectLst/>
                        </a:rPr>
                        <a:t> </a:t>
                      </a:r>
                      <a:r>
                        <a:rPr lang="en-US" sz="1700" kern="100" dirty="0" err="1">
                          <a:effectLst/>
                        </a:rPr>
                        <a:t>giá</a:t>
                      </a:r>
                      <a:r>
                        <a:rPr lang="en-US" sz="1700" kern="100" dirty="0">
                          <a:effectLst/>
                        </a:rPr>
                        <a:t> </a:t>
                      </a:r>
                      <a:r>
                        <a:rPr lang="en-US" sz="1700" kern="100" dirty="0" err="1">
                          <a:effectLst/>
                        </a:rPr>
                        <a:t>chính</a:t>
                      </a:r>
                      <a:r>
                        <a:rPr lang="en-US" sz="1700" kern="100" dirty="0">
                          <a:effectLst/>
                        </a:rPr>
                        <a:t> </a:t>
                      </a:r>
                      <a:r>
                        <a:rPr lang="en-US" sz="1700" kern="100" dirty="0" err="1">
                          <a:effectLst/>
                        </a:rPr>
                        <a:t>xác</a:t>
                      </a:r>
                      <a:r>
                        <a:rPr lang="en-US" sz="1700" kern="100" dirty="0">
                          <a:effectLst/>
                        </a:rPr>
                        <a:t> </a:t>
                      </a:r>
                      <a:r>
                        <a:rPr lang="en-US" sz="1700" kern="100" dirty="0" err="1">
                          <a:effectLst/>
                        </a:rPr>
                        <a:t>về</a:t>
                      </a:r>
                      <a:r>
                        <a:rPr lang="en-US" sz="1700" kern="100" dirty="0">
                          <a:effectLst/>
                        </a:rPr>
                        <a:t> </a:t>
                      </a:r>
                      <a:r>
                        <a:rPr lang="en-US" sz="1700" kern="100" dirty="0" err="1">
                          <a:effectLst/>
                        </a:rPr>
                        <a:t>năng</a:t>
                      </a:r>
                      <a:r>
                        <a:rPr lang="en-US" sz="1700" kern="100" dirty="0">
                          <a:effectLst/>
                        </a:rPr>
                        <a:t> </a:t>
                      </a:r>
                      <a:r>
                        <a:rPr lang="en-US" sz="1700" kern="100" dirty="0" err="1">
                          <a:effectLst/>
                        </a:rPr>
                        <a:t>lực</a:t>
                      </a:r>
                      <a:r>
                        <a:rPr lang="en-US" sz="1700" kern="100" dirty="0">
                          <a:effectLst/>
                        </a:rPr>
                        <a:t> </a:t>
                      </a:r>
                      <a:r>
                        <a:rPr lang="en-US" sz="1700" kern="100" dirty="0" err="1">
                          <a:effectLst/>
                        </a:rPr>
                        <a:t>nhà</a:t>
                      </a:r>
                      <a:r>
                        <a:rPr lang="en-US" sz="1700" kern="100" dirty="0">
                          <a:effectLst/>
                        </a:rPr>
                        <a:t> </a:t>
                      </a:r>
                      <a:r>
                        <a:rPr lang="en-US" sz="1700" kern="100" dirty="0" err="1">
                          <a:effectLst/>
                        </a:rPr>
                        <a:t>cung</a:t>
                      </a:r>
                      <a:r>
                        <a:rPr lang="en-US" sz="1700" kern="100" dirty="0">
                          <a:effectLst/>
                        </a:rPr>
                        <a:t> </a:t>
                      </a:r>
                      <a:r>
                        <a:rPr lang="en-US" sz="1700" kern="100" dirty="0" err="1">
                          <a:effectLst/>
                        </a:rPr>
                        <a:t>cấp</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a:effectLst/>
                        </a:rPr>
                        <a:t>92%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extLst>
                  <a:ext uri="{0D108BD9-81ED-4DB2-BD59-A6C34878D82A}">
                    <a16:rowId xmlns:a16="http://schemas.microsoft.com/office/drawing/2014/main" val="1606912955"/>
                  </a:ext>
                </a:extLst>
              </a:tr>
              <a:tr h="1090829">
                <a:tc>
                  <a:txBody>
                    <a:bodyPr/>
                    <a:lstStyle/>
                    <a:p>
                      <a:pPr marL="0" marR="0">
                        <a:lnSpc>
                          <a:spcPct val="115000"/>
                        </a:lnSpc>
                        <a:spcAft>
                          <a:spcPts val="800"/>
                        </a:spcAft>
                        <a:buNone/>
                      </a:pPr>
                      <a:r>
                        <a:rPr lang="en-US" sz="1700" kern="100">
                          <a:effectLst/>
                        </a:rPr>
                        <a:t>Tỷ lệ từ chối sau kiểm tra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a:effectLst/>
                        </a:rPr>
                        <a:t>Tỷ lệ nhà cung cấp bị từ chối sau các bước kiểm tra</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tc>
                  <a:txBody>
                    <a:bodyPr/>
                    <a:lstStyle/>
                    <a:p>
                      <a:pPr marL="0" marR="0">
                        <a:lnSpc>
                          <a:spcPct val="115000"/>
                        </a:lnSpc>
                        <a:spcAft>
                          <a:spcPts val="800"/>
                        </a:spcAft>
                        <a:buNone/>
                      </a:pPr>
                      <a:r>
                        <a:rPr lang="en-US" sz="1700" kern="100" dirty="0">
                          <a:effectLst/>
                        </a:rPr>
                        <a:t>20%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813" marR="95813" marT="109386" marB="109386" anchor="b"/>
                </a:tc>
                <a:extLst>
                  <a:ext uri="{0D108BD9-81ED-4DB2-BD59-A6C34878D82A}">
                    <a16:rowId xmlns:a16="http://schemas.microsoft.com/office/drawing/2014/main" val="1157485899"/>
                  </a:ext>
                </a:extLst>
              </a:tr>
            </a:tbl>
          </a:graphicData>
        </a:graphic>
      </p:graphicFrame>
    </p:spTree>
    <p:extLst>
      <p:ext uri="{BB962C8B-B14F-4D97-AF65-F5344CB8AC3E}">
        <p14:creationId xmlns:p14="http://schemas.microsoft.com/office/powerpoint/2010/main" val="2103778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476E8-FE4C-7005-7F4E-38CC434127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1EFCAE9-C550-CFE0-84BB-4722126C87C4}"/>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54B105AF-0C12-5AE0-731E-C88E8FA12782}"/>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vi-VN" spc="-80" dirty="0">
                <a:latin typeface="Times New Roman" panose="02020603050405020304" pitchFamily="18" charset="0"/>
                <a:cs typeface="Times New Roman" panose="02020603050405020304" pitchFamily="18" charset="0"/>
              </a:rPr>
              <a:t>CƠ HỘI CẢI TIẾN</a:t>
            </a:r>
          </a:p>
        </p:txBody>
      </p:sp>
      <p:sp>
        <p:nvSpPr>
          <p:cNvPr id="4" name="TextBox 3">
            <a:extLst>
              <a:ext uri="{FF2B5EF4-FFF2-40B4-BE49-F238E27FC236}">
                <a16:creationId xmlns:a16="http://schemas.microsoft.com/office/drawing/2014/main" id="{78F8DAA4-41D8-C317-B76F-434BCE06C115}"/>
              </a:ext>
            </a:extLst>
          </p:cNvPr>
          <p:cNvSpPr txBox="1"/>
          <p:nvPr/>
        </p:nvSpPr>
        <p:spPr>
          <a:xfrm>
            <a:off x="457200" y="2056606"/>
            <a:ext cx="10677106" cy="3139321"/>
          </a:xfrm>
          <a:prstGeom prst="rect">
            <a:avLst/>
          </a:prstGeom>
          <a:noFill/>
        </p:spPr>
        <p:txBody>
          <a:bodyPr wrap="square">
            <a:spAutoFit/>
          </a:bodyPr>
          <a:lstStyle/>
          <a:p>
            <a:r>
              <a:rPr lang="vi-VN" dirty="0">
                <a:solidFill>
                  <a:schemeClr val="bg1"/>
                </a:solidFill>
                <a:latin typeface="+mj-lt"/>
              </a:rPr>
              <a:t>Tối ưu thời gian:</a:t>
            </a:r>
          </a:p>
          <a:p>
            <a:r>
              <a:rPr lang="vi-VN" dirty="0">
                <a:solidFill>
                  <a:schemeClr val="bg1"/>
                </a:solidFill>
                <a:latin typeface="+mj-lt"/>
              </a:rPr>
              <a:t>•	Số hóa quy trình phê duyệt: Giảm thời gian </a:t>
            </a:r>
            <a:r>
              <a:rPr lang="vi-VN" dirty="0" err="1">
                <a:solidFill>
                  <a:schemeClr val="bg1"/>
                </a:solidFill>
                <a:latin typeface="+mj-lt"/>
              </a:rPr>
              <a:t>Business</a:t>
            </a:r>
            <a:r>
              <a:rPr lang="vi-VN" dirty="0">
                <a:solidFill>
                  <a:schemeClr val="bg1"/>
                </a:solidFill>
                <a:latin typeface="+mj-lt"/>
              </a:rPr>
              <a:t> </a:t>
            </a:r>
            <a:r>
              <a:rPr lang="vi-VN" dirty="0" err="1">
                <a:solidFill>
                  <a:schemeClr val="bg1"/>
                </a:solidFill>
                <a:latin typeface="+mj-lt"/>
              </a:rPr>
              <a:t>Approval</a:t>
            </a:r>
            <a:r>
              <a:rPr lang="vi-VN" dirty="0">
                <a:solidFill>
                  <a:schemeClr val="bg1"/>
                </a:solidFill>
                <a:latin typeface="+mj-lt"/>
              </a:rPr>
              <a:t> từ 52 xuống 24 giờ</a:t>
            </a:r>
          </a:p>
          <a:p>
            <a:r>
              <a:rPr lang="vi-VN" dirty="0">
                <a:solidFill>
                  <a:schemeClr val="bg1"/>
                </a:solidFill>
                <a:latin typeface="+mj-lt"/>
              </a:rPr>
              <a:t>•	Thiết lập hệ thống thông báo tự động: Giảm thời gian chờ trong </a:t>
            </a:r>
            <a:r>
              <a:rPr lang="vi-VN" dirty="0" err="1">
                <a:solidFill>
                  <a:schemeClr val="bg1"/>
                </a:solidFill>
                <a:latin typeface="+mj-lt"/>
              </a:rPr>
              <a:t>Send</a:t>
            </a:r>
            <a:r>
              <a:rPr lang="vi-VN" dirty="0">
                <a:solidFill>
                  <a:schemeClr val="bg1"/>
                </a:solidFill>
                <a:latin typeface="+mj-lt"/>
              </a:rPr>
              <a:t> </a:t>
            </a:r>
            <a:r>
              <a:rPr lang="vi-VN" dirty="0" err="1">
                <a:solidFill>
                  <a:schemeClr val="bg1"/>
                </a:solidFill>
                <a:latin typeface="+mj-lt"/>
              </a:rPr>
              <a:t>Audit</a:t>
            </a:r>
            <a:r>
              <a:rPr lang="vi-VN" dirty="0">
                <a:solidFill>
                  <a:schemeClr val="bg1"/>
                </a:solidFill>
                <a:latin typeface="+mj-lt"/>
              </a:rPr>
              <a:t> </a:t>
            </a:r>
            <a:r>
              <a:rPr lang="vi-VN" dirty="0" err="1">
                <a:solidFill>
                  <a:schemeClr val="bg1"/>
                </a:solidFill>
                <a:latin typeface="+mj-lt"/>
              </a:rPr>
              <a:t>Documentation</a:t>
            </a:r>
            <a:endParaRPr lang="vi-VN" dirty="0">
              <a:solidFill>
                <a:schemeClr val="bg1"/>
              </a:solidFill>
              <a:latin typeface="+mj-lt"/>
            </a:endParaRPr>
          </a:p>
          <a:p>
            <a:r>
              <a:rPr lang="vi-VN" dirty="0">
                <a:solidFill>
                  <a:schemeClr val="bg1"/>
                </a:solidFill>
                <a:latin typeface="+mj-lt"/>
              </a:rPr>
              <a:t>•	Song </a:t>
            </a:r>
            <a:r>
              <a:rPr lang="vi-VN" dirty="0" err="1">
                <a:solidFill>
                  <a:schemeClr val="bg1"/>
                </a:solidFill>
                <a:latin typeface="+mj-lt"/>
              </a:rPr>
              <a:t>song</a:t>
            </a:r>
            <a:r>
              <a:rPr lang="vi-VN" dirty="0">
                <a:solidFill>
                  <a:schemeClr val="bg1"/>
                </a:solidFill>
                <a:latin typeface="+mj-lt"/>
              </a:rPr>
              <a:t> hóa một số hoạt động: Thực hiện đồng thời đánh giá tài liệu và </a:t>
            </a:r>
            <a:r>
              <a:rPr lang="vi-VN" dirty="0" err="1">
                <a:solidFill>
                  <a:schemeClr val="bg1"/>
                </a:solidFill>
                <a:latin typeface="+mj-lt"/>
              </a:rPr>
              <a:t>audit</a:t>
            </a:r>
            <a:endParaRPr lang="vi-VN" dirty="0">
              <a:solidFill>
                <a:schemeClr val="bg1"/>
              </a:solidFill>
              <a:latin typeface="+mj-lt"/>
            </a:endParaRPr>
          </a:p>
          <a:p>
            <a:r>
              <a:rPr lang="vi-VN" dirty="0">
                <a:solidFill>
                  <a:schemeClr val="bg1"/>
                </a:solidFill>
                <a:latin typeface="+mj-lt"/>
              </a:rPr>
              <a:t>Giảm chi phí:</a:t>
            </a:r>
          </a:p>
          <a:p>
            <a:r>
              <a:rPr lang="vi-VN" dirty="0">
                <a:solidFill>
                  <a:schemeClr val="bg1"/>
                </a:solidFill>
                <a:latin typeface="+mj-lt"/>
              </a:rPr>
              <a:t>•	Chuẩn hóa mẫu </a:t>
            </a:r>
            <a:r>
              <a:rPr lang="vi-VN" dirty="0" err="1">
                <a:solidFill>
                  <a:schemeClr val="bg1"/>
                </a:solidFill>
                <a:latin typeface="+mj-lt"/>
              </a:rPr>
              <a:t>Compliance</a:t>
            </a:r>
            <a:r>
              <a:rPr lang="vi-VN" dirty="0">
                <a:solidFill>
                  <a:schemeClr val="bg1"/>
                </a:solidFill>
                <a:latin typeface="+mj-lt"/>
              </a:rPr>
              <a:t> </a:t>
            </a:r>
            <a:r>
              <a:rPr lang="vi-VN" dirty="0" err="1">
                <a:solidFill>
                  <a:schemeClr val="bg1"/>
                </a:solidFill>
                <a:latin typeface="+mj-lt"/>
              </a:rPr>
              <a:t>Plan</a:t>
            </a:r>
            <a:r>
              <a:rPr lang="vi-VN" dirty="0">
                <a:solidFill>
                  <a:schemeClr val="bg1"/>
                </a:solidFill>
                <a:latin typeface="+mj-lt"/>
              </a:rPr>
              <a:t>: Giảm 30% chi phí </a:t>
            </a:r>
            <a:r>
              <a:rPr lang="vi-VN" dirty="0" err="1">
                <a:solidFill>
                  <a:schemeClr val="bg1"/>
                </a:solidFill>
                <a:latin typeface="+mj-lt"/>
              </a:rPr>
              <a:t>Implement</a:t>
            </a:r>
            <a:r>
              <a:rPr lang="vi-VN" dirty="0">
                <a:solidFill>
                  <a:schemeClr val="bg1"/>
                </a:solidFill>
                <a:latin typeface="+mj-lt"/>
              </a:rPr>
              <a:t> </a:t>
            </a:r>
            <a:r>
              <a:rPr lang="vi-VN" dirty="0" err="1">
                <a:solidFill>
                  <a:schemeClr val="bg1"/>
                </a:solidFill>
                <a:latin typeface="+mj-lt"/>
              </a:rPr>
              <a:t>Compliance</a:t>
            </a:r>
            <a:r>
              <a:rPr lang="vi-VN" dirty="0">
                <a:solidFill>
                  <a:schemeClr val="bg1"/>
                </a:solidFill>
                <a:latin typeface="+mj-lt"/>
              </a:rPr>
              <a:t> </a:t>
            </a:r>
            <a:r>
              <a:rPr lang="vi-VN" dirty="0" err="1">
                <a:solidFill>
                  <a:schemeClr val="bg1"/>
                </a:solidFill>
                <a:latin typeface="+mj-lt"/>
              </a:rPr>
              <a:t>Plan</a:t>
            </a:r>
            <a:endParaRPr lang="vi-VN" dirty="0">
              <a:solidFill>
                <a:schemeClr val="bg1"/>
              </a:solidFill>
              <a:latin typeface="+mj-lt"/>
            </a:endParaRPr>
          </a:p>
          <a:p>
            <a:r>
              <a:rPr lang="vi-VN" dirty="0">
                <a:solidFill>
                  <a:schemeClr val="bg1"/>
                </a:solidFill>
                <a:latin typeface="+mj-lt"/>
              </a:rPr>
              <a:t>•	Tự động hóa </a:t>
            </a:r>
            <a:r>
              <a:rPr lang="vi-VN" dirty="0" err="1">
                <a:solidFill>
                  <a:schemeClr val="bg1"/>
                </a:solidFill>
                <a:latin typeface="+mj-lt"/>
              </a:rPr>
              <a:t>Process</a:t>
            </a:r>
            <a:r>
              <a:rPr lang="vi-VN" dirty="0">
                <a:solidFill>
                  <a:schemeClr val="bg1"/>
                </a:solidFill>
                <a:latin typeface="+mj-lt"/>
              </a:rPr>
              <a:t> </a:t>
            </a:r>
            <a:r>
              <a:rPr lang="vi-VN" dirty="0" err="1">
                <a:solidFill>
                  <a:schemeClr val="bg1"/>
                </a:solidFill>
                <a:latin typeface="+mj-lt"/>
              </a:rPr>
              <a:t>Audit</a:t>
            </a:r>
            <a:r>
              <a:rPr lang="vi-VN" dirty="0">
                <a:solidFill>
                  <a:schemeClr val="bg1"/>
                </a:solidFill>
                <a:latin typeface="+mj-lt"/>
              </a:rPr>
              <a:t> </a:t>
            </a:r>
            <a:r>
              <a:rPr lang="vi-VN" dirty="0" err="1">
                <a:solidFill>
                  <a:schemeClr val="bg1"/>
                </a:solidFill>
                <a:latin typeface="+mj-lt"/>
              </a:rPr>
              <a:t>Request</a:t>
            </a:r>
            <a:r>
              <a:rPr lang="vi-VN" dirty="0">
                <a:solidFill>
                  <a:schemeClr val="bg1"/>
                </a:solidFill>
                <a:latin typeface="+mj-lt"/>
              </a:rPr>
              <a:t>: Giảm 40% chi phí nhân sự</a:t>
            </a:r>
          </a:p>
          <a:p>
            <a:r>
              <a:rPr lang="vi-VN" dirty="0">
                <a:solidFill>
                  <a:schemeClr val="bg1"/>
                </a:solidFill>
                <a:latin typeface="+mj-lt"/>
              </a:rPr>
              <a:t>Nâng cao chất lượng:</a:t>
            </a:r>
          </a:p>
          <a:p>
            <a:r>
              <a:rPr lang="vi-VN" dirty="0">
                <a:solidFill>
                  <a:schemeClr val="bg1"/>
                </a:solidFill>
                <a:latin typeface="+mj-lt"/>
              </a:rPr>
              <a:t>•	Xây dựng </a:t>
            </a:r>
            <a:r>
              <a:rPr lang="vi-VN" dirty="0" err="1">
                <a:solidFill>
                  <a:schemeClr val="bg1"/>
                </a:solidFill>
                <a:latin typeface="+mj-lt"/>
              </a:rPr>
              <a:t>checklist</a:t>
            </a:r>
            <a:r>
              <a:rPr lang="vi-VN" dirty="0">
                <a:solidFill>
                  <a:schemeClr val="bg1"/>
                </a:solidFill>
                <a:latin typeface="+mj-lt"/>
              </a:rPr>
              <a:t> chuẩn: Tăng độ chính xác đánh giá lên 95%</a:t>
            </a:r>
          </a:p>
          <a:p>
            <a:r>
              <a:rPr lang="vi-VN" dirty="0">
                <a:solidFill>
                  <a:schemeClr val="bg1"/>
                </a:solidFill>
                <a:latin typeface="+mj-lt"/>
              </a:rPr>
              <a:t>•	Đào tạo nhân viên đánh giá: Giảm tỷ lệ sai sót xuống 5%</a:t>
            </a:r>
          </a:p>
          <a:p>
            <a:endParaRPr lang="vi-VN" dirty="0">
              <a:solidFill>
                <a:schemeClr val="bg1"/>
              </a:solidFill>
              <a:latin typeface="+mj-lt"/>
            </a:endParaRPr>
          </a:p>
        </p:txBody>
      </p:sp>
    </p:spTree>
    <p:extLst>
      <p:ext uri="{BB962C8B-B14F-4D97-AF65-F5344CB8AC3E}">
        <p14:creationId xmlns:p14="http://schemas.microsoft.com/office/powerpoint/2010/main" val="2936616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C4017-CE22-3EB3-2A26-0D09E831B726}"/>
              </a:ext>
            </a:extLst>
          </p:cNvPr>
          <p:cNvSpPr>
            <a:spLocks noGrp="1"/>
          </p:cNvSpPr>
          <p:nvPr>
            <p:ph type="title"/>
          </p:nvPr>
        </p:nvSpPr>
        <p:spPr>
          <a:xfrm>
            <a:off x="533400" y="2132806"/>
            <a:ext cx="11150600" cy="3046988"/>
          </a:xfrm>
        </p:spPr>
        <p:txBody>
          <a:bodyPr/>
          <a:lstStyle/>
          <a:p>
            <a:pPr algn="ctr"/>
            <a:r>
              <a:rPr lang="en-US" sz="6600" dirty="0" err="1">
                <a:latin typeface="Times New Roman" panose="02020603050405020304" pitchFamily="18" charset="0"/>
                <a:cs typeface="Times New Roman" panose="02020603050405020304" pitchFamily="18" charset="0"/>
              </a:rPr>
              <a:t>Mô</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hình</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hóa</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và</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phân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tích</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quy</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trình</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bán</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hàng</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và</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giao</a:t>
            </a:r>
            <a:r>
              <a:rPr lang="en-US" sz="6600" dirty="0">
                <a:latin typeface="Times New Roman" panose="02020603050405020304" pitchFamily="18" charset="0"/>
                <a:cs typeface="Times New Roman" panose="02020603050405020304" pitchFamily="18" charset="0"/>
              </a:rPr>
              <a:t> </a:t>
            </a:r>
            <a:r>
              <a:rPr lang="en-US" sz="6600" dirty="0" err="1">
                <a:latin typeface="Times New Roman" panose="02020603050405020304" pitchFamily="18" charset="0"/>
                <a:cs typeface="Times New Roman" panose="02020603050405020304" pitchFamily="18" charset="0"/>
              </a:rPr>
              <a:t>hàng</a:t>
            </a:r>
            <a:endParaRPr lang="en-US"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682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76428-0CA6-E802-76F4-D6706DD849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D609190-DA32-D922-5933-A07F47DE1010}"/>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E79A7137-6843-4CF5-BC2C-50022E839A0C}"/>
              </a:ext>
            </a:extLst>
          </p:cNvPr>
          <p:cNvSpPr txBox="1">
            <a:spLocks noGrp="1"/>
          </p:cNvSpPr>
          <p:nvPr>
            <p:ph type="title"/>
          </p:nvPr>
        </p:nvSpPr>
        <p:spPr>
          <a:xfrm>
            <a:off x="558800" y="316995"/>
            <a:ext cx="62992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PHƯƠNG PHÁP KHẢO SÁT QUY TRÌNH</a:t>
            </a:r>
            <a:endParaRPr sz="2350" dirty="0">
              <a:latin typeface="Times New Roman" panose="02020603050405020304" pitchFamily="18" charset="0"/>
              <a:cs typeface="Times New Roman" panose="02020603050405020304" pitchFamily="18" charset="0"/>
            </a:endParaRPr>
          </a:p>
        </p:txBody>
      </p:sp>
      <p:sp>
        <p:nvSpPr>
          <p:cNvPr id="22" name="object 9">
            <a:extLst>
              <a:ext uri="{FF2B5EF4-FFF2-40B4-BE49-F238E27FC236}">
                <a16:creationId xmlns:a16="http://schemas.microsoft.com/office/drawing/2014/main" id="{37134377-22A8-A967-7F48-8B8199356136}"/>
              </a:ext>
            </a:extLst>
          </p:cNvPr>
          <p:cNvSpPr txBox="1"/>
          <p:nvPr/>
        </p:nvSpPr>
        <p:spPr>
          <a:xfrm>
            <a:off x="602471" y="1523206"/>
            <a:ext cx="11513329" cy="4035079"/>
          </a:xfrm>
          <a:prstGeom prst="rect">
            <a:avLst/>
          </a:prstGeom>
        </p:spPr>
        <p:txBody>
          <a:bodyPr vert="horz" wrap="square" lIns="0" tIns="132715" rIns="0" bIns="0" rtlCol="0">
            <a:spAutoFit/>
          </a:bodyPr>
          <a:lstStyle/>
          <a:p>
            <a:pPr marL="12700">
              <a:lnSpc>
                <a:spcPct val="100000"/>
              </a:lnSpc>
              <a:spcBef>
                <a:spcPts val="1045"/>
              </a:spcBef>
            </a:pPr>
            <a:r>
              <a:rPr lang="en-US" sz="3600" spc="-100" dirty="0" err="1">
                <a:solidFill>
                  <a:srgbClr val="FFFFFF"/>
                </a:solidFill>
                <a:latin typeface="Times New Roman" panose="02020603050405020304" pitchFamily="18" charset="0"/>
                <a:cs typeface="Times New Roman" panose="02020603050405020304" pitchFamily="18" charset="0"/>
              </a:rPr>
              <a:t>Dựa</a:t>
            </a:r>
            <a:r>
              <a:rPr lang="en-US" sz="3600" spc="-100" dirty="0">
                <a:solidFill>
                  <a:srgbClr val="FFFFFF"/>
                </a:solidFill>
                <a:latin typeface="Times New Roman" panose="02020603050405020304" pitchFamily="18" charset="0"/>
                <a:cs typeface="Times New Roman" panose="02020603050405020304" pitchFamily="18" charset="0"/>
              </a:rPr>
              <a:t> </a:t>
            </a:r>
            <a:r>
              <a:rPr lang="en-US" sz="3600" spc="-100" dirty="0" err="1">
                <a:solidFill>
                  <a:srgbClr val="FFFFFF"/>
                </a:solidFill>
                <a:latin typeface="Times New Roman" panose="02020603050405020304" pitchFamily="18" charset="0"/>
                <a:cs typeface="Times New Roman" panose="02020603050405020304" pitchFamily="18" charset="0"/>
              </a:rPr>
              <a:t>trên</a:t>
            </a:r>
            <a:r>
              <a:rPr lang="en-US" sz="3600" spc="-100" dirty="0">
                <a:solidFill>
                  <a:srgbClr val="FFFFFF"/>
                </a:solidFill>
                <a:latin typeface="Times New Roman" panose="02020603050405020304" pitchFamily="18" charset="0"/>
                <a:cs typeface="Times New Roman" panose="02020603050405020304" pitchFamily="18" charset="0"/>
              </a:rPr>
              <a:t> </a:t>
            </a:r>
            <a:r>
              <a:rPr lang="en-US" sz="3600" spc="-100" dirty="0" err="1">
                <a:solidFill>
                  <a:srgbClr val="FFFFFF"/>
                </a:solidFill>
                <a:latin typeface="Times New Roman" panose="02020603050405020304" pitchFamily="18" charset="0"/>
                <a:cs typeface="Times New Roman" panose="02020603050405020304" pitchFamily="18" charset="0"/>
              </a:rPr>
              <a:t>bằng</a:t>
            </a:r>
            <a:r>
              <a:rPr lang="en-US" sz="3600" spc="-100" dirty="0">
                <a:solidFill>
                  <a:srgbClr val="FFFFFF"/>
                </a:solidFill>
                <a:latin typeface="Times New Roman" panose="02020603050405020304" pitchFamily="18" charset="0"/>
                <a:cs typeface="Times New Roman" panose="02020603050405020304" pitchFamily="18" charset="0"/>
              </a:rPr>
              <a:t> </a:t>
            </a:r>
            <a:r>
              <a:rPr lang="en-US" sz="3600" spc="-100" dirty="0" err="1">
                <a:solidFill>
                  <a:srgbClr val="FFFFFF"/>
                </a:solidFill>
                <a:latin typeface="Times New Roman" panose="02020603050405020304" pitchFamily="18" charset="0"/>
                <a:cs typeface="Times New Roman" panose="02020603050405020304" pitchFamily="18" charset="0"/>
              </a:rPr>
              <a:t>chứng</a:t>
            </a:r>
            <a:endParaRPr sz="3600" dirty="0">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sz="3600" spc="-70" dirty="0">
                <a:solidFill>
                  <a:srgbClr val="FFFFFF"/>
                </a:solidFill>
                <a:latin typeface="Times New Roman" panose="02020603050405020304" pitchFamily="18" charset="0"/>
                <a:cs typeface="Times New Roman" panose="02020603050405020304" pitchFamily="18" charset="0"/>
              </a:rPr>
              <a:t>Qu</a:t>
            </a:r>
            <a:r>
              <a:rPr lang="en-US" sz="3600" spc="-70" dirty="0">
                <a:solidFill>
                  <a:srgbClr val="FFFFFF"/>
                </a:solidFill>
                <a:latin typeface="Times New Roman" panose="02020603050405020304" pitchFamily="18" charset="0"/>
                <a:cs typeface="Times New Roman" panose="02020603050405020304" pitchFamily="18" charset="0"/>
              </a:rPr>
              <a:t>an </a:t>
            </a:r>
            <a:r>
              <a:rPr lang="en-US" sz="3600" spc="-70" dirty="0" err="1">
                <a:solidFill>
                  <a:srgbClr val="FFFFFF"/>
                </a:solidFill>
                <a:latin typeface="Times New Roman" panose="02020603050405020304" pitchFamily="18" charset="0"/>
                <a:cs typeface="Times New Roman" panose="02020603050405020304" pitchFamily="18" charset="0"/>
              </a:rPr>
              <a:t>sát</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quy</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trình</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hiện</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tại</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spc="-70" dirty="0" err="1">
                <a:solidFill>
                  <a:srgbClr val="FFFFFF"/>
                </a:solidFill>
                <a:latin typeface="Times New Roman" panose="02020603050405020304" pitchFamily="18" charset="0"/>
                <a:cs typeface="Times New Roman" panose="02020603050405020304" pitchFamily="18" charset="0"/>
              </a:rPr>
              <a:t>Sơ</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đồ</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tổ</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chức</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spc="-70" dirty="0" err="1">
                <a:solidFill>
                  <a:srgbClr val="FFFFFF"/>
                </a:solidFill>
                <a:latin typeface="Times New Roman" panose="02020603050405020304" pitchFamily="18" charset="0"/>
                <a:cs typeface="Times New Roman" panose="02020603050405020304" pitchFamily="18" charset="0"/>
              </a:rPr>
              <a:t>Kế</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hoạch</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làm</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việc</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spc="-70" dirty="0" err="1">
                <a:solidFill>
                  <a:srgbClr val="FFFFFF"/>
                </a:solidFill>
                <a:latin typeface="Times New Roman" panose="02020603050405020304" pitchFamily="18" charset="0"/>
                <a:cs typeface="Times New Roman" panose="02020603050405020304" pitchFamily="18" charset="0"/>
              </a:rPr>
              <a:t>Thuật</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ngữ</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sổ</a:t>
            </a:r>
            <a:r>
              <a:rPr lang="en-US" sz="3600" spc="-70" dirty="0">
                <a:solidFill>
                  <a:srgbClr val="FFFFFF"/>
                </a:solidFill>
                <a:latin typeface="Times New Roman" panose="02020603050405020304" pitchFamily="18" charset="0"/>
                <a:cs typeface="Times New Roman" panose="02020603050405020304" pitchFamily="18" charset="0"/>
              </a:rPr>
              <a:t> </a:t>
            </a:r>
            <a:r>
              <a:rPr lang="en-US" sz="3600" spc="-70" dirty="0" err="1">
                <a:solidFill>
                  <a:srgbClr val="FFFFFF"/>
                </a:solidFill>
                <a:latin typeface="Times New Roman" panose="02020603050405020304" pitchFamily="18" charset="0"/>
                <a:cs typeface="Times New Roman" panose="02020603050405020304" pitchFamily="18" charset="0"/>
              </a:rPr>
              <a:t>tay</a:t>
            </a:r>
            <a:endParaRPr lang="en-US" sz="36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3600" dirty="0">
                <a:solidFill>
                  <a:schemeClr val="bg1"/>
                </a:solidFill>
                <a:latin typeface="Times New Roman" panose="02020603050405020304" pitchFamily="18" charset="0"/>
                <a:cs typeface="Times New Roman" panose="02020603050405020304" pitchFamily="18" charset="0"/>
              </a:rPr>
              <a:t>Sales &amp; delivery process discovery workshop</a:t>
            </a:r>
          </a:p>
        </p:txBody>
      </p:sp>
    </p:spTree>
    <p:extLst>
      <p:ext uri="{BB962C8B-B14F-4D97-AF65-F5344CB8AC3E}">
        <p14:creationId xmlns:p14="http://schemas.microsoft.com/office/powerpoint/2010/main" val="2573770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F989A-DC20-C5FC-A5DB-A3FB7F48F9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B4B3FFF-6F48-FB32-2892-078C5A851F06}"/>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C9C99D34-207B-E27D-63A9-54ADA971EE5F}"/>
              </a:ext>
            </a:extLst>
          </p:cNvPr>
          <p:cNvSpPr txBox="1">
            <a:spLocks noGrp="1"/>
          </p:cNvSpPr>
          <p:nvPr>
            <p:ph type="title"/>
          </p:nvPr>
        </p:nvSpPr>
        <p:spPr>
          <a:xfrm>
            <a:off x="558800" y="316995"/>
            <a:ext cx="70612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PHƯƠNG PHÁP KHẢO SÁT QUY TRÌNH</a:t>
            </a:r>
            <a:endParaRPr sz="2350" dirty="0">
              <a:latin typeface="Times New Roman" panose="02020603050405020304" pitchFamily="18" charset="0"/>
              <a:cs typeface="Times New Roman" panose="02020603050405020304" pitchFamily="18" charset="0"/>
            </a:endParaRPr>
          </a:p>
        </p:txBody>
      </p:sp>
      <p:sp>
        <p:nvSpPr>
          <p:cNvPr id="23" name="object 9">
            <a:extLst>
              <a:ext uri="{FF2B5EF4-FFF2-40B4-BE49-F238E27FC236}">
                <a16:creationId xmlns:a16="http://schemas.microsoft.com/office/drawing/2014/main" id="{1A530D61-E933-9A48-7074-19CFE712B527}"/>
              </a:ext>
            </a:extLst>
          </p:cNvPr>
          <p:cNvSpPr txBox="1"/>
          <p:nvPr/>
        </p:nvSpPr>
        <p:spPr>
          <a:xfrm>
            <a:off x="457200" y="989806"/>
            <a:ext cx="10210800" cy="1493358"/>
          </a:xfrm>
          <a:prstGeom prst="rect">
            <a:avLst/>
          </a:prstGeom>
        </p:spPr>
        <p:txBody>
          <a:bodyPr vert="horz" wrap="square" lIns="0" tIns="132715" rIns="0" bIns="0" rtlCol="0">
            <a:spAutoFit/>
          </a:bodyPr>
          <a:lstStyle/>
          <a:p>
            <a:pPr marL="12700">
              <a:lnSpc>
                <a:spcPct val="100000"/>
              </a:lnSpc>
              <a:spcBef>
                <a:spcPts val="1045"/>
              </a:spcBef>
            </a:pPr>
            <a:r>
              <a:rPr lang="en-US" sz="2000" spc="-100" dirty="0" err="1">
                <a:solidFill>
                  <a:srgbClr val="FFFFFF"/>
                </a:solidFill>
                <a:latin typeface="Times New Roman" panose="02020603050405020304" pitchFamily="18" charset="0"/>
                <a:cs typeface="Times New Roman" panose="02020603050405020304" pitchFamily="18" charset="0"/>
              </a:rPr>
              <a:t>Dựa</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trên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phỏng</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vấn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chuyên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môn</a:t>
            </a:r>
            <a:endParaRPr lang="en-US" sz="2000" spc="-100" dirty="0">
              <a:solidFill>
                <a:srgbClr val="FFFFFF"/>
              </a:solidFill>
              <a:latin typeface="Times New Roman" panose="02020603050405020304" pitchFamily="18" charset="0"/>
              <a:cs typeface="Times New Roman" panose="02020603050405020304" pitchFamily="18" charset="0"/>
            </a:endParaRPr>
          </a:p>
          <a:p>
            <a:pPr marL="12700">
              <a:lnSpc>
                <a:spcPct val="100000"/>
              </a:lnSpc>
              <a:spcBef>
                <a:spcPts val="1045"/>
              </a:spcBef>
            </a:pPr>
            <a:r>
              <a:rPr lang="en-US" sz="2000" dirty="0" err="1">
                <a:solidFill>
                  <a:schemeClr val="bg1"/>
                </a:solidFill>
                <a:latin typeface="Times New Roman" panose="02020603050405020304" pitchFamily="18" charset="0"/>
                <a:cs typeface="Times New Roman" panose="02020603050405020304" pitchFamily="18" charset="0"/>
              </a:rPr>
              <a:t>Đối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tượng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phỏng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vấn</a:t>
            </a:r>
            <a:r>
              <a:rPr lang="en-US" sz="2000" dirty="0">
                <a:solidFill>
                  <a:schemeClr val="bg1"/>
                </a:solidFill>
                <a:latin typeface="Times New Roman" panose="02020603050405020304" pitchFamily="18" charset="0"/>
                <a:cs typeface="Times New Roman" panose="02020603050405020304" pitchFamily="18" charset="0"/>
              </a:rPr>
              <a:t>: Sales Manager, Customer Service Representative, Order Processing Specialist, Logistics Coordinator, Warehouse Manager, Distribution Manager, Key Account Manager</a:t>
            </a:r>
            <a:endParaRPr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3381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EB2B-85C7-CC04-3DD4-9BBFB1F74C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11E6DA-4CE6-005D-345F-475F745D0F12}"/>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B69F499D-0751-36BA-F9A6-DED7F970A620}"/>
              </a:ext>
            </a:extLst>
          </p:cNvPr>
          <p:cNvSpPr txBox="1">
            <a:spLocks noGrp="1"/>
          </p:cNvSpPr>
          <p:nvPr>
            <p:ph type="title"/>
          </p:nvPr>
        </p:nvSpPr>
        <p:spPr>
          <a:xfrm>
            <a:off x="558800" y="316995"/>
            <a:ext cx="7061200" cy="397545"/>
          </a:xfrm>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PHƯƠNG PHÁP KHẢO SÁT QUY TRÌNH</a:t>
            </a:r>
            <a:endParaRPr sz="2350" dirty="0">
              <a:latin typeface="Times New Roman" panose="02020603050405020304" pitchFamily="18" charset="0"/>
              <a:cs typeface="Times New Roman" panose="02020603050405020304" pitchFamily="18" charset="0"/>
            </a:endParaRPr>
          </a:p>
        </p:txBody>
      </p:sp>
      <p:sp>
        <p:nvSpPr>
          <p:cNvPr id="23" name="object 9">
            <a:extLst>
              <a:ext uri="{FF2B5EF4-FFF2-40B4-BE49-F238E27FC236}">
                <a16:creationId xmlns:a16="http://schemas.microsoft.com/office/drawing/2014/main" id="{DBCDFD47-1811-53E0-4D3A-C7CD82D21928}"/>
              </a:ext>
            </a:extLst>
          </p:cNvPr>
          <p:cNvSpPr txBox="1"/>
          <p:nvPr/>
        </p:nvSpPr>
        <p:spPr>
          <a:xfrm>
            <a:off x="457200" y="989806"/>
            <a:ext cx="5638800" cy="5673989"/>
          </a:xfrm>
          <a:prstGeom prst="rect">
            <a:avLst/>
          </a:prstGeom>
        </p:spPr>
        <p:txBody>
          <a:bodyPr vert="horz" wrap="square" lIns="0" tIns="132715" rIns="0" bIns="0" rtlCol="0">
            <a:spAutoFit/>
          </a:bodyPr>
          <a:lstStyle/>
          <a:p>
            <a:pPr marL="12700">
              <a:lnSpc>
                <a:spcPct val="100000"/>
              </a:lnSpc>
              <a:spcBef>
                <a:spcPts val="1045"/>
              </a:spcBef>
            </a:pPr>
            <a:r>
              <a:rPr lang="en-US" sz="2000" spc="-100" dirty="0" err="1">
                <a:solidFill>
                  <a:srgbClr val="FFFFFF"/>
                </a:solidFill>
                <a:latin typeface="Times New Roman" panose="02020603050405020304" pitchFamily="18" charset="0"/>
                <a:cs typeface="Times New Roman" panose="02020603050405020304" pitchFamily="18" charset="0"/>
              </a:rPr>
              <a:t>Dựa</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trên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phỏng</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vấn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chuyên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môn</a:t>
            </a:r>
            <a:endParaRPr sz="2000" dirty="0">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spc="-70" dirty="0" err="1">
                <a:solidFill>
                  <a:srgbClr val="FFFFFF"/>
                </a:solidFill>
                <a:latin typeface="Times New Roman" panose="02020603050405020304" pitchFamily="18" charset="0"/>
                <a:cs typeface="Times New Roman" panose="02020603050405020304" pitchFamily="18" charset="0"/>
              </a:rPr>
              <a:t>Câu</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hỏi</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định</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tính</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đóng</a:t>
            </a:r>
            <a:r>
              <a:rPr lang="en-US" sz="2000" spc="-70" dirty="0">
                <a:solidFill>
                  <a:srgbClr val="FFFFFF"/>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vi-VN" sz="2000" spc="-70" dirty="0">
                <a:solidFill>
                  <a:srgbClr val="FFFFFF"/>
                </a:solidFill>
                <a:latin typeface="Times New Roman" panose="02020603050405020304" pitchFamily="18" charset="0"/>
                <a:cs typeface="Times New Roman" panose="02020603050405020304" pitchFamily="18" charset="0"/>
              </a:rPr>
              <a:t>Khi nhận được yêu cầu báo giá từ khách hàng, bước đầu tiên trong quy trình thường là:</a:t>
            </a:r>
          </a:p>
          <a:p>
            <a:pPr marL="202565">
              <a:lnSpc>
                <a:spcPct val="100000"/>
              </a:lnSpc>
              <a:spcBef>
                <a:spcPts val="875"/>
              </a:spcBef>
            </a:pPr>
            <a:r>
              <a:rPr lang="vi-VN" sz="2000" spc="-70" dirty="0">
                <a:solidFill>
                  <a:srgbClr val="FFFFFF"/>
                </a:solidFill>
                <a:latin typeface="Times New Roman" panose="02020603050405020304" pitchFamily="18" charset="0"/>
                <a:cs typeface="Times New Roman" panose="02020603050405020304" pitchFamily="18" charset="0"/>
              </a:rPr>
              <a:t>a) Kiểm tra thông tin tín dụng và khả năng thanh toán của khách hàng</a:t>
            </a:r>
          </a:p>
          <a:p>
            <a:pPr marL="202565">
              <a:lnSpc>
                <a:spcPct val="100000"/>
              </a:lnSpc>
              <a:spcBef>
                <a:spcPts val="875"/>
              </a:spcBef>
            </a:pPr>
            <a:r>
              <a:rPr lang="vi-VN" sz="2000" spc="-70" dirty="0">
                <a:solidFill>
                  <a:srgbClr val="FFFFFF"/>
                </a:solidFill>
                <a:latin typeface="Times New Roman" panose="02020603050405020304" pitchFamily="18" charset="0"/>
                <a:cs typeface="Times New Roman" panose="02020603050405020304" pitchFamily="18" charset="0"/>
              </a:rPr>
              <a:t>b) Xác minh tính khả thi kỹ thuật và tồn kho sản phẩm</a:t>
            </a:r>
          </a:p>
          <a:p>
            <a:pPr marL="202565">
              <a:lnSpc>
                <a:spcPct val="100000"/>
              </a:lnSpc>
              <a:spcBef>
                <a:spcPts val="875"/>
              </a:spcBef>
            </a:pPr>
            <a:r>
              <a:rPr lang="vi-VN" sz="2000" spc="-70" dirty="0">
                <a:solidFill>
                  <a:srgbClr val="FFFFFF"/>
                </a:solidFill>
                <a:latin typeface="Times New Roman" panose="02020603050405020304" pitchFamily="18" charset="0"/>
                <a:cs typeface="Times New Roman" panose="02020603050405020304" pitchFamily="18" charset="0"/>
              </a:rPr>
              <a:t>c) Phân tích </a:t>
            </a:r>
            <a:r>
              <a:rPr lang="vi-VN" sz="2000" spc="-70" dirty="0" err="1">
                <a:solidFill>
                  <a:srgbClr val="FFFFFF"/>
                </a:solidFill>
                <a:latin typeface="Times New Roman" panose="02020603050405020304" pitchFamily="18" charset="0"/>
                <a:cs typeface="Times New Roman" panose="02020603050405020304" pitchFamily="18" charset="0"/>
              </a:rPr>
              <a:t>competitive</a:t>
            </a:r>
            <a:r>
              <a:rPr lang="vi-VN" sz="2000" spc="-70" dirty="0">
                <a:solidFill>
                  <a:srgbClr val="FFFFFF"/>
                </a:solidFill>
                <a:latin typeface="Times New Roman" panose="02020603050405020304" pitchFamily="18" charset="0"/>
                <a:cs typeface="Times New Roman" panose="02020603050405020304" pitchFamily="18" charset="0"/>
              </a:rPr>
              <a:t> </a:t>
            </a:r>
            <a:r>
              <a:rPr lang="vi-VN" sz="2000" spc="-70" dirty="0" err="1">
                <a:solidFill>
                  <a:srgbClr val="FFFFFF"/>
                </a:solidFill>
                <a:latin typeface="Times New Roman" panose="02020603050405020304" pitchFamily="18" charset="0"/>
                <a:cs typeface="Times New Roman" panose="02020603050405020304" pitchFamily="18" charset="0"/>
              </a:rPr>
              <a:t>landscape</a:t>
            </a:r>
            <a:r>
              <a:rPr lang="vi-VN" sz="2000" spc="-70" dirty="0">
                <a:solidFill>
                  <a:srgbClr val="FFFFFF"/>
                </a:solidFill>
                <a:latin typeface="Times New Roman" panose="02020603050405020304" pitchFamily="18" charset="0"/>
                <a:cs typeface="Times New Roman" panose="02020603050405020304" pitchFamily="18" charset="0"/>
              </a:rPr>
              <a:t> và </a:t>
            </a:r>
            <a:r>
              <a:rPr lang="vi-VN" sz="2000" spc="-70" dirty="0" err="1">
                <a:solidFill>
                  <a:srgbClr val="FFFFFF"/>
                </a:solidFill>
                <a:latin typeface="Times New Roman" panose="02020603050405020304" pitchFamily="18" charset="0"/>
                <a:cs typeface="Times New Roman" panose="02020603050405020304" pitchFamily="18" charset="0"/>
              </a:rPr>
              <a:t>pricing</a:t>
            </a:r>
            <a:r>
              <a:rPr lang="vi-VN" sz="2000" spc="-70" dirty="0">
                <a:solidFill>
                  <a:srgbClr val="FFFFFF"/>
                </a:solidFill>
                <a:latin typeface="Times New Roman" panose="02020603050405020304" pitchFamily="18" charset="0"/>
                <a:cs typeface="Times New Roman" panose="02020603050405020304" pitchFamily="18" charset="0"/>
              </a:rPr>
              <a:t> </a:t>
            </a:r>
            <a:r>
              <a:rPr lang="vi-VN" sz="2000" spc="-70" dirty="0" err="1">
                <a:solidFill>
                  <a:srgbClr val="FFFFFF"/>
                </a:solidFill>
                <a:latin typeface="Times New Roman" panose="02020603050405020304" pitchFamily="18" charset="0"/>
                <a:cs typeface="Times New Roman" panose="02020603050405020304" pitchFamily="18" charset="0"/>
              </a:rPr>
              <a:t>strategy</a:t>
            </a:r>
            <a:endParaRPr lang="vi-VN" sz="2000" spc="-70" dirty="0">
              <a:solidFill>
                <a:srgbClr val="FFFFFF"/>
              </a:solidFill>
              <a:latin typeface="Times New Roman" panose="02020603050405020304" pitchFamily="18" charset="0"/>
              <a:cs typeface="Times New Roman" panose="02020603050405020304" pitchFamily="18" charset="0"/>
            </a:endParaRPr>
          </a:p>
          <a:p>
            <a:pPr marL="202565">
              <a:lnSpc>
                <a:spcPct val="100000"/>
              </a:lnSpc>
              <a:spcBef>
                <a:spcPts val="875"/>
              </a:spcBef>
            </a:pPr>
            <a:r>
              <a:rPr lang="vi-VN" sz="2000" spc="-70" dirty="0">
                <a:solidFill>
                  <a:srgbClr val="FFFFFF"/>
                </a:solidFill>
                <a:latin typeface="Times New Roman" panose="02020603050405020304" pitchFamily="18" charset="0"/>
                <a:cs typeface="Times New Roman" panose="02020603050405020304" pitchFamily="18" charset="0"/>
              </a:rPr>
              <a:t>d) Đánh giá mức độ ưu tiên dựa trên quy mô và tiềm năng đơn hàng</a:t>
            </a:r>
            <a:endParaRPr lang="en-US" sz="2000" spc="-70" dirty="0">
              <a:solidFill>
                <a:srgbClr val="FFFFFF"/>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Câu</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hỏi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định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tính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mở</a:t>
            </a:r>
            <a:r>
              <a:rPr lang="en-US" sz="2000" dirty="0">
                <a:solidFill>
                  <a:schemeClr val="bg1"/>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en-US" sz="2000" dirty="0" err="1">
                <a:solidFill>
                  <a:schemeClr val="bg1"/>
                </a:solidFill>
                <a:latin typeface="Times New Roman" panose="02020603050405020304" pitchFamily="18" charset="0"/>
                <a:cs typeface="Times New Roman" panose="02020603050405020304" pitchFamily="18" charset="0"/>
              </a:rPr>
              <a:t>Dựa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trên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kinh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nghiệm</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của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anh</a:t>
            </a:r>
            <a:r>
              <a:rPr lang="en-US" sz="2000" dirty="0">
                <a:solidFill>
                  <a:schemeClr val="bg1"/>
                </a:solidFill>
                <a:latin typeface="Times New Roman" panose="02020603050405020304" pitchFamily="18" charset="0"/>
                <a:cs typeface="Times New Roman" panose="02020603050405020304" pitchFamily="18" charset="0"/>
              </a:rPr>
              <a:t>/</a:t>
            </a:r>
            <a:r>
              <a:rPr lang="en-US" sz="2000" dirty="0" err="1">
                <a:solidFill>
                  <a:schemeClr val="bg1"/>
                </a:solidFill>
                <a:latin typeface="Times New Roman" panose="02020603050405020304" pitchFamily="18" charset="0"/>
                <a:cs typeface="Times New Roman" panose="02020603050405020304" pitchFamily="18" charset="0"/>
              </a:rPr>
              <a:t>chị</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những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thách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thức</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lớn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nhất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trong</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việc</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quản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lý</a:t>
            </a:r>
            <a:r>
              <a:rPr lang="en-US" sz="2000" dirty="0">
                <a:solidFill>
                  <a:schemeClr val="bg1"/>
                </a:solidFill>
                <a:latin typeface="Times New Roman" panose="02020603050405020304" pitchFamily="18" charset="0"/>
                <a:cs typeface="Times New Roman" panose="02020603050405020304" pitchFamily="18" charset="0"/>
              </a:rPr>
              <a:t> multi-channel sales process </a:t>
            </a:r>
            <a:r>
              <a:rPr lang="en-US" sz="2000" dirty="0" err="1">
                <a:solidFill>
                  <a:schemeClr val="bg1"/>
                </a:solidFill>
                <a:latin typeface="Times New Roman" panose="02020603050405020304" pitchFamily="18" charset="0"/>
                <a:cs typeface="Times New Roman" panose="02020603050405020304" pitchFamily="18" charset="0"/>
              </a:rPr>
              <a:t>tại</a:t>
            </a:r>
            <a:r>
              <a:rPr lang="en-US" sz="2000" dirty="0">
                <a:solidFill>
                  <a:schemeClr val="bg1"/>
                </a:solidFill>
                <a:latin typeface="Times New Roman" panose="02020603050405020304" pitchFamily="18" charset="0"/>
                <a:cs typeface="Times New Roman" panose="02020603050405020304" pitchFamily="18" charset="0"/>
              </a:rPr>
              <a:t> BOSCH </a:t>
            </a:r>
            <a:r>
              <a:rPr lang="en-US" sz="2000" dirty="0" err="1">
                <a:solidFill>
                  <a:schemeClr val="bg1"/>
                </a:solidFill>
                <a:latin typeface="Times New Roman" panose="02020603050405020304" pitchFamily="18" charset="0"/>
                <a:cs typeface="Times New Roman" panose="02020603050405020304" pitchFamily="18" charset="0"/>
              </a:rPr>
              <a:t>là</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gì</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Làm</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thế</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nào</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để</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đảm</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bảo</a:t>
            </a:r>
            <a:r>
              <a:rPr lang="en-US" sz="2000" dirty="0">
                <a:solidFill>
                  <a:schemeClr val="bg1"/>
                </a:solidFill>
                <a:latin typeface="Times New Roman" panose="02020603050405020304" pitchFamily="18" charset="0"/>
                <a:cs typeface="Times New Roman" panose="02020603050405020304" pitchFamily="18" charset="0"/>
              </a:rPr>
              <a:t> consistency?</a:t>
            </a:r>
          </a:p>
        </p:txBody>
      </p:sp>
      <p:sp>
        <p:nvSpPr>
          <p:cNvPr id="4" name="object 9">
            <a:extLst>
              <a:ext uri="{FF2B5EF4-FFF2-40B4-BE49-F238E27FC236}">
                <a16:creationId xmlns:a16="http://schemas.microsoft.com/office/drawing/2014/main" id="{17BDB473-8013-BCBA-C651-A8F32C96F36F}"/>
              </a:ext>
            </a:extLst>
          </p:cNvPr>
          <p:cNvSpPr txBox="1"/>
          <p:nvPr/>
        </p:nvSpPr>
        <p:spPr>
          <a:xfrm>
            <a:off x="6477000" y="989806"/>
            <a:ext cx="5105400" cy="5058436"/>
          </a:xfrm>
          <a:prstGeom prst="rect">
            <a:avLst/>
          </a:prstGeom>
        </p:spPr>
        <p:txBody>
          <a:bodyPr vert="horz" wrap="square" lIns="0" tIns="132715" rIns="0" bIns="0" rtlCol="0">
            <a:spAutoFit/>
          </a:bodyPr>
          <a:lstStyle/>
          <a:p>
            <a:pPr marL="12700">
              <a:lnSpc>
                <a:spcPct val="100000"/>
              </a:lnSpc>
              <a:spcBef>
                <a:spcPts val="1045"/>
              </a:spcBef>
            </a:pPr>
            <a:r>
              <a:rPr lang="en-US" sz="2000" spc="-100" dirty="0" err="1">
                <a:solidFill>
                  <a:srgbClr val="FFFFFF"/>
                </a:solidFill>
                <a:latin typeface="Times New Roman" panose="02020603050405020304" pitchFamily="18" charset="0"/>
                <a:cs typeface="Times New Roman" panose="02020603050405020304" pitchFamily="18" charset="0"/>
              </a:rPr>
              <a:t>Dựa</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trên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phỏng</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vấn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chuyên</a:t>
            </a:r>
            <a:r>
              <a:rPr lang="en-US" sz="2000" spc="-100" dirty="0">
                <a:solidFill>
                  <a:srgbClr val="FFFFFF"/>
                </a:solidFill>
                <a:latin typeface="Times New Roman" panose="02020603050405020304" pitchFamily="18" charset="0"/>
                <a:cs typeface="Times New Roman" panose="02020603050405020304" pitchFamily="18" charset="0"/>
              </a:rPr>
              <a:t> </a:t>
            </a:r>
            <a:r>
              <a:rPr lang="en-US" sz="2000" spc="-100" dirty="0" err="1">
                <a:solidFill>
                  <a:srgbClr val="FFFFFF"/>
                </a:solidFill>
                <a:latin typeface="Times New Roman" panose="02020603050405020304" pitchFamily="18" charset="0"/>
                <a:cs typeface="Times New Roman" panose="02020603050405020304" pitchFamily="18" charset="0"/>
              </a:rPr>
              <a:t>môn</a:t>
            </a:r>
            <a:endParaRPr sz="2000" dirty="0">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spc="-70" dirty="0" err="1">
                <a:solidFill>
                  <a:srgbClr val="FFFFFF"/>
                </a:solidFill>
                <a:latin typeface="Times New Roman" panose="02020603050405020304" pitchFamily="18" charset="0"/>
                <a:cs typeface="Times New Roman" panose="02020603050405020304" pitchFamily="18" charset="0"/>
              </a:rPr>
              <a:t>Câu</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hỏi</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định</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lượng</a:t>
            </a:r>
            <a:r>
              <a:rPr lang="en-US" sz="2000" spc="-70" dirty="0">
                <a:solidFill>
                  <a:srgbClr val="FFFFFF"/>
                </a:solidFill>
                <a:latin typeface="Times New Roman" panose="02020603050405020304" pitchFamily="18" charset="0"/>
                <a:cs typeface="Times New Roman" panose="02020603050405020304" pitchFamily="18" charset="0"/>
              </a:rPr>
              <a:t> </a:t>
            </a:r>
            <a:r>
              <a:rPr lang="en-US" sz="2000" spc="-70" dirty="0" err="1">
                <a:solidFill>
                  <a:srgbClr val="FFFFFF"/>
                </a:solidFill>
                <a:latin typeface="Times New Roman" panose="02020603050405020304" pitchFamily="18" charset="0"/>
                <a:cs typeface="Times New Roman" panose="02020603050405020304" pitchFamily="18" charset="0"/>
              </a:rPr>
              <a:t>đóng</a:t>
            </a:r>
            <a:r>
              <a:rPr lang="en-US" sz="2000" spc="-70" dirty="0">
                <a:solidFill>
                  <a:srgbClr val="FFFFFF"/>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vi-VN" sz="2000" dirty="0" err="1">
                <a:solidFill>
                  <a:schemeClr val="bg1"/>
                </a:solidFill>
                <a:latin typeface="Times New Roman" panose="02020603050405020304" pitchFamily="18" charset="0"/>
                <a:cs typeface="Times New Roman" panose="02020603050405020304" pitchFamily="18" charset="0"/>
              </a:rPr>
              <a:t>Order</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fulfillment</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rate</a:t>
            </a:r>
            <a:r>
              <a:rPr lang="vi-VN" sz="2000" dirty="0">
                <a:solidFill>
                  <a:schemeClr val="bg1"/>
                </a:solidFill>
                <a:latin typeface="Times New Roman" panose="02020603050405020304" pitchFamily="18" charset="0"/>
                <a:cs typeface="Times New Roman" panose="02020603050405020304" pitchFamily="18" charset="0"/>
              </a:rPr>
              <a:t> (đơn hàng được giao đúng hẹn) của BOSCH hiện tại đạt:</a:t>
            </a:r>
            <a:endParaRPr lang="en-US" sz="2000" dirty="0">
              <a:solidFill>
                <a:schemeClr val="bg1"/>
              </a:solidFill>
              <a:latin typeface="Times New Roman" panose="02020603050405020304" pitchFamily="18" charset="0"/>
              <a:cs typeface="Times New Roman" panose="02020603050405020304" pitchFamily="18" charset="0"/>
            </a:endParaRP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a) Dưới 90%</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b) 90-95%</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c) 95-98%</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d) Trên 98%</a:t>
            </a:r>
            <a:endParaRPr lang="en-US" sz="2000" dirty="0">
              <a:solidFill>
                <a:schemeClr val="bg1"/>
              </a:solidFill>
              <a:latin typeface="Times New Roman" panose="02020603050405020304" pitchFamily="18" charset="0"/>
              <a:cs typeface="Times New Roman" panose="02020603050405020304" pitchFamily="18" charset="0"/>
            </a:endParaRPr>
          </a:p>
          <a:p>
            <a:pPr marL="488315" indent="-285750">
              <a:lnSpc>
                <a:spcPct val="100000"/>
              </a:lnSpc>
              <a:spcBef>
                <a:spcPts val="875"/>
              </a:spcBef>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Câu</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hỏi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định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tính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mở</a:t>
            </a:r>
            <a:r>
              <a:rPr lang="en-US" sz="2000" dirty="0">
                <a:solidFill>
                  <a:schemeClr val="bg1"/>
                </a:solidFill>
                <a:latin typeface="Times New Roman" panose="02020603050405020304" pitchFamily="18" charset="0"/>
                <a:cs typeface="Times New Roman" panose="02020603050405020304" pitchFamily="18" charset="0"/>
              </a:rPr>
              <a:t>:</a:t>
            </a:r>
          </a:p>
          <a:p>
            <a:pPr marL="202565">
              <a:lnSpc>
                <a:spcPct val="100000"/>
              </a:lnSpc>
              <a:spcBef>
                <a:spcPts val="875"/>
              </a:spcBef>
            </a:pPr>
            <a:r>
              <a:rPr lang="vi-VN" sz="2000" dirty="0">
                <a:solidFill>
                  <a:schemeClr val="bg1"/>
                </a:solidFill>
                <a:latin typeface="Times New Roman" panose="02020603050405020304" pitchFamily="18" charset="0"/>
                <a:cs typeface="Times New Roman" panose="02020603050405020304" pitchFamily="18" charset="0"/>
              </a:rPr>
              <a:t>Trong quý gần nhất, tổng </a:t>
            </a:r>
            <a:r>
              <a:rPr lang="vi-VN" sz="2000" dirty="0" err="1">
                <a:solidFill>
                  <a:schemeClr val="bg1"/>
                </a:solidFill>
                <a:latin typeface="Times New Roman" panose="02020603050405020304" pitchFamily="18" charset="0"/>
                <a:cs typeface="Times New Roman" panose="02020603050405020304" pitchFamily="18" charset="0"/>
              </a:rPr>
              <a:t>revenue</a:t>
            </a:r>
            <a:r>
              <a:rPr lang="vi-VN" sz="2000" dirty="0">
                <a:solidFill>
                  <a:schemeClr val="bg1"/>
                </a:solidFill>
                <a:latin typeface="Times New Roman" panose="02020603050405020304" pitchFamily="18" charset="0"/>
                <a:cs typeface="Times New Roman" panose="02020603050405020304" pitchFamily="18" charset="0"/>
              </a:rPr>
              <a:t> từ </a:t>
            </a:r>
            <a:r>
              <a:rPr lang="vi-VN" sz="2000" dirty="0" err="1">
                <a:solidFill>
                  <a:schemeClr val="bg1"/>
                </a:solidFill>
                <a:latin typeface="Times New Roman" panose="02020603050405020304" pitchFamily="18" charset="0"/>
                <a:cs typeface="Times New Roman" panose="02020603050405020304" pitchFamily="18" charset="0"/>
              </a:rPr>
              <a:t>sales</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process</a:t>
            </a:r>
            <a:r>
              <a:rPr lang="vi-VN" sz="2000" dirty="0">
                <a:solidFill>
                  <a:schemeClr val="bg1"/>
                </a:solidFill>
                <a:latin typeface="Times New Roman" panose="02020603050405020304" pitchFamily="18" charset="0"/>
                <a:cs typeface="Times New Roman" panose="02020603050405020304" pitchFamily="18" charset="0"/>
              </a:rPr>
              <a:t> là bao nhiêu? Tỷ lệ tăng trưởng so với cùng kỳ năm trước và </a:t>
            </a:r>
            <a:r>
              <a:rPr lang="vi-VN" sz="2000" dirty="0" err="1">
                <a:solidFill>
                  <a:schemeClr val="bg1"/>
                </a:solidFill>
                <a:latin typeface="Times New Roman" panose="02020603050405020304" pitchFamily="18" charset="0"/>
                <a:cs typeface="Times New Roman" panose="02020603050405020304" pitchFamily="18" charset="0"/>
              </a:rPr>
              <a:t>breakdown</a:t>
            </a:r>
            <a:r>
              <a:rPr lang="vi-VN" sz="2000" dirty="0">
                <a:solidFill>
                  <a:schemeClr val="bg1"/>
                </a:solidFill>
                <a:latin typeface="Times New Roman" panose="02020603050405020304" pitchFamily="18" charset="0"/>
                <a:cs typeface="Times New Roman" panose="02020603050405020304" pitchFamily="18" charset="0"/>
              </a:rPr>
              <a:t> theo </a:t>
            </a:r>
            <a:r>
              <a:rPr lang="vi-VN" sz="2000" dirty="0" err="1">
                <a:solidFill>
                  <a:schemeClr val="bg1"/>
                </a:solidFill>
                <a:latin typeface="Times New Roman" panose="02020603050405020304" pitchFamily="18" charset="0"/>
                <a:cs typeface="Times New Roman" panose="02020603050405020304" pitchFamily="18" charset="0"/>
              </a:rPr>
              <a:t>channels</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online</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direct</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sales</a:t>
            </a:r>
            <a:r>
              <a:rPr lang="vi-VN" sz="2000" dirty="0">
                <a:solidFill>
                  <a:schemeClr val="bg1"/>
                </a:solidFill>
                <a:latin typeface="Times New Roman" panose="02020603050405020304" pitchFamily="18" charset="0"/>
                <a:cs typeface="Times New Roman" panose="02020603050405020304" pitchFamily="18" charset="0"/>
              </a:rPr>
              <a:t>, </a:t>
            </a:r>
            <a:r>
              <a:rPr lang="vi-VN" sz="2000" dirty="0" err="1">
                <a:solidFill>
                  <a:schemeClr val="bg1"/>
                </a:solidFill>
                <a:latin typeface="Times New Roman" panose="02020603050405020304" pitchFamily="18" charset="0"/>
                <a:cs typeface="Times New Roman" panose="02020603050405020304" pitchFamily="18" charset="0"/>
              </a:rPr>
              <a:t>distributors</a:t>
            </a:r>
            <a:r>
              <a:rPr lang="vi-VN" sz="2000" dirty="0">
                <a:solidFill>
                  <a:schemeClr val="bg1"/>
                </a:solidFill>
                <a:latin typeface="Times New Roman" panose="02020603050405020304" pitchFamily="18" charset="0"/>
                <a:cs typeface="Times New Roman" panose="02020603050405020304" pitchFamily="18" charset="0"/>
              </a:rPr>
              <a:t>)?</a:t>
            </a:r>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6289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FB779-2673-B102-C19B-B1E5BE09E25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B71F39F-A86A-1A90-A4E6-E4470EEB8B45}"/>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28CAC56A-6FA2-7FF4-C832-FE785BE3E874}"/>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err="1">
                <a:latin typeface="Times New Roman" panose="02020603050405020304" pitchFamily="18" charset="0"/>
                <a:cs typeface="Times New Roman" panose="02020603050405020304" pitchFamily="18" charset="0"/>
              </a:rPr>
              <a:t>Mô</a:t>
            </a:r>
            <a:r>
              <a:rPr lang="en-US" spc="-80" dirty="0">
                <a:latin typeface="Times New Roman" panose="02020603050405020304" pitchFamily="18" charset="0"/>
                <a:cs typeface="Times New Roman" panose="02020603050405020304" pitchFamily="18" charset="0"/>
              </a:rPr>
              <a:t> </a:t>
            </a:r>
            <a:r>
              <a:rPr lang="en-US" spc="-80" dirty="0" err="1">
                <a:latin typeface="Times New Roman" panose="02020603050405020304" pitchFamily="18" charset="0"/>
                <a:cs typeface="Times New Roman" panose="02020603050405020304" pitchFamily="18" charset="0"/>
              </a:rPr>
              <a:t>hình</a:t>
            </a:r>
            <a:r>
              <a:rPr lang="en-US" spc="-80" dirty="0">
                <a:latin typeface="Times New Roman" panose="02020603050405020304" pitchFamily="18" charset="0"/>
                <a:cs typeface="Times New Roman" panose="02020603050405020304" pitchFamily="18" charset="0"/>
              </a:rPr>
              <a:t> </a:t>
            </a:r>
            <a:r>
              <a:rPr lang="en-US" spc="-80" dirty="0" err="1">
                <a:latin typeface="Times New Roman" panose="02020603050405020304" pitchFamily="18" charset="0"/>
                <a:cs typeface="Times New Roman" panose="02020603050405020304" pitchFamily="18" charset="0"/>
              </a:rPr>
              <a:t>hóa</a:t>
            </a:r>
            <a:endParaRPr sz="2350" dirty="0">
              <a:latin typeface="Times New Roman" panose="02020603050405020304" pitchFamily="18" charset="0"/>
              <a:cs typeface="Times New Roman" panose="02020603050405020304" pitchFamily="18" charset="0"/>
            </a:endParaRPr>
          </a:p>
        </p:txBody>
      </p:sp>
      <p:sp>
        <p:nvSpPr>
          <p:cNvPr id="21" name="object 21">
            <a:extLst>
              <a:ext uri="{FF2B5EF4-FFF2-40B4-BE49-F238E27FC236}">
                <a16:creationId xmlns:a16="http://schemas.microsoft.com/office/drawing/2014/main" id="{0AA20121-4601-FE60-A838-99B16469E33B}"/>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10"/>
              </a:lnSpc>
            </a:pPr>
            <a:r>
              <a:rPr spc="-90" dirty="0"/>
              <a:t>H</a:t>
            </a:r>
            <a:r>
              <a:rPr spc="-90" dirty="0">
                <a:latin typeface="Arial"/>
                <a:cs typeface="Arial"/>
              </a:rPr>
              <a:t>ệ</a:t>
            </a:r>
            <a:r>
              <a:rPr spc="-40" dirty="0">
                <a:latin typeface="Arial"/>
                <a:cs typeface="Arial"/>
              </a:rPr>
              <a:t> </a:t>
            </a:r>
            <a:r>
              <a:rPr spc="-55" dirty="0"/>
              <a:t>th</a:t>
            </a:r>
            <a:r>
              <a:rPr spc="-55" dirty="0">
                <a:latin typeface="Arial"/>
                <a:cs typeface="Arial"/>
              </a:rPr>
              <a:t>ố</a:t>
            </a:r>
            <a:r>
              <a:rPr spc="-55" dirty="0"/>
              <a:t>ng</a:t>
            </a:r>
            <a:r>
              <a:rPr dirty="0"/>
              <a:t> </a:t>
            </a:r>
            <a:r>
              <a:rPr spc="-70" dirty="0"/>
              <a:t>qu</a:t>
            </a:r>
            <a:r>
              <a:rPr spc="-70" dirty="0">
                <a:latin typeface="Arial"/>
                <a:cs typeface="Arial"/>
              </a:rPr>
              <a:t>ả</a:t>
            </a:r>
            <a:r>
              <a:rPr spc="-70" dirty="0"/>
              <a:t>n</a:t>
            </a:r>
            <a:r>
              <a:rPr spc="-5" dirty="0"/>
              <a:t> </a:t>
            </a:r>
            <a:r>
              <a:rPr spc="-30" dirty="0"/>
              <a:t>tr</a:t>
            </a:r>
            <a:r>
              <a:rPr spc="-30" dirty="0">
                <a:latin typeface="Arial"/>
                <a:cs typeface="Arial"/>
              </a:rPr>
              <a:t>ị</a:t>
            </a:r>
            <a:r>
              <a:rPr spc="-35" dirty="0">
                <a:latin typeface="Arial"/>
                <a:cs typeface="Arial"/>
              </a:rPr>
              <a:t> </a:t>
            </a:r>
            <a:r>
              <a:rPr spc="-65" dirty="0"/>
              <a:t>quy</a:t>
            </a:r>
            <a:r>
              <a:rPr spc="-5" dirty="0"/>
              <a:t> </a:t>
            </a:r>
            <a:r>
              <a:rPr spc="-40" dirty="0"/>
              <a:t>trình</a:t>
            </a:r>
            <a:r>
              <a:rPr dirty="0"/>
              <a:t> </a:t>
            </a:r>
            <a:r>
              <a:rPr spc="-65" dirty="0"/>
              <a:t>nghi</a:t>
            </a:r>
            <a:r>
              <a:rPr spc="-65" dirty="0">
                <a:latin typeface="Arial"/>
                <a:cs typeface="Arial"/>
              </a:rPr>
              <a:t>ệ</a:t>
            </a:r>
            <a:r>
              <a:rPr spc="-65" dirty="0"/>
              <a:t>p</a:t>
            </a:r>
            <a:r>
              <a:rPr spc="-5" dirty="0"/>
              <a:t> </a:t>
            </a:r>
            <a:r>
              <a:rPr spc="-70" dirty="0"/>
              <a:t>v</a:t>
            </a:r>
            <a:r>
              <a:rPr spc="-70" dirty="0">
                <a:latin typeface="Arial"/>
                <a:cs typeface="Arial"/>
              </a:rPr>
              <a:t>ụ</a:t>
            </a:r>
            <a:r>
              <a:rPr spc="-35" dirty="0">
                <a:latin typeface="Arial"/>
                <a:cs typeface="Arial"/>
              </a:rPr>
              <a:t> </a:t>
            </a:r>
            <a:r>
              <a:rPr spc="-45" dirty="0"/>
              <a:t>t</a:t>
            </a:r>
            <a:r>
              <a:rPr spc="-45" dirty="0">
                <a:latin typeface="Arial"/>
                <a:cs typeface="Arial"/>
              </a:rPr>
              <a:t>ạ</a:t>
            </a:r>
            <a:r>
              <a:rPr spc="-45" dirty="0"/>
              <a:t>i</a:t>
            </a:r>
            <a:r>
              <a:rPr spc="-5" dirty="0"/>
              <a:t> </a:t>
            </a:r>
            <a:r>
              <a:rPr spc="-60" dirty="0"/>
              <a:t>BOSCH</a:t>
            </a:r>
          </a:p>
        </p:txBody>
      </p:sp>
      <p:pic>
        <p:nvPicPr>
          <p:cNvPr id="7" name="Picture 6" descr="A diagram of a flowchart&#10;&#10;AI-generated content may be incorrect.">
            <a:extLst>
              <a:ext uri="{FF2B5EF4-FFF2-40B4-BE49-F238E27FC236}">
                <a16:creationId xmlns:a16="http://schemas.microsoft.com/office/drawing/2014/main" id="{60F7DBD8-F194-9A48-8262-6F9039C58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0268" y="1066006"/>
            <a:ext cx="10304203" cy="5707325"/>
          </a:xfrm>
          <a:prstGeom prst="rect">
            <a:avLst/>
          </a:prstGeom>
        </p:spPr>
      </p:pic>
    </p:spTree>
    <p:extLst>
      <p:ext uri="{BB962C8B-B14F-4D97-AF65-F5344CB8AC3E}">
        <p14:creationId xmlns:p14="http://schemas.microsoft.com/office/powerpoint/2010/main" val="2910989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861E8-8BA5-4990-4577-F4A283F372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F115FA-C4D6-7A5A-337B-B910D691AE12}"/>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AACFACCA-66DE-1B61-8BE6-59B8306076C2}"/>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TÍNH</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65052F-9730-9017-4364-E76387AB5DD5}"/>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giá</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trị</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tăng</a:t>
            </a:r>
            <a:endParaRPr lang="en-US" sz="28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E04746E-0A78-10A5-3E4E-6155A36811E0}"/>
              </a:ext>
            </a:extLst>
          </p:cNvPr>
          <p:cNvGraphicFramePr>
            <a:graphicFrameLocks noGrp="1"/>
          </p:cNvGraphicFramePr>
          <p:nvPr>
            <p:extLst>
              <p:ext uri="{D42A27DB-BD31-4B8C-83A1-F6EECF244321}">
                <p14:modId xmlns:p14="http://schemas.microsoft.com/office/powerpoint/2010/main" val="343253602"/>
              </p:ext>
            </p:extLst>
          </p:nvPr>
        </p:nvGraphicFramePr>
        <p:xfrm>
          <a:off x="6262370" y="138650"/>
          <a:ext cx="2971800" cy="6400768"/>
        </p:xfrm>
        <a:graphic>
          <a:graphicData uri="http://schemas.openxmlformats.org/drawingml/2006/table">
            <a:tbl>
              <a:tblPr firstRow="1" firstCol="1" bandRow="1">
                <a:tableStyleId>{5C22544A-7EE6-4342-B048-85BDC9FD1C3A}</a:tableStyleId>
              </a:tblPr>
              <a:tblGrid>
                <a:gridCol w="990600">
                  <a:extLst>
                    <a:ext uri="{9D8B030D-6E8A-4147-A177-3AD203B41FA5}">
                      <a16:colId xmlns:a16="http://schemas.microsoft.com/office/drawing/2014/main" val="4132916398"/>
                    </a:ext>
                  </a:extLst>
                </a:gridCol>
                <a:gridCol w="990600">
                  <a:extLst>
                    <a:ext uri="{9D8B030D-6E8A-4147-A177-3AD203B41FA5}">
                      <a16:colId xmlns:a16="http://schemas.microsoft.com/office/drawing/2014/main" val="967862741"/>
                    </a:ext>
                  </a:extLst>
                </a:gridCol>
                <a:gridCol w="990600">
                  <a:extLst>
                    <a:ext uri="{9D8B030D-6E8A-4147-A177-3AD203B41FA5}">
                      <a16:colId xmlns:a16="http://schemas.microsoft.com/office/drawing/2014/main" val="3967138515"/>
                    </a:ext>
                  </a:extLst>
                </a:gridCol>
              </a:tblGrid>
              <a:tr h="207107">
                <a:tc>
                  <a:txBody>
                    <a:bodyPr/>
                    <a:lstStyle/>
                    <a:p>
                      <a:pPr marL="0" marR="0">
                        <a:lnSpc>
                          <a:spcPct val="115000"/>
                        </a:lnSpc>
                        <a:spcAft>
                          <a:spcPts val="800"/>
                        </a:spcAft>
                        <a:buNone/>
                      </a:pPr>
                      <a:r>
                        <a:rPr lang="en-US" sz="800" kern="100">
                          <a:effectLst/>
                        </a:rPr>
                        <a:t>Hoạt động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38295" marB="38295"/>
                </a:tc>
                <a:tc>
                  <a:txBody>
                    <a:bodyPr/>
                    <a:lstStyle/>
                    <a:p>
                      <a:pPr marL="0" marR="0">
                        <a:lnSpc>
                          <a:spcPct val="115000"/>
                        </a:lnSpc>
                        <a:spcAft>
                          <a:spcPts val="800"/>
                        </a:spcAft>
                        <a:buNone/>
                      </a:pPr>
                      <a:r>
                        <a:rPr lang="en-US" sz="800" kern="100">
                          <a:effectLst/>
                        </a:rPr>
                        <a:t>Bộ phận</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38295" marB="38295"/>
                </a:tc>
                <a:tc>
                  <a:txBody>
                    <a:bodyPr/>
                    <a:lstStyle/>
                    <a:p>
                      <a:pPr marL="0" marR="0">
                        <a:lnSpc>
                          <a:spcPct val="115000"/>
                        </a:lnSpc>
                        <a:spcAft>
                          <a:spcPts val="800"/>
                        </a:spcAft>
                        <a:buNone/>
                      </a:pPr>
                      <a:r>
                        <a:rPr lang="en-US" sz="800" kern="100">
                          <a:effectLst/>
                        </a:rPr>
                        <a:t>Loại giá trị</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38295" marB="38295"/>
                </a:tc>
                <a:extLst>
                  <a:ext uri="{0D108BD9-81ED-4DB2-BD59-A6C34878D82A}">
                    <a16:rowId xmlns:a16="http://schemas.microsoft.com/office/drawing/2014/main" val="2445987027"/>
                  </a:ext>
                </a:extLst>
              </a:tr>
              <a:tr h="355542">
                <a:tc>
                  <a:txBody>
                    <a:bodyPr/>
                    <a:lstStyle/>
                    <a:p>
                      <a:pPr marL="0" marR="0">
                        <a:lnSpc>
                          <a:spcPct val="115000"/>
                        </a:lnSpc>
                        <a:spcAft>
                          <a:spcPts val="800"/>
                        </a:spcAft>
                        <a:buNone/>
                      </a:pPr>
                      <a:r>
                        <a:rPr lang="en-US" sz="800" kern="100">
                          <a:effectLst/>
                        </a:rPr>
                        <a:t>Gửi yêu cầu mua hàng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Sales Department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525541105"/>
                  </a:ext>
                </a:extLst>
              </a:tr>
              <a:tr h="355542">
                <a:tc>
                  <a:txBody>
                    <a:bodyPr/>
                    <a:lstStyle/>
                    <a:p>
                      <a:pPr marL="0" marR="0">
                        <a:lnSpc>
                          <a:spcPct val="115000"/>
                        </a:lnSpc>
                        <a:spcAft>
                          <a:spcPts val="800"/>
                        </a:spcAft>
                        <a:buNone/>
                      </a:pPr>
                      <a:r>
                        <a:rPr lang="en-US" sz="800" kern="100">
                          <a:effectLst/>
                        </a:rPr>
                        <a:t>Nhận tư vấn sản phẩm</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Sales Department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4275949597"/>
                  </a:ext>
                </a:extLst>
              </a:tr>
              <a:tr h="217964">
                <a:tc>
                  <a:txBody>
                    <a:bodyPr/>
                    <a:lstStyle/>
                    <a:p>
                      <a:pPr marL="0" marR="0">
                        <a:lnSpc>
                          <a:spcPct val="115000"/>
                        </a:lnSpc>
                        <a:spcAft>
                          <a:spcPts val="800"/>
                        </a:spcAft>
                        <a:buNone/>
                      </a:pPr>
                      <a:r>
                        <a:rPr lang="en-US" sz="800" kern="100">
                          <a:effectLst/>
                        </a:rPr>
                        <a:t>Nhận báo giá</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Sales Department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4281203069"/>
                  </a:ext>
                </a:extLst>
              </a:tr>
              <a:tr h="355542">
                <a:tc>
                  <a:txBody>
                    <a:bodyPr/>
                    <a:lstStyle/>
                    <a:p>
                      <a:pPr marL="0" marR="0">
                        <a:lnSpc>
                          <a:spcPct val="115000"/>
                        </a:lnSpc>
                        <a:spcAft>
                          <a:spcPts val="800"/>
                        </a:spcAft>
                        <a:buNone/>
                      </a:pPr>
                      <a:r>
                        <a:rPr lang="en-US" sz="800" kern="100">
                          <a:effectLst/>
                        </a:rPr>
                        <a:t>Xác định đặt hàng và thanh toán</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Sales Department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700088941"/>
                  </a:ext>
                </a:extLst>
              </a:tr>
              <a:tr h="217964">
                <a:tc>
                  <a:txBody>
                    <a:bodyPr/>
                    <a:lstStyle/>
                    <a:p>
                      <a:pPr marL="0" marR="0">
                        <a:lnSpc>
                          <a:spcPct val="115000"/>
                        </a:lnSpc>
                        <a:spcAft>
                          <a:spcPts val="800"/>
                        </a:spcAft>
                        <a:buNone/>
                      </a:pPr>
                      <a:r>
                        <a:rPr lang="en-US" sz="800" kern="100">
                          <a:effectLst/>
                        </a:rPr>
                        <a:t>Nhận hàng hóa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Sales Department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039449226"/>
                  </a:ext>
                </a:extLst>
              </a:tr>
              <a:tr h="355542">
                <a:tc>
                  <a:txBody>
                    <a:bodyPr/>
                    <a:lstStyle/>
                    <a:p>
                      <a:pPr marL="0" marR="0">
                        <a:lnSpc>
                          <a:spcPct val="115000"/>
                        </a:lnSpc>
                        <a:spcAft>
                          <a:spcPts val="800"/>
                        </a:spcAft>
                        <a:buNone/>
                      </a:pPr>
                      <a:r>
                        <a:rPr lang="en-US" sz="800" kern="100">
                          <a:effectLst/>
                        </a:rPr>
                        <a:t>Tiếp nhận yêu cầu của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Procurement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BVA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772222096"/>
                  </a:ext>
                </a:extLst>
              </a:tr>
              <a:tr h="217964">
                <a:tc>
                  <a:txBody>
                    <a:bodyPr/>
                    <a:lstStyle/>
                    <a:p>
                      <a:pPr marL="0" marR="0">
                        <a:lnSpc>
                          <a:spcPct val="115000"/>
                        </a:lnSpc>
                        <a:spcAft>
                          <a:spcPts val="800"/>
                        </a:spcAft>
                        <a:buNone/>
                      </a:pPr>
                      <a:r>
                        <a:rPr lang="en-US" sz="800" kern="100">
                          <a:effectLst/>
                        </a:rPr>
                        <a:t>Tư vấn sản phẩm</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Procurement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3603397696"/>
                  </a:ext>
                </a:extLst>
              </a:tr>
              <a:tr h="217964">
                <a:tc>
                  <a:txBody>
                    <a:bodyPr/>
                    <a:lstStyle/>
                    <a:p>
                      <a:pPr marL="0" marR="0">
                        <a:lnSpc>
                          <a:spcPct val="115000"/>
                        </a:lnSpc>
                        <a:spcAft>
                          <a:spcPts val="800"/>
                        </a:spcAft>
                        <a:buNone/>
                      </a:pPr>
                      <a:r>
                        <a:rPr lang="en-US" sz="800" kern="100">
                          <a:effectLst/>
                        </a:rPr>
                        <a:t>Báo giá và chốt đơn</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Procurement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2966675719"/>
                  </a:ext>
                </a:extLst>
              </a:tr>
              <a:tr h="217964">
                <a:tc>
                  <a:txBody>
                    <a:bodyPr/>
                    <a:lstStyle/>
                    <a:p>
                      <a:pPr marL="0" marR="0">
                        <a:lnSpc>
                          <a:spcPct val="115000"/>
                        </a:lnSpc>
                        <a:spcAft>
                          <a:spcPts val="800"/>
                        </a:spcAft>
                        <a:buNone/>
                      </a:pPr>
                      <a:r>
                        <a:rPr lang="en-US" sz="800" kern="100">
                          <a:effectLst/>
                        </a:rPr>
                        <a:t>Xử lý đơn hàng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Procurement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192317790"/>
                  </a:ext>
                </a:extLst>
              </a:tr>
              <a:tr h="217964">
                <a:tc>
                  <a:txBody>
                    <a:bodyPr/>
                    <a:lstStyle/>
                    <a:p>
                      <a:pPr marL="0" marR="0">
                        <a:lnSpc>
                          <a:spcPct val="115000"/>
                        </a:lnSpc>
                        <a:spcAft>
                          <a:spcPts val="800"/>
                        </a:spcAft>
                        <a:buNone/>
                      </a:pPr>
                      <a:r>
                        <a:rPr lang="en-US" sz="800" kern="100">
                          <a:effectLst/>
                        </a:rPr>
                        <a:t>Xác nhận thanh toán</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Procurement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BVA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730099962"/>
                  </a:ext>
                </a:extLst>
              </a:tr>
              <a:tr h="217964">
                <a:tc>
                  <a:txBody>
                    <a:bodyPr/>
                    <a:lstStyle/>
                    <a:p>
                      <a:pPr marL="0" marR="0">
                        <a:lnSpc>
                          <a:spcPct val="115000"/>
                        </a:lnSpc>
                        <a:spcAft>
                          <a:spcPts val="800"/>
                        </a:spcAft>
                        <a:buNone/>
                      </a:pPr>
                      <a:r>
                        <a:rPr lang="en-US" sz="800" kern="100">
                          <a:effectLst/>
                        </a:rPr>
                        <a:t>Chuyển đơn cho kho</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Procurement</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NVA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278014894"/>
                  </a:ext>
                </a:extLst>
              </a:tr>
              <a:tr h="217964">
                <a:tc>
                  <a:txBody>
                    <a:bodyPr/>
                    <a:lstStyle/>
                    <a:p>
                      <a:pPr marL="0" marR="0">
                        <a:lnSpc>
                          <a:spcPct val="115000"/>
                        </a:lnSpc>
                        <a:spcAft>
                          <a:spcPts val="800"/>
                        </a:spcAft>
                        <a:buNone/>
                      </a:pPr>
                      <a:r>
                        <a:rPr lang="en-US" sz="800" kern="100">
                          <a:effectLst/>
                        </a:rPr>
                        <a:t>Kiểm tra tồn kho</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Logistics</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BVA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4150828110"/>
                  </a:ext>
                </a:extLst>
              </a:tr>
              <a:tr h="217964">
                <a:tc>
                  <a:txBody>
                    <a:bodyPr/>
                    <a:lstStyle/>
                    <a:p>
                      <a:pPr marL="0" marR="0">
                        <a:lnSpc>
                          <a:spcPct val="115000"/>
                        </a:lnSpc>
                        <a:spcAft>
                          <a:spcPts val="800"/>
                        </a:spcAft>
                        <a:buNone/>
                      </a:pPr>
                      <a:r>
                        <a:rPr lang="en-US" sz="800" kern="100">
                          <a:effectLst/>
                        </a:rPr>
                        <a:t>Chuẩn bị hàng hóa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Logistics</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3520582362"/>
                  </a:ext>
                </a:extLst>
              </a:tr>
              <a:tr h="217964">
                <a:tc>
                  <a:txBody>
                    <a:bodyPr/>
                    <a:lstStyle/>
                    <a:p>
                      <a:pPr marL="0" marR="0">
                        <a:lnSpc>
                          <a:spcPct val="115000"/>
                        </a:lnSpc>
                        <a:spcAft>
                          <a:spcPts val="800"/>
                        </a:spcAft>
                        <a:buNone/>
                      </a:pPr>
                      <a:r>
                        <a:rPr lang="en-US" sz="800" kern="100">
                          <a:effectLst/>
                        </a:rPr>
                        <a:t>Đóng gói hàng hóa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Logistics</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143169274"/>
                  </a:ext>
                </a:extLst>
              </a:tr>
              <a:tr h="217964">
                <a:tc>
                  <a:txBody>
                    <a:bodyPr/>
                    <a:lstStyle/>
                    <a:p>
                      <a:pPr marL="0" marR="0">
                        <a:lnSpc>
                          <a:spcPct val="115000"/>
                        </a:lnSpc>
                        <a:spcAft>
                          <a:spcPts val="800"/>
                        </a:spcAft>
                        <a:buNone/>
                      </a:pPr>
                      <a:r>
                        <a:rPr lang="en-US" sz="800" kern="100">
                          <a:effectLst/>
                        </a:rPr>
                        <a:t>Xuất kho</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Logistics</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2414070386"/>
                  </a:ext>
                </a:extLst>
              </a:tr>
              <a:tr h="355542">
                <a:tc>
                  <a:txBody>
                    <a:bodyPr/>
                    <a:lstStyle/>
                    <a:p>
                      <a:pPr marL="0" marR="0">
                        <a:lnSpc>
                          <a:spcPct val="115000"/>
                        </a:lnSpc>
                        <a:spcAft>
                          <a:spcPts val="800"/>
                        </a:spcAft>
                        <a:buNone/>
                      </a:pPr>
                      <a:r>
                        <a:rPr lang="en-US" sz="800" kern="100">
                          <a:effectLst/>
                        </a:rPr>
                        <a:t>Chuyển cho vận chuyển</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Logistics</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NVA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3096551600"/>
                  </a:ext>
                </a:extLst>
              </a:tr>
              <a:tr h="355542">
                <a:tc>
                  <a:txBody>
                    <a:bodyPr/>
                    <a:lstStyle/>
                    <a:p>
                      <a:pPr marL="0" marR="0">
                        <a:lnSpc>
                          <a:spcPct val="115000"/>
                        </a:lnSpc>
                        <a:spcAft>
                          <a:spcPts val="800"/>
                        </a:spcAft>
                        <a:buNone/>
                      </a:pPr>
                      <a:r>
                        <a:rPr lang="en-US" sz="800" kern="100">
                          <a:effectLst/>
                        </a:rPr>
                        <a:t>Gửi thông báo sẵn sàng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Logistics</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NVA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2404719219"/>
                  </a:ext>
                </a:extLst>
              </a:tr>
              <a:tr h="217964">
                <a:tc>
                  <a:txBody>
                    <a:bodyPr/>
                    <a:lstStyle/>
                    <a:p>
                      <a:pPr marL="0" marR="0">
                        <a:lnSpc>
                          <a:spcPct val="115000"/>
                        </a:lnSpc>
                        <a:spcAft>
                          <a:spcPts val="800"/>
                        </a:spcAft>
                        <a:buNone/>
                      </a:pPr>
                      <a:r>
                        <a:rPr lang="en-US" sz="800" kern="100">
                          <a:effectLst/>
                        </a:rPr>
                        <a:t>Tạo mã nhận hàng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Delivery</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BVA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786499493"/>
                  </a:ext>
                </a:extLst>
              </a:tr>
              <a:tr h="355542">
                <a:tc>
                  <a:txBody>
                    <a:bodyPr/>
                    <a:lstStyle/>
                    <a:p>
                      <a:pPr marL="0" marR="0">
                        <a:lnSpc>
                          <a:spcPct val="115000"/>
                        </a:lnSpc>
                        <a:spcAft>
                          <a:spcPts val="800"/>
                        </a:spcAft>
                        <a:buNone/>
                      </a:pPr>
                      <a:r>
                        <a:rPr lang="en-US" sz="800" kern="100">
                          <a:effectLst/>
                        </a:rPr>
                        <a:t>Lưu kết thông tin đường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Delivery</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BVA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4075913620"/>
                  </a:ext>
                </a:extLst>
              </a:tr>
              <a:tr h="217964">
                <a:tc>
                  <a:txBody>
                    <a:bodyPr/>
                    <a:lstStyle/>
                    <a:p>
                      <a:pPr marL="0" marR="0">
                        <a:lnSpc>
                          <a:spcPct val="115000"/>
                        </a:lnSpc>
                        <a:spcAft>
                          <a:spcPts val="800"/>
                        </a:spcAft>
                        <a:buNone/>
                      </a:pPr>
                      <a:r>
                        <a:rPr lang="en-US" sz="800" kern="100">
                          <a:effectLst/>
                        </a:rPr>
                        <a:t>Xử lý thông tin xe</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Delivery</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BVA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3664437226"/>
                  </a:ext>
                </a:extLst>
              </a:tr>
              <a:tr h="217964">
                <a:tc>
                  <a:txBody>
                    <a:bodyPr/>
                    <a:lstStyle/>
                    <a:p>
                      <a:pPr marL="0" marR="0">
                        <a:lnSpc>
                          <a:spcPct val="115000"/>
                        </a:lnSpc>
                        <a:spcAft>
                          <a:spcPts val="800"/>
                        </a:spcAft>
                        <a:buNone/>
                      </a:pPr>
                      <a:r>
                        <a:rPr lang="en-US" sz="800" kern="100">
                          <a:effectLst/>
                        </a:rPr>
                        <a:t>Vận chuyển giao hàng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Delivery</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2610484463"/>
                  </a:ext>
                </a:extLst>
              </a:tr>
              <a:tr h="217964">
                <a:tc>
                  <a:txBody>
                    <a:bodyPr/>
                    <a:lstStyle/>
                    <a:p>
                      <a:pPr marL="0" marR="0">
                        <a:lnSpc>
                          <a:spcPct val="115000"/>
                        </a:lnSpc>
                        <a:spcAft>
                          <a:spcPts val="800"/>
                        </a:spcAft>
                        <a:buNone/>
                      </a:pPr>
                      <a:r>
                        <a:rPr lang="en-US" sz="800" kern="100">
                          <a:effectLst/>
                        </a:rPr>
                        <a:t>Thông báo giao hàng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Delivery</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NVA</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2342178622"/>
                  </a:ext>
                </a:extLst>
              </a:tr>
              <a:tr h="355542">
                <a:tc>
                  <a:txBody>
                    <a:bodyPr/>
                    <a:lstStyle/>
                    <a:p>
                      <a:pPr marL="0" marR="0">
                        <a:lnSpc>
                          <a:spcPct val="115000"/>
                        </a:lnSpc>
                        <a:spcAft>
                          <a:spcPts val="800"/>
                        </a:spcAft>
                        <a:buNone/>
                      </a:pPr>
                      <a:r>
                        <a:rPr lang="en-US" sz="800" kern="100">
                          <a:effectLst/>
                        </a:rPr>
                        <a:t>Xác nhận giao thành công</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a:effectLst/>
                        </a:rPr>
                        <a:t>Delivery</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tc>
                  <a:txBody>
                    <a:bodyPr/>
                    <a:lstStyle/>
                    <a:p>
                      <a:pPr marL="0" marR="0">
                        <a:lnSpc>
                          <a:spcPct val="115000"/>
                        </a:lnSpc>
                        <a:spcAft>
                          <a:spcPts val="800"/>
                        </a:spcAft>
                        <a:buNone/>
                      </a:pPr>
                      <a:r>
                        <a:rPr lang="en-US" sz="800" kern="100" dirty="0">
                          <a:effectLst/>
                        </a:rPr>
                        <a:t>BVA</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295" marR="38295" marT="43723" marB="43723" anchor="b"/>
                </a:tc>
                <a:extLst>
                  <a:ext uri="{0D108BD9-81ED-4DB2-BD59-A6C34878D82A}">
                    <a16:rowId xmlns:a16="http://schemas.microsoft.com/office/drawing/2014/main" val="2539403016"/>
                  </a:ext>
                </a:extLst>
              </a:tr>
            </a:tbl>
          </a:graphicData>
        </a:graphic>
      </p:graphicFrame>
    </p:spTree>
    <p:extLst>
      <p:ext uri="{BB962C8B-B14F-4D97-AF65-F5344CB8AC3E}">
        <p14:creationId xmlns:p14="http://schemas.microsoft.com/office/powerpoint/2010/main" val="2966868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43A72-1901-4E3B-10FF-70A3EFA0DC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42C5A30-20B2-DD12-40CA-6BA55EAFACA5}"/>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09EFE3E5-56FF-FFA8-E85A-C363FDC94E6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TÍNH</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AD9DFE6-FBA0-F5E2-3558-265C06323750}"/>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lãng</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7290532-4277-3544-DB9D-602D096F143B}"/>
              </a:ext>
            </a:extLst>
          </p:cNvPr>
          <p:cNvGraphicFramePr>
            <a:graphicFrameLocks noGrp="1"/>
          </p:cNvGraphicFramePr>
          <p:nvPr>
            <p:extLst>
              <p:ext uri="{D42A27DB-BD31-4B8C-83A1-F6EECF244321}">
                <p14:modId xmlns:p14="http://schemas.microsoft.com/office/powerpoint/2010/main" val="1630038358"/>
              </p:ext>
            </p:extLst>
          </p:nvPr>
        </p:nvGraphicFramePr>
        <p:xfrm>
          <a:off x="3886200" y="1218406"/>
          <a:ext cx="5257800" cy="5321413"/>
        </p:xfrm>
        <a:graphic>
          <a:graphicData uri="http://schemas.openxmlformats.org/drawingml/2006/table">
            <a:tbl>
              <a:tblPr firstRow="1" firstCol="1" bandRow="1">
                <a:tableStyleId>{5C22544A-7EE6-4342-B048-85BDC9FD1C3A}</a:tableStyleId>
              </a:tblPr>
              <a:tblGrid>
                <a:gridCol w="2628900">
                  <a:extLst>
                    <a:ext uri="{9D8B030D-6E8A-4147-A177-3AD203B41FA5}">
                      <a16:colId xmlns:a16="http://schemas.microsoft.com/office/drawing/2014/main" val="1653815215"/>
                    </a:ext>
                  </a:extLst>
                </a:gridCol>
                <a:gridCol w="2628900">
                  <a:extLst>
                    <a:ext uri="{9D8B030D-6E8A-4147-A177-3AD203B41FA5}">
                      <a16:colId xmlns:a16="http://schemas.microsoft.com/office/drawing/2014/main" val="3709215493"/>
                    </a:ext>
                  </a:extLst>
                </a:gridCol>
              </a:tblGrid>
              <a:tr h="472184">
                <a:tc>
                  <a:txBody>
                    <a:bodyPr/>
                    <a:lstStyle/>
                    <a:p>
                      <a:pPr marL="0" marR="0">
                        <a:lnSpc>
                          <a:spcPct val="115000"/>
                        </a:lnSpc>
                        <a:spcAft>
                          <a:spcPts val="800"/>
                        </a:spcAft>
                        <a:buNone/>
                      </a:pPr>
                      <a:r>
                        <a:rPr lang="en-US" sz="1100" kern="100">
                          <a:effectLst/>
                        </a:rPr>
                        <a:t>Loại lãng phí</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67135" marB="67135"/>
                </a:tc>
                <a:tc>
                  <a:txBody>
                    <a:bodyPr/>
                    <a:lstStyle/>
                    <a:p>
                      <a:pPr marL="0" marR="0">
                        <a:lnSpc>
                          <a:spcPct val="115000"/>
                        </a:lnSpc>
                        <a:spcAft>
                          <a:spcPts val="800"/>
                        </a:spcAft>
                        <a:buNone/>
                      </a:pPr>
                      <a:r>
                        <a:rPr lang="en-US" sz="1100" kern="100">
                          <a:effectLst/>
                        </a:rPr>
                        <a:t>Ví dụ trong quy trình</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67135" marB="67135"/>
                </a:tc>
                <a:extLst>
                  <a:ext uri="{0D108BD9-81ED-4DB2-BD59-A6C34878D82A}">
                    <a16:rowId xmlns:a16="http://schemas.microsoft.com/office/drawing/2014/main" val="3302680049"/>
                  </a:ext>
                </a:extLst>
              </a:tr>
              <a:tr h="1549433">
                <a:tc>
                  <a:txBody>
                    <a:bodyPr/>
                    <a:lstStyle/>
                    <a:p>
                      <a:pPr marL="0" marR="0">
                        <a:lnSpc>
                          <a:spcPct val="115000"/>
                        </a:lnSpc>
                        <a:spcAft>
                          <a:spcPts val="800"/>
                        </a:spcAft>
                        <a:buNone/>
                      </a:pPr>
                      <a:r>
                        <a:rPr lang="en-US" sz="1100" kern="100">
                          <a:effectLst/>
                        </a:rPr>
                        <a:t>Chờ đợi</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76645" marB="76645" anchor="b"/>
                </a:tc>
                <a:tc>
                  <a:txBody>
                    <a:bodyPr/>
                    <a:lstStyle/>
                    <a:p>
                      <a:pPr marL="0" marR="0">
                        <a:lnSpc>
                          <a:spcPct val="115000"/>
                        </a:lnSpc>
                        <a:spcAft>
                          <a:spcPts val="800"/>
                        </a:spcAft>
                        <a:buNone/>
                      </a:pPr>
                      <a:r>
                        <a:rPr lang="en-US" sz="1100" kern="100">
                          <a:effectLst/>
                        </a:rPr>
                        <a:t>- Chờ Xác nhận đặt hàng và thanh toán từ khách hàng sau khi Báo giá và chốt đơn - Chờ Kiểm tra tồn kho trước khi Chuẩn bị hàng hóa - Chờ Lập kế hoạch tuyến đường trước khi Xếp hàng lên xe - Chờ khách hàng có mặt để giao hàng - Chờ Xác nhận giao thành công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76645" marB="76645" anchor="b"/>
                </a:tc>
                <a:extLst>
                  <a:ext uri="{0D108BD9-81ED-4DB2-BD59-A6C34878D82A}">
                    <a16:rowId xmlns:a16="http://schemas.microsoft.com/office/drawing/2014/main" val="1717328815"/>
                  </a:ext>
                </a:extLst>
              </a:tr>
              <a:tr h="1549433">
                <a:tc>
                  <a:txBody>
                    <a:bodyPr/>
                    <a:lstStyle/>
                    <a:p>
                      <a:pPr marL="0" marR="0">
                        <a:lnSpc>
                          <a:spcPct val="115000"/>
                        </a:lnSpc>
                        <a:spcAft>
                          <a:spcPts val="800"/>
                        </a:spcAft>
                        <a:buNone/>
                      </a:pPr>
                      <a:r>
                        <a:rPr lang="en-US" sz="1100" kern="100">
                          <a:effectLst/>
                        </a:rPr>
                        <a:t>Vận chuyển thừa</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76645" marB="76645" anchor="b"/>
                </a:tc>
                <a:tc>
                  <a:txBody>
                    <a:bodyPr/>
                    <a:lstStyle/>
                    <a:p>
                      <a:pPr marL="0" marR="0">
                        <a:lnSpc>
                          <a:spcPct val="115000"/>
                        </a:lnSpc>
                        <a:spcAft>
                          <a:spcPts val="800"/>
                        </a:spcAft>
                        <a:buNone/>
                      </a:pPr>
                      <a:r>
                        <a:rPr lang="en-US" sz="1100" kern="100">
                          <a:effectLst/>
                        </a:rPr>
                        <a:t>- Chuyển đơn hàng từ Bộ phận bán hàng đến Kho hàng thông qua nhiều bước trung gian - Chuyển thông tin hàng hóa từ Kho đến Vận chuyển - Di chuyển hàng hóa từ khu vực chuẩn bị đến khu vực đóng gói rồi đến khu xuất kho - Vận chuyển tài liệu giữa các bộ phận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76645" marB="76645" anchor="b"/>
                </a:tc>
                <a:extLst>
                  <a:ext uri="{0D108BD9-81ED-4DB2-BD59-A6C34878D82A}">
                    <a16:rowId xmlns:a16="http://schemas.microsoft.com/office/drawing/2014/main" val="2509281928"/>
                  </a:ext>
                </a:extLst>
              </a:tr>
              <a:tr h="1750363">
                <a:tc>
                  <a:txBody>
                    <a:bodyPr/>
                    <a:lstStyle/>
                    <a:p>
                      <a:pPr marL="0" marR="0">
                        <a:lnSpc>
                          <a:spcPct val="115000"/>
                        </a:lnSpc>
                        <a:spcAft>
                          <a:spcPts val="800"/>
                        </a:spcAft>
                        <a:buNone/>
                      </a:pPr>
                      <a:r>
                        <a:rPr lang="en-US" sz="1100" kern="100">
                          <a:effectLst/>
                        </a:rPr>
                        <a:t>Làm thừa</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76645" marB="76645" anchor="b"/>
                </a:tc>
                <a:tc>
                  <a:txBody>
                    <a:bodyPr/>
                    <a:lstStyle/>
                    <a:p>
                      <a:pPr marL="0" marR="0">
                        <a:lnSpc>
                          <a:spcPct val="115000"/>
                        </a:lnSpc>
                        <a:spcAft>
                          <a:spcPts val="800"/>
                        </a:spcAft>
                        <a:buNone/>
                      </a:pPr>
                      <a:r>
                        <a:rPr lang="en-US" sz="1100" kern="100" dirty="0">
                          <a:effectLst/>
                        </a:rPr>
                        <a:t>- </a:t>
                      </a:r>
                      <a:r>
                        <a:rPr lang="en-US" sz="1100" kern="100" dirty="0" err="1">
                          <a:effectLst/>
                        </a:rPr>
                        <a:t>Xác</a:t>
                      </a:r>
                      <a:r>
                        <a:rPr lang="en-US" sz="1100" kern="100" dirty="0">
                          <a:effectLst/>
                        </a:rPr>
                        <a:t> </a:t>
                      </a:r>
                      <a:r>
                        <a:rPr lang="en-US" sz="1100" kern="100" dirty="0" err="1">
                          <a:effectLst/>
                        </a:rPr>
                        <a:t>nhận</a:t>
                      </a:r>
                      <a:r>
                        <a:rPr lang="en-US" sz="1100" kern="100" dirty="0">
                          <a:effectLst/>
                        </a:rPr>
                        <a:t> </a:t>
                      </a:r>
                      <a:r>
                        <a:rPr lang="en-US" sz="1100" kern="100" dirty="0" err="1">
                          <a:effectLst/>
                        </a:rPr>
                        <a:t>thông</a:t>
                      </a:r>
                      <a:r>
                        <a:rPr lang="en-US" sz="1100" kern="100" dirty="0">
                          <a:effectLst/>
                        </a:rPr>
                        <a:t> tin </a:t>
                      </a:r>
                      <a:r>
                        <a:rPr lang="en-US" sz="1100" kern="100" dirty="0" err="1">
                          <a:effectLst/>
                        </a:rPr>
                        <a:t>đơn</a:t>
                      </a:r>
                      <a:r>
                        <a:rPr lang="en-US" sz="1100" kern="100" dirty="0">
                          <a:effectLst/>
                        </a:rPr>
                        <a:t> </a:t>
                      </a:r>
                      <a:r>
                        <a:rPr lang="en-US" sz="1100" kern="100" dirty="0" err="1">
                          <a:effectLst/>
                        </a:rPr>
                        <a:t>hàng</a:t>
                      </a:r>
                      <a:r>
                        <a:rPr lang="en-US" sz="1100" kern="100" dirty="0">
                          <a:effectLst/>
                        </a:rPr>
                        <a:t> </a:t>
                      </a:r>
                      <a:r>
                        <a:rPr lang="en-US" sz="1100" kern="100" dirty="0" err="1">
                          <a:effectLst/>
                        </a:rPr>
                        <a:t>nhiều</a:t>
                      </a:r>
                      <a:r>
                        <a:rPr lang="en-US" sz="1100" kern="100" dirty="0">
                          <a:effectLst/>
                        </a:rPr>
                        <a:t> </a:t>
                      </a:r>
                      <a:r>
                        <a:rPr lang="en-US" sz="1100" kern="100" dirty="0" err="1">
                          <a:effectLst/>
                        </a:rPr>
                        <a:t>lần</a:t>
                      </a:r>
                      <a:r>
                        <a:rPr lang="en-US" sz="1100" kern="100" dirty="0">
                          <a:effectLst/>
                        </a:rPr>
                        <a:t> ở </a:t>
                      </a:r>
                      <a:r>
                        <a:rPr lang="en-US" sz="1100" kern="100" dirty="0" err="1">
                          <a:effectLst/>
                        </a:rPr>
                        <a:t>các</a:t>
                      </a:r>
                      <a:r>
                        <a:rPr lang="en-US" sz="1100" kern="100" dirty="0">
                          <a:effectLst/>
                        </a:rPr>
                        <a:t> </a:t>
                      </a:r>
                      <a:r>
                        <a:rPr lang="en-US" sz="1100" kern="100" dirty="0" err="1">
                          <a:effectLst/>
                        </a:rPr>
                        <a:t>bước</a:t>
                      </a:r>
                      <a:r>
                        <a:rPr lang="en-US" sz="1100" kern="100" dirty="0">
                          <a:effectLst/>
                        </a:rPr>
                        <a:t> </a:t>
                      </a:r>
                      <a:r>
                        <a:rPr lang="en-US" sz="1100" kern="100" dirty="0" err="1">
                          <a:effectLst/>
                        </a:rPr>
                        <a:t>Xử</a:t>
                      </a:r>
                      <a:r>
                        <a:rPr lang="en-US" sz="1100" kern="100" dirty="0">
                          <a:effectLst/>
                        </a:rPr>
                        <a:t> </a:t>
                      </a:r>
                      <a:r>
                        <a:rPr lang="en-US" sz="1100" kern="100" dirty="0" err="1">
                          <a:effectLst/>
                        </a:rPr>
                        <a:t>lý</a:t>
                      </a:r>
                      <a:r>
                        <a:rPr lang="en-US" sz="1100" kern="100" dirty="0">
                          <a:effectLst/>
                        </a:rPr>
                        <a:t> </a:t>
                      </a:r>
                      <a:r>
                        <a:rPr lang="en-US" sz="1100" kern="100" dirty="0" err="1">
                          <a:effectLst/>
                        </a:rPr>
                        <a:t>đơn</a:t>
                      </a:r>
                      <a:r>
                        <a:rPr lang="en-US" sz="1100" kern="100" dirty="0">
                          <a:effectLst/>
                        </a:rPr>
                        <a:t> </a:t>
                      </a:r>
                      <a:r>
                        <a:rPr lang="en-US" sz="1100" kern="100" dirty="0" err="1">
                          <a:effectLst/>
                        </a:rPr>
                        <a:t>hàng</a:t>
                      </a:r>
                      <a:r>
                        <a:rPr lang="en-US" sz="1100" kern="100" dirty="0">
                          <a:effectLst/>
                        </a:rPr>
                        <a:t> </a:t>
                      </a:r>
                      <a:r>
                        <a:rPr lang="en-US" sz="1100" kern="100" dirty="0" err="1">
                          <a:effectLst/>
                        </a:rPr>
                        <a:t>và</a:t>
                      </a:r>
                      <a:r>
                        <a:rPr lang="en-US" sz="1100" kern="100" dirty="0">
                          <a:effectLst/>
                        </a:rPr>
                        <a:t> </a:t>
                      </a:r>
                      <a:r>
                        <a:rPr lang="en-US" sz="1100" kern="100" dirty="0" err="1">
                          <a:effectLst/>
                        </a:rPr>
                        <a:t>Tạo</a:t>
                      </a:r>
                      <a:r>
                        <a:rPr lang="en-US" sz="1100" kern="100" dirty="0">
                          <a:effectLst/>
                        </a:rPr>
                        <a:t> </a:t>
                      </a:r>
                      <a:r>
                        <a:rPr lang="en-US" sz="1100" kern="100" dirty="0" err="1">
                          <a:effectLst/>
                        </a:rPr>
                        <a:t>mệnh</a:t>
                      </a:r>
                      <a:r>
                        <a:rPr lang="en-US" sz="1100" kern="100" dirty="0">
                          <a:effectLst/>
                        </a:rPr>
                        <a:t> </a:t>
                      </a:r>
                      <a:r>
                        <a:rPr lang="en-US" sz="1100" kern="100" dirty="0" err="1">
                          <a:effectLst/>
                        </a:rPr>
                        <a:t>lệnh</a:t>
                      </a:r>
                      <a:r>
                        <a:rPr lang="en-US" sz="1100" kern="100" dirty="0">
                          <a:effectLst/>
                        </a:rPr>
                        <a:t> </a:t>
                      </a:r>
                      <a:r>
                        <a:rPr lang="en-US" sz="1100" kern="100" dirty="0" err="1">
                          <a:effectLst/>
                        </a:rPr>
                        <a:t>hóa</a:t>
                      </a:r>
                      <a:r>
                        <a:rPr lang="en-US" sz="1100" kern="100" dirty="0">
                          <a:effectLst/>
                        </a:rPr>
                        <a:t> - </a:t>
                      </a:r>
                      <a:r>
                        <a:rPr lang="en-US" sz="1100" kern="100" dirty="0" err="1">
                          <a:effectLst/>
                        </a:rPr>
                        <a:t>Kiểm</a:t>
                      </a:r>
                      <a:r>
                        <a:rPr lang="en-US" sz="1100" kern="100" dirty="0">
                          <a:effectLst/>
                        </a:rPr>
                        <a:t> </a:t>
                      </a:r>
                      <a:r>
                        <a:rPr lang="en-US" sz="1100" kern="100" dirty="0" err="1">
                          <a:effectLst/>
                        </a:rPr>
                        <a:t>tra</a:t>
                      </a:r>
                      <a:r>
                        <a:rPr lang="en-US" sz="1100" kern="100" dirty="0">
                          <a:effectLst/>
                        </a:rPr>
                        <a:t> </a:t>
                      </a:r>
                      <a:r>
                        <a:rPr lang="en-US" sz="1100" kern="100" dirty="0" err="1">
                          <a:effectLst/>
                        </a:rPr>
                        <a:t>thông</a:t>
                      </a:r>
                      <a:r>
                        <a:rPr lang="en-US" sz="1100" kern="100" dirty="0">
                          <a:effectLst/>
                        </a:rPr>
                        <a:t> tin </a:t>
                      </a:r>
                      <a:r>
                        <a:rPr lang="en-US" sz="1100" kern="100" dirty="0" err="1">
                          <a:effectLst/>
                        </a:rPr>
                        <a:t>khách</a:t>
                      </a:r>
                      <a:r>
                        <a:rPr lang="en-US" sz="1100" kern="100" dirty="0">
                          <a:effectLst/>
                        </a:rPr>
                        <a:t> </a:t>
                      </a:r>
                      <a:r>
                        <a:rPr lang="en-US" sz="1100" kern="100" dirty="0" err="1">
                          <a:effectLst/>
                        </a:rPr>
                        <a:t>hàng</a:t>
                      </a:r>
                      <a:r>
                        <a:rPr lang="en-US" sz="1100" kern="100" dirty="0">
                          <a:effectLst/>
                        </a:rPr>
                        <a:t> </a:t>
                      </a:r>
                      <a:r>
                        <a:rPr lang="en-US" sz="1100" kern="100" dirty="0" err="1">
                          <a:effectLst/>
                        </a:rPr>
                        <a:t>lặp</a:t>
                      </a:r>
                      <a:r>
                        <a:rPr lang="en-US" sz="1100" kern="100" dirty="0">
                          <a:effectLst/>
                        </a:rPr>
                        <a:t> </a:t>
                      </a:r>
                      <a:r>
                        <a:rPr lang="en-US" sz="1100" kern="100" dirty="0" err="1">
                          <a:effectLst/>
                        </a:rPr>
                        <a:t>lại</a:t>
                      </a:r>
                      <a:r>
                        <a:rPr lang="en-US" sz="1100" kern="100" dirty="0">
                          <a:effectLst/>
                        </a:rPr>
                        <a:t> ở </a:t>
                      </a:r>
                      <a:r>
                        <a:rPr lang="en-US" sz="1100" kern="100" dirty="0" err="1">
                          <a:effectLst/>
                        </a:rPr>
                        <a:t>nhiều</a:t>
                      </a:r>
                      <a:r>
                        <a:rPr lang="en-US" sz="1100" kern="100" dirty="0">
                          <a:effectLst/>
                        </a:rPr>
                        <a:t> </a:t>
                      </a:r>
                      <a:r>
                        <a:rPr lang="en-US" sz="1100" kern="100" dirty="0" err="1">
                          <a:effectLst/>
                        </a:rPr>
                        <a:t>bước</a:t>
                      </a:r>
                      <a:r>
                        <a:rPr lang="en-US" sz="1100" kern="100" dirty="0">
                          <a:effectLst/>
                        </a:rPr>
                        <a:t> </a:t>
                      </a:r>
                      <a:r>
                        <a:rPr lang="en-US" sz="1100" kern="100" dirty="0" err="1">
                          <a:effectLst/>
                        </a:rPr>
                        <a:t>khác</a:t>
                      </a:r>
                      <a:r>
                        <a:rPr lang="en-US" sz="1100" kern="100" dirty="0">
                          <a:effectLst/>
                        </a:rPr>
                        <a:t> </a:t>
                      </a:r>
                      <a:r>
                        <a:rPr lang="en-US" sz="1100" kern="100" dirty="0" err="1">
                          <a:effectLst/>
                        </a:rPr>
                        <a:t>nhau</a:t>
                      </a:r>
                      <a:r>
                        <a:rPr lang="en-US" sz="1100" kern="100" dirty="0">
                          <a:effectLst/>
                        </a:rPr>
                        <a:t> - Thông </a:t>
                      </a:r>
                      <a:r>
                        <a:rPr lang="en-US" sz="1100" kern="100" dirty="0" err="1">
                          <a:effectLst/>
                        </a:rPr>
                        <a:t>báo</a:t>
                      </a:r>
                      <a:r>
                        <a:rPr lang="en-US" sz="1100" kern="100" dirty="0">
                          <a:effectLst/>
                        </a:rPr>
                        <a:t> </a:t>
                      </a:r>
                      <a:r>
                        <a:rPr lang="en-US" sz="1100" kern="100" dirty="0" err="1">
                          <a:effectLst/>
                        </a:rPr>
                        <a:t>trạng</a:t>
                      </a:r>
                      <a:r>
                        <a:rPr lang="en-US" sz="1100" kern="100" dirty="0">
                          <a:effectLst/>
                        </a:rPr>
                        <a:t> </a:t>
                      </a:r>
                      <a:r>
                        <a:rPr lang="en-US" sz="1100" kern="100" dirty="0" err="1">
                          <a:effectLst/>
                        </a:rPr>
                        <a:t>thái</a:t>
                      </a:r>
                      <a:r>
                        <a:rPr lang="en-US" sz="1100" kern="100" dirty="0">
                          <a:effectLst/>
                        </a:rPr>
                        <a:t> </a:t>
                      </a:r>
                      <a:r>
                        <a:rPr lang="en-US" sz="1100" kern="100" dirty="0" err="1">
                          <a:effectLst/>
                        </a:rPr>
                        <a:t>đơn</a:t>
                      </a:r>
                      <a:r>
                        <a:rPr lang="en-US" sz="1100" kern="100" dirty="0">
                          <a:effectLst/>
                        </a:rPr>
                        <a:t> </a:t>
                      </a:r>
                      <a:r>
                        <a:rPr lang="en-US" sz="1100" kern="100" dirty="0" err="1">
                          <a:effectLst/>
                        </a:rPr>
                        <a:t>hàng</a:t>
                      </a:r>
                      <a:r>
                        <a:rPr lang="en-US" sz="1100" kern="100" dirty="0">
                          <a:effectLst/>
                        </a:rPr>
                        <a:t> </a:t>
                      </a:r>
                      <a:r>
                        <a:rPr lang="en-US" sz="1100" kern="100" dirty="0" err="1">
                          <a:effectLst/>
                        </a:rPr>
                        <a:t>trùng</a:t>
                      </a:r>
                      <a:r>
                        <a:rPr lang="en-US" sz="1100" kern="100" dirty="0">
                          <a:effectLst/>
                        </a:rPr>
                        <a:t> </a:t>
                      </a:r>
                      <a:r>
                        <a:rPr lang="en-US" sz="1100" kern="100" dirty="0" err="1">
                          <a:effectLst/>
                        </a:rPr>
                        <a:t>lặp</a:t>
                      </a:r>
                      <a:r>
                        <a:rPr lang="en-US" sz="1100" kern="100" dirty="0">
                          <a:effectLst/>
                        </a:rPr>
                        <a:t> </a:t>
                      </a:r>
                      <a:r>
                        <a:rPr lang="en-US" sz="1100" kern="100" dirty="0" err="1">
                          <a:effectLst/>
                        </a:rPr>
                        <a:t>giữa</a:t>
                      </a:r>
                      <a:r>
                        <a:rPr lang="en-US" sz="1100" kern="100" dirty="0">
                          <a:effectLst/>
                        </a:rPr>
                        <a:t> Thông </a:t>
                      </a:r>
                      <a:r>
                        <a:rPr lang="en-US" sz="1100" kern="100" dirty="0" err="1">
                          <a:effectLst/>
                        </a:rPr>
                        <a:t>báo</a:t>
                      </a:r>
                      <a:r>
                        <a:rPr lang="en-US" sz="1100" kern="100" dirty="0">
                          <a:effectLst/>
                        </a:rPr>
                        <a:t> </a:t>
                      </a:r>
                      <a:r>
                        <a:rPr lang="en-US" sz="1100" kern="100" dirty="0" err="1">
                          <a:effectLst/>
                        </a:rPr>
                        <a:t>giao</a:t>
                      </a:r>
                      <a:r>
                        <a:rPr lang="en-US" sz="1100" kern="100" dirty="0">
                          <a:effectLst/>
                        </a:rPr>
                        <a:t> </a:t>
                      </a:r>
                      <a:r>
                        <a:rPr lang="en-US" sz="1100" kern="100" dirty="0" err="1">
                          <a:effectLst/>
                        </a:rPr>
                        <a:t>hàng</a:t>
                      </a:r>
                      <a:r>
                        <a:rPr lang="en-US" sz="1100" kern="100" dirty="0">
                          <a:effectLst/>
                        </a:rPr>
                        <a:t> </a:t>
                      </a:r>
                      <a:r>
                        <a:rPr lang="en-US" sz="1100" kern="100" dirty="0" err="1">
                          <a:effectLst/>
                        </a:rPr>
                        <a:t>và</a:t>
                      </a:r>
                      <a:r>
                        <a:rPr lang="en-US" sz="1100" kern="100" dirty="0">
                          <a:effectLst/>
                        </a:rPr>
                        <a:t> </a:t>
                      </a:r>
                      <a:r>
                        <a:rPr lang="en-US" sz="1100" kern="100" dirty="0" err="1">
                          <a:effectLst/>
                        </a:rPr>
                        <a:t>Xác</a:t>
                      </a:r>
                      <a:r>
                        <a:rPr lang="en-US" sz="1100" kern="100" dirty="0">
                          <a:effectLst/>
                        </a:rPr>
                        <a:t> </a:t>
                      </a:r>
                      <a:r>
                        <a:rPr lang="en-US" sz="1100" kern="100" dirty="0" err="1">
                          <a:effectLst/>
                        </a:rPr>
                        <a:t>nhận</a:t>
                      </a:r>
                      <a:r>
                        <a:rPr lang="en-US" sz="1100" kern="100" dirty="0">
                          <a:effectLst/>
                        </a:rPr>
                        <a:t> </a:t>
                      </a:r>
                      <a:r>
                        <a:rPr lang="en-US" sz="1100" kern="100" dirty="0" err="1">
                          <a:effectLst/>
                        </a:rPr>
                        <a:t>giao</a:t>
                      </a:r>
                      <a:r>
                        <a:rPr lang="en-US" sz="1100" kern="100" dirty="0">
                          <a:effectLst/>
                        </a:rPr>
                        <a:t> </a:t>
                      </a:r>
                      <a:r>
                        <a:rPr lang="en-US" sz="1100" kern="100" dirty="0" err="1">
                          <a:effectLst/>
                        </a:rPr>
                        <a:t>thành</a:t>
                      </a:r>
                      <a:r>
                        <a:rPr lang="en-US" sz="1100" kern="100" dirty="0">
                          <a:effectLst/>
                        </a:rPr>
                        <a:t> </a:t>
                      </a:r>
                      <a:r>
                        <a:rPr lang="en-US" sz="1100" kern="100" dirty="0" err="1">
                          <a:effectLst/>
                        </a:rPr>
                        <a:t>công</a:t>
                      </a:r>
                      <a:r>
                        <a:rPr lang="en-US" sz="1100" kern="100" dirty="0">
                          <a:effectLst/>
                        </a:rPr>
                        <a:t> - </a:t>
                      </a:r>
                      <a:r>
                        <a:rPr lang="en-US" sz="1100" kern="100" dirty="0" err="1">
                          <a:effectLst/>
                        </a:rPr>
                        <a:t>Ghi</a:t>
                      </a:r>
                      <a:r>
                        <a:rPr lang="en-US" sz="1100" kern="100" dirty="0">
                          <a:effectLst/>
                        </a:rPr>
                        <a:t> </a:t>
                      </a:r>
                      <a:r>
                        <a:rPr lang="en-US" sz="1100" kern="100" dirty="0" err="1">
                          <a:effectLst/>
                        </a:rPr>
                        <a:t>chép</a:t>
                      </a:r>
                      <a:r>
                        <a:rPr lang="en-US" sz="1100" kern="100" dirty="0">
                          <a:effectLst/>
                        </a:rPr>
                        <a:t> </a:t>
                      </a:r>
                      <a:r>
                        <a:rPr lang="en-US" sz="1100" kern="100" dirty="0" err="1">
                          <a:effectLst/>
                        </a:rPr>
                        <a:t>thông</a:t>
                      </a:r>
                      <a:r>
                        <a:rPr lang="en-US" sz="1100" kern="100" dirty="0">
                          <a:effectLst/>
                        </a:rPr>
                        <a:t> tin </a:t>
                      </a:r>
                      <a:r>
                        <a:rPr lang="en-US" sz="1100" kern="100" dirty="0" err="1">
                          <a:effectLst/>
                        </a:rPr>
                        <a:t>giao</a:t>
                      </a:r>
                      <a:r>
                        <a:rPr lang="en-US" sz="1100" kern="100" dirty="0">
                          <a:effectLst/>
                        </a:rPr>
                        <a:t> </a:t>
                      </a:r>
                      <a:r>
                        <a:rPr lang="en-US" sz="1100" kern="100" dirty="0" err="1">
                          <a:effectLst/>
                        </a:rPr>
                        <a:t>hàng</a:t>
                      </a:r>
                      <a:r>
                        <a:rPr lang="en-US" sz="1100" kern="100" dirty="0">
                          <a:effectLst/>
                        </a:rPr>
                        <a:t> ở </a:t>
                      </a:r>
                      <a:r>
                        <a:rPr lang="en-US" sz="1100" kern="100" dirty="0" err="1">
                          <a:effectLst/>
                        </a:rPr>
                        <a:t>nhiều</a:t>
                      </a:r>
                      <a:r>
                        <a:rPr lang="en-US" sz="1100" kern="100" dirty="0">
                          <a:effectLst/>
                        </a:rPr>
                        <a:t> </a:t>
                      </a:r>
                      <a:r>
                        <a:rPr lang="en-US" sz="1100" kern="100" dirty="0" err="1">
                          <a:effectLst/>
                        </a:rPr>
                        <a:t>hệ</a:t>
                      </a:r>
                      <a:r>
                        <a:rPr lang="en-US" sz="1100" kern="100" dirty="0">
                          <a:effectLst/>
                        </a:rPr>
                        <a:t> </a:t>
                      </a:r>
                      <a:r>
                        <a:rPr lang="en-US" sz="1100" kern="100" dirty="0" err="1">
                          <a:effectLst/>
                        </a:rPr>
                        <a:t>thống</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135" marR="67135" marT="76645" marB="76645" anchor="b"/>
                </a:tc>
                <a:extLst>
                  <a:ext uri="{0D108BD9-81ED-4DB2-BD59-A6C34878D82A}">
                    <a16:rowId xmlns:a16="http://schemas.microsoft.com/office/drawing/2014/main" val="2053175300"/>
                  </a:ext>
                </a:extLst>
              </a:tr>
            </a:tbl>
          </a:graphicData>
        </a:graphic>
      </p:graphicFrame>
    </p:spTree>
    <p:extLst>
      <p:ext uri="{BB962C8B-B14F-4D97-AF65-F5344CB8AC3E}">
        <p14:creationId xmlns:p14="http://schemas.microsoft.com/office/powerpoint/2010/main" val="4214776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18D00-6C6C-4C46-35B4-CF9B91CA3C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DD898C-7B35-5CC0-1D5B-C349CF890905}"/>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828856A8-CF05-C0CA-7C4D-C5DC746EED05}"/>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78D8C80-481D-3EF2-DBCB-D799916FB59E}"/>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thời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84647266-5C1C-9B41-155B-E923260234B5}"/>
              </a:ext>
            </a:extLst>
          </p:cNvPr>
          <p:cNvGraphicFramePr>
            <a:graphicFrameLocks noGrp="1"/>
          </p:cNvGraphicFramePr>
          <p:nvPr>
            <p:extLst>
              <p:ext uri="{D42A27DB-BD31-4B8C-83A1-F6EECF244321}">
                <p14:modId xmlns:p14="http://schemas.microsoft.com/office/powerpoint/2010/main" val="2663093437"/>
              </p:ext>
            </p:extLst>
          </p:nvPr>
        </p:nvGraphicFramePr>
        <p:xfrm>
          <a:off x="3410585" y="1154858"/>
          <a:ext cx="3505200" cy="5276991"/>
        </p:xfrm>
        <a:graphic>
          <a:graphicData uri="http://schemas.openxmlformats.org/drawingml/2006/table">
            <a:tbl>
              <a:tblPr firstRow="1" firstCol="1" bandRow="1">
                <a:tableStyleId>{5C22544A-7EE6-4342-B048-85BDC9FD1C3A}</a:tableStyleId>
              </a:tblPr>
              <a:tblGrid>
                <a:gridCol w="701040">
                  <a:extLst>
                    <a:ext uri="{9D8B030D-6E8A-4147-A177-3AD203B41FA5}">
                      <a16:colId xmlns:a16="http://schemas.microsoft.com/office/drawing/2014/main" val="1835311923"/>
                    </a:ext>
                  </a:extLst>
                </a:gridCol>
                <a:gridCol w="701040">
                  <a:extLst>
                    <a:ext uri="{9D8B030D-6E8A-4147-A177-3AD203B41FA5}">
                      <a16:colId xmlns:a16="http://schemas.microsoft.com/office/drawing/2014/main" val="120921069"/>
                    </a:ext>
                  </a:extLst>
                </a:gridCol>
                <a:gridCol w="701040">
                  <a:extLst>
                    <a:ext uri="{9D8B030D-6E8A-4147-A177-3AD203B41FA5}">
                      <a16:colId xmlns:a16="http://schemas.microsoft.com/office/drawing/2014/main" val="1600313265"/>
                    </a:ext>
                  </a:extLst>
                </a:gridCol>
                <a:gridCol w="701040">
                  <a:extLst>
                    <a:ext uri="{9D8B030D-6E8A-4147-A177-3AD203B41FA5}">
                      <a16:colId xmlns:a16="http://schemas.microsoft.com/office/drawing/2014/main" val="3078478754"/>
                    </a:ext>
                  </a:extLst>
                </a:gridCol>
                <a:gridCol w="701040">
                  <a:extLst>
                    <a:ext uri="{9D8B030D-6E8A-4147-A177-3AD203B41FA5}">
                      <a16:colId xmlns:a16="http://schemas.microsoft.com/office/drawing/2014/main" val="1636833843"/>
                    </a:ext>
                  </a:extLst>
                </a:gridCol>
              </a:tblGrid>
              <a:tr h="392750">
                <a:tc>
                  <a:txBody>
                    <a:bodyPr/>
                    <a:lstStyle/>
                    <a:p>
                      <a:pPr marL="0" marR="0">
                        <a:lnSpc>
                          <a:spcPct val="115000"/>
                        </a:lnSpc>
                        <a:spcAft>
                          <a:spcPts val="800"/>
                        </a:spcAft>
                        <a:buNone/>
                      </a:pPr>
                      <a:r>
                        <a:rPr lang="en-US" sz="800" kern="100">
                          <a:effectLst/>
                        </a:rPr>
                        <a:t>Bộ phận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0271" marB="50271"/>
                </a:tc>
                <a:tc>
                  <a:txBody>
                    <a:bodyPr/>
                    <a:lstStyle/>
                    <a:p>
                      <a:pPr marL="0" marR="0">
                        <a:lnSpc>
                          <a:spcPct val="115000"/>
                        </a:lnSpc>
                        <a:spcAft>
                          <a:spcPts val="800"/>
                        </a:spcAft>
                        <a:buNone/>
                      </a:pPr>
                      <a:r>
                        <a:rPr lang="en-US" sz="800" kern="100">
                          <a:effectLst/>
                        </a:rPr>
                        <a:t>Hoạt động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0271" marB="50271"/>
                </a:tc>
                <a:tc>
                  <a:txBody>
                    <a:bodyPr/>
                    <a:lstStyle/>
                    <a:p>
                      <a:pPr marL="0" marR="0">
                        <a:lnSpc>
                          <a:spcPct val="115000"/>
                        </a:lnSpc>
                        <a:spcAft>
                          <a:spcPts val="800"/>
                        </a:spcAft>
                        <a:buNone/>
                      </a:pPr>
                      <a:r>
                        <a:rPr lang="en-US" sz="800" kern="100">
                          <a:effectLst/>
                        </a:rPr>
                        <a:t>Thời gian xử lý (giờ)</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0271" marB="50271"/>
                </a:tc>
                <a:tc>
                  <a:txBody>
                    <a:bodyPr/>
                    <a:lstStyle/>
                    <a:p>
                      <a:pPr marL="0" marR="0">
                        <a:lnSpc>
                          <a:spcPct val="115000"/>
                        </a:lnSpc>
                        <a:spcAft>
                          <a:spcPts val="800"/>
                        </a:spcAft>
                        <a:buNone/>
                      </a:pPr>
                      <a:r>
                        <a:rPr lang="en-US" sz="800" kern="100">
                          <a:effectLst/>
                        </a:rPr>
                        <a:t>Thời gian chờ (giờ)</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0271" marB="50271"/>
                </a:tc>
                <a:tc>
                  <a:txBody>
                    <a:bodyPr/>
                    <a:lstStyle/>
                    <a:p>
                      <a:pPr marL="0" marR="0">
                        <a:lnSpc>
                          <a:spcPct val="115000"/>
                        </a:lnSpc>
                        <a:spcAft>
                          <a:spcPts val="800"/>
                        </a:spcAft>
                        <a:buNone/>
                      </a:pPr>
                      <a:r>
                        <a:rPr lang="en-US" sz="800" kern="100">
                          <a:effectLst/>
                        </a:rPr>
                        <a:t>Tổng thời gian (giờ)</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0271" marB="50271"/>
                </a:tc>
                <a:extLst>
                  <a:ext uri="{0D108BD9-81ED-4DB2-BD59-A6C34878D82A}">
                    <a16:rowId xmlns:a16="http://schemas.microsoft.com/office/drawing/2014/main" val="3325438052"/>
                  </a:ext>
                </a:extLst>
              </a:tr>
              <a:tr h="406993">
                <a:tc>
                  <a:txBody>
                    <a:bodyPr/>
                    <a:lstStyle/>
                    <a:p>
                      <a:pPr marL="0" marR="0">
                        <a:lnSpc>
                          <a:spcPct val="115000"/>
                        </a:lnSpc>
                        <a:spcAft>
                          <a:spcPts val="800"/>
                        </a:spcAft>
                        <a:buNone/>
                      </a:pPr>
                      <a:r>
                        <a:rPr lang="en-US" sz="800" kern="100">
                          <a:effectLst/>
                        </a:rPr>
                        <a:t>Khách hàng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Gửi yêu cầu mua hàng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1045419985"/>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Nhận tư vấn sản phẩm</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3459346559"/>
                  </a:ext>
                </a:extLst>
              </a:tr>
              <a:tr h="257006">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Nhận báo giá</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75200792"/>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Đồng ý báo giá</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1693357854"/>
                  </a:ext>
                </a:extLst>
              </a:tr>
              <a:tr h="557305">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Xác nhận đặt hàng và thanh toán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3.5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3951932696"/>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Nhận hàng hóa</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3.5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1624811892"/>
                  </a:ext>
                </a:extLst>
              </a:tr>
              <a:tr h="406993">
                <a:tc>
                  <a:txBody>
                    <a:bodyPr/>
                    <a:lstStyle/>
                    <a:p>
                      <a:pPr marL="0" marR="0">
                        <a:lnSpc>
                          <a:spcPct val="115000"/>
                        </a:lnSpc>
                        <a:spcAft>
                          <a:spcPts val="800"/>
                        </a:spcAft>
                        <a:buNone/>
                      </a:pPr>
                      <a:r>
                        <a:rPr lang="en-US" sz="800" kern="100">
                          <a:effectLst/>
                        </a:rPr>
                        <a:t>Bộ phận bán hàng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Tiếp nhận yêu cầu</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1.8</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2860283101"/>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Tư vấn sản phẩm</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3455805329"/>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Báo giá và chốt đơn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1181354386"/>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Xử lý đơn hàng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3.5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998013804"/>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Xác nhận thanh toán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3.0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158955377"/>
                  </a:ext>
                </a:extLst>
              </a:tr>
              <a:tr h="406993">
                <a:tc>
                  <a:txBody>
                    <a:bodyPr/>
                    <a:lstStyle/>
                    <a:p>
                      <a:pPr>
                        <a:lnSpc>
                          <a:spcPct val="115000"/>
                        </a:lnSpc>
                      </a:pPr>
                      <a:endParaRPr lang="en-US" sz="800" kern="100">
                        <a:effectLst/>
                        <a:latin typeface="Aptos" panose="020B0004020202020204" pitchFamily="34" charset="0"/>
                      </a:endParaRPr>
                    </a:p>
                  </a:txBody>
                  <a:tcPr marL="50271" marR="50271" marT="57393" marB="57393" anchor="b"/>
                </a:tc>
                <a:tc>
                  <a:txBody>
                    <a:bodyPr/>
                    <a:lstStyle/>
                    <a:p>
                      <a:pPr marL="0" marR="0">
                        <a:lnSpc>
                          <a:spcPct val="115000"/>
                        </a:lnSpc>
                        <a:spcAft>
                          <a:spcPts val="800"/>
                        </a:spcAft>
                        <a:buNone/>
                      </a:pPr>
                      <a:r>
                        <a:rPr lang="en-US" sz="800" kern="100">
                          <a:effectLst/>
                        </a:rPr>
                        <a:t>Chuyển đơn cho kho</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1.5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a:effectLst/>
                        </a:rPr>
                        <a:t>0.4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tc>
                  <a:txBody>
                    <a:bodyPr/>
                    <a:lstStyle/>
                    <a:p>
                      <a:pPr marL="0" marR="0">
                        <a:lnSpc>
                          <a:spcPct val="115000"/>
                        </a:lnSpc>
                        <a:spcAft>
                          <a:spcPts val="800"/>
                        </a:spcAft>
                        <a:buNone/>
                      </a:pPr>
                      <a:r>
                        <a:rPr lang="en-US" sz="800" kern="100" dirty="0">
                          <a:effectLst/>
                        </a:rPr>
                        <a:t>1.9</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271" marR="50271" marT="57393" marB="57393" anchor="b"/>
                </a:tc>
                <a:extLst>
                  <a:ext uri="{0D108BD9-81ED-4DB2-BD59-A6C34878D82A}">
                    <a16:rowId xmlns:a16="http://schemas.microsoft.com/office/drawing/2014/main" val="3525926414"/>
                  </a:ext>
                </a:extLst>
              </a:tr>
            </a:tbl>
          </a:graphicData>
        </a:graphic>
      </p:graphicFrame>
      <p:graphicFrame>
        <p:nvGraphicFramePr>
          <p:cNvPr id="4" name="Table 3">
            <a:extLst>
              <a:ext uri="{FF2B5EF4-FFF2-40B4-BE49-F238E27FC236}">
                <a16:creationId xmlns:a16="http://schemas.microsoft.com/office/drawing/2014/main" id="{F773C156-8E22-4E93-76E4-3CF106400472}"/>
              </a:ext>
            </a:extLst>
          </p:cNvPr>
          <p:cNvGraphicFramePr>
            <a:graphicFrameLocks noGrp="1"/>
          </p:cNvGraphicFramePr>
          <p:nvPr>
            <p:extLst>
              <p:ext uri="{D42A27DB-BD31-4B8C-83A1-F6EECF244321}">
                <p14:modId xmlns:p14="http://schemas.microsoft.com/office/powerpoint/2010/main" val="997127694"/>
              </p:ext>
            </p:extLst>
          </p:nvPr>
        </p:nvGraphicFramePr>
        <p:xfrm>
          <a:off x="7315199" y="1154858"/>
          <a:ext cx="4461110" cy="5276994"/>
        </p:xfrm>
        <a:graphic>
          <a:graphicData uri="http://schemas.openxmlformats.org/drawingml/2006/table">
            <a:tbl>
              <a:tblPr firstRow="1" firstCol="1" bandRow="1">
                <a:tableStyleId>{5C22544A-7EE6-4342-B048-85BDC9FD1C3A}</a:tableStyleId>
              </a:tblPr>
              <a:tblGrid>
                <a:gridCol w="892222">
                  <a:extLst>
                    <a:ext uri="{9D8B030D-6E8A-4147-A177-3AD203B41FA5}">
                      <a16:colId xmlns:a16="http://schemas.microsoft.com/office/drawing/2014/main" val="1122910341"/>
                    </a:ext>
                  </a:extLst>
                </a:gridCol>
                <a:gridCol w="892222">
                  <a:extLst>
                    <a:ext uri="{9D8B030D-6E8A-4147-A177-3AD203B41FA5}">
                      <a16:colId xmlns:a16="http://schemas.microsoft.com/office/drawing/2014/main" val="490347684"/>
                    </a:ext>
                  </a:extLst>
                </a:gridCol>
                <a:gridCol w="892222">
                  <a:extLst>
                    <a:ext uri="{9D8B030D-6E8A-4147-A177-3AD203B41FA5}">
                      <a16:colId xmlns:a16="http://schemas.microsoft.com/office/drawing/2014/main" val="155065076"/>
                    </a:ext>
                  </a:extLst>
                </a:gridCol>
                <a:gridCol w="892222">
                  <a:extLst>
                    <a:ext uri="{9D8B030D-6E8A-4147-A177-3AD203B41FA5}">
                      <a16:colId xmlns:a16="http://schemas.microsoft.com/office/drawing/2014/main" val="2118325162"/>
                    </a:ext>
                  </a:extLst>
                </a:gridCol>
                <a:gridCol w="892222">
                  <a:extLst>
                    <a:ext uri="{9D8B030D-6E8A-4147-A177-3AD203B41FA5}">
                      <a16:colId xmlns:a16="http://schemas.microsoft.com/office/drawing/2014/main" val="4035317985"/>
                    </a:ext>
                  </a:extLst>
                </a:gridCol>
              </a:tblGrid>
              <a:tr h="527664">
                <a:tc>
                  <a:txBody>
                    <a:bodyPr/>
                    <a:lstStyle/>
                    <a:p>
                      <a:pPr marL="0" marR="0">
                        <a:lnSpc>
                          <a:spcPct val="115000"/>
                        </a:lnSpc>
                        <a:spcAft>
                          <a:spcPts val="800"/>
                        </a:spcAft>
                        <a:buNone/>
                      </a:pPr>
                      <a:r>
                        <a:rPr lang="en-US" sz="1100" kern="100">
                          <a:effectLst/>
                        </a:rPr>
                        <a:t>Kho hàng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Kiểm tra tồn kho</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0.7</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2.7</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3804628230"/>
                  </a:ext>
                </a:extLst>
              </a:tr>
              <a:tr h="52766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Chuẩn bị hàng hóa</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3</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5.0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1724748956"/>
                  </a:ext>
                </a:extLst>
              </a:tr>
              <a:tr h="52766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Đóng gói hàng hóa</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3.5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746113090"/>
                  </a:ext>
                </a:extLst>
              </a:tr>
              <a:tr h="332178">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Xuất kho</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0.8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257474146"/>
                  </a:ext>
                </a:extLst>
              </a:tr>
              <a:tr h="52766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Chuyển cho vận chuyển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0.6</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2.1</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3649432142"/>
                  </a:ext>
                </a:extLst>
              </a:tr>
              <a:tr h="527664">
                <a:tc>
                  <a:txBody>
                    <a:bodyPr/>
                    <a:lstStyle/>
                    <a:p>
                      <a:pPr marL="0" marR="0">
                        <a:lnSpc>
                          <a:spcPct val="115000"/>
                        </a:lnSpc>
                        <a:spcAft>
                          <a:spcPts val="800"/>
                        </a:spcAft>
                        <a:buNone/>
                      </a:pPr>
                      <a:r>
                        <a:rPr lang="en-US" sz="1100" kern="100">
                          <a:effectLst/>
                        </a:rPr>
                        <a:t>Vận chuyển</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Lập kế hoạch tuyến đường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0.7</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2.7</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3798409053"/>
                  </a:ext>
                </a:extLst>
              </a:tr>
              <a:tr h="52766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Xếp hàng lên xe</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1794172740"/>
                  </a:ext>
                </a:extLst>
              </a:tr>
              <a:tr h="52766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Vận chuyển giao hàng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3</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2.0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5.0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2395566157"/>
                  </a:ext>
                </a:extLst>
              </a:tr>
              <a:tr h="52766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Thông báo giao hàng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1.5</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0.3</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1.8</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2581034230"/>
                  </a:ext>
                </a:extLst>
              </a:tr>
              <a:tr h="723504">
                <a:tc>
                  <a:txBody>
                    <a:bodyPr/>
                    <a:lstStyle/>
                    <a:p>
                      <a:pPr>
                        <a:lnSpc>
                          <a:spcPct val="115000"/>
                        </a:lnSpc>
                      </a:pPr>
                      <a:endParaRPr lang="en-US" sz="1100" kern="100">
                        <a:effectLst/>
                        <a:latin typeface="Aptos" panose="020B0004020202020204" pitchFamily="34" charset="0"/>
                      </a:endParaRPr>
                    </a:p>
                  </a:txBody>
                  <a:tcPr marL="63981" marR="63981" marT="73046" marB="73046" anchor="b"/>
                </a:tc>
                <a:tc>
                  <a:txBody>
                    <a:bodyPr/>
                    <a:lstStyle/>
                    <a:p>
                      <a:pPr marL="0" marR="0">
                        <a:lnSpc>
                          <a:spcPct val="115000"/>
                        </a:lnSpc>
                        <a:spcAft>
                          <a:spcPts val="800"/>
                        </a:spcAft>
                        <a:buNone/>
                      </a:pPr>
                      <a:r>
                        <a:rPr lang="en-US" sz="1100" kern="100">
                          <a:effectLst/>
                        </a:rPr>
                        <a:t>Xác nhận giao thành công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1</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a:effectLst/>
                        </a:rPr>
                        <a:t>0.2</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tc>
                  <a:txBody>
                    <a:bodyPr/>
                    <a:lstStyle/>
                    <a:p>
                      <a:pPr marL="0" marR="0">
                        <a:lnSpc>
                          <a:spcPct val="115000"/>
                        </a:lnSpc>
                        <a:spcAft>
                          <a:spcPts val="800"/>
                        </a:spcAft>
                        <a:buNone/>
                      </a:pPr>
                      <a:r>
                        <a:rPr lang="en-US" sz="1100" kern="100" dirty="0">
                          <a:effectLst/>
                        </a:rPr>
                        <a:t>1.2</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981" marR="63981" marT="73046" marB="73046" anchor="b"/>
                </a:tc>
                <a:extLst>
                  <a:ext uri="{0D108BD9-81ED-4DB2-BD59-A6C34878D82A}">
                    <a16:rowId xmlns:a16="http://schemas.microsoft.com/office/drawing/2014/main" val="3357602448"/>
                  </a:ext>
                </a:extLst>
              </a:tr>
            </a:tbl>
          </a:graphicData>
        </a:graphic>
      </p:graphicFrame>
    </p:spTree>
    <p:extLst>
      <p:ext uri="{BB962C8B-B14F-4D97-AF65-F5344CB8AC3E}">
        <p14:creationId xmlns:p14="http://schemas.microsoft.com/office/powerpoint/2010/main" val="389425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73368-A901-C52B-7441-BB76D88E6A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881F0F-6A10-E088-6C8A-8141179A9387}"/>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F9C8D324-F8DF-716F-7D20-A57DCDDEC23A}"/>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912610C-CF7A-FDBC-45E2-D63256C038C4}"/>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thời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FDC7B45-F76E-84A0-6F7C-9AF5390351D9}"/>
              </a:ext>
            </a:extLst>
          </p:cNvPr>
          <p:cNvSpPr txBox="1"/>
          <p:nvPr/>
        </p:nvSpPr>
        <p:spPr>
          <a:xfrm>
            <a:off x="558800" y="1501101"/>
            <a:ext cx="7696200" cy="5355312"/>
          </a:xfrm>
          <a:prstGeom prst="rect">
            <a:avLst/>
          </a:prstGeom>
          <a:noFill/>
        </p:spPr>
        <p:txBody>
          <a:bodyPr wrap="square">
            <a:spAutoFit/>
          </a:bodyPr>
          <a:lstStyle/>
          <a:p>
            <a:r>
              <a:rPr lang="vi-VN" dirty="0">
                <a:solidFill>
                  <a:schemeClr val="bg1"/>
                </a:solidFill>
                <a:latin typeface="+mj-lt"/>
              </a:rPr>
              <a:t>Thời gian chờ:</a:t>
            </a:r>
          </a:p>
          <a:p>
            <a:r>
              <a:rPr lang="vi-VN" dirty="0">
                <a:solidFill>
                  <a:schemeClr val="bg1"/>
                </a:solidFill>
                <a:latin typeface="+mj-lt"/>
              </a:rPr>
              <a:t>•	Chờ phản hồi khách hàng: 0.5 giờ (quyết định mua, phê duyệt)</a:t>
            </a:r>
          </a:p>
          <a:p>
            <a:r>
              <a:rPr lang="vi-VN" dirty="0">
                <a:solidFill>
                  <a:schemeClr val="bg1"/>
                </a:solidFill>
                <a:latin typeface="+mj-lt"/>
              </a:rPr>
              <a:t>•	Chờ xử lý thanh toán: 1.0-1.5 giờ (xác thực, duyệt giao dịch)</a:t>
            </a:r>
          </a:p>
          <a:p>
            <a:r>
              <a:rPr lang="vi-VN" dirty="0">
                <a:solidFill>
                  <a:schemeClr val="bg1"/>
                </a:solidFill>
                <a:latin typeface="+mj-lt"/>
              </a:rPr>
              <a:t>•	Chờ chuẩn bị hàng tại kho: 2.0 giờ (lấy hàng, kiểm tra)</a:t>
            </a:r>
          </a:p>
          <a:p>
            <a:r>
              <a:rPr lang="vi-VN" dirty="0">
                <a:solidFill>
                  <a:schemeClr val="bg1"/>
                </a:solidFill>
                <a:latin typeface="+mj-lt"/>
              </a:rPr>
              <a:t>•	Chờ vận chuyển: 2.0 giờ (</a:t>
            </a:r>
            <a:r>
              <a:rPr lang="vi-VN" dirty="0" err="1">
                <a:solidFill>
                  <a:schemeClr val="bg1"/>
                </a:solidFill>
                <a:latin typeface="+mj-lt"/>
              </a:rPr>
              <a:t>traffic</a:t>
            </a:r>
            <a:r>
              <a:rPr lang="vi-VN" dirty="0">
                <a:solidFill>
                  <a:schemeClr val="bg1"/>
                </a:solidFill>
                <a:latin typeface="+mj-lt"/>
              </a:rPr>
              <a:t>, điều kiện giao thông)</a:t>
            </a:r>
          </a:p>
          <a:p>
            <a:r>
              <a:rPr lang="vi-VN" dirty="0">
                <a:solidFill>
                  <a:schemeClr val="bg1"/>
                </a:solidFill>
                <a:latin typeface="+mj-lt"/>
              </a:rPr>
              <a:t>•	Chờ phối hợp giữa các bộ phận: 0.3-0.8 giờ</a:t>
            </a:r>
          </a:p>
          <a:p>
            <a:r>
              <a:rPr lang="vi-VN" dirty="0">
                <a:solidFill>
                  <a:schemeClr val="bg1"/>
                </a:solidFill>
                <a:latin typeface="+mj-lt"/>
              </a:rPr>
              <a:t>Tính toán thời gian quy trình:</a:t>
            </a:r>
          </a:p>
          <a:p>
            <a:r>
              <a:rPr lang="vi-VN" dirty="0">
                <a:solidFill>
                  <a:schemeClr val="bg1"/>
                </a:solidFill>
                <a:latin typeface="+mj-lt"/>
              </a:rPr>
              <a:t>Xác suất tại các cổng XOR:</a:t>
            </a:r>
          </a:p>
          <a:p>
            <a:r>
              <a:rPr lang="vi-VN" dirty="0">
                <a:solidFill>
                  <a:schemeClr val="bg1"/>
                </a:solidFill>
                <a:latin typeface="+mj-lt"/>
              </a:rPr>
              <a:t>•	Cổng "Đồng ý báo giá?" = 90% </a:t>
            </a:r>
            <a:r>
              <a:rPr lang="vi-VN" dirty="0" err="1">
                <a:solidFill>
                  <a:schemeClr val="bg1"/>
                </a:solidFill>
                <a:latin typeface="+mj-lt"/>
              </a:rPr>
              <a:t>Yes</a:t>
            </a:r>
            <a:r>
              <a:rPr lang="vi-VN" dirty="0">
                <a:solidFill>
                  <a:schemeClr val="bg1"/>
                </a:solidFill>
                <a:latin typeface="+mj-lt"/>
              </a:rPr>
              <a:t>, 10% No</a:t>
            </a:r>
          </a:p>
          <a:p>
            <a:r>
              <a:rPr lang="vi-VN" dirty="0">
                <a:solidFill>
                  <a:schemeClr val="bg1"/>
                </a:solidFill>
                <a:latin typeface="+mj-lt"/>
              </a:rPr>
              <a:t>•	Cổng "Kiểm tra tồn kho" = 85% Có hàng, 15% Hết hàng</a:t>
            </a:r>
          </a:p>
          <a:p>
            <a:r>
              <a:rPr lang="vi-VN" dirty="0">
                <a:solidFill>
                  <a:schemeClr val="bg1"/>
                </a:solidFill>
                <a:latin typeface="+mj-lt"/>
              </a:rPr>
              <a:t>Thời gian chu kỳ trung bình:</a:t>
            </a:r>
          </a:p>
          <a:p>
            <a:r>
              <a:rPr lang="vi-VN" dirty="0">
                <a:solidFill>
                  <a:schemeClr val="bg1"/>
                </a:solidFill>
                <a:latin typeface="+mj-lt"/>
              </a:rPr>
              <a:t>•	Thời gian xử lý cơ bản: 58.8 giờ </a:t>
            </a:r>
          </a:p>
          <a:p>
            <a:r>
              <a:rPr lang="vi-VN" dirty="0">
                <a:solidFill>
                  <a:schemeClr val="bg1"/>
                </a:solidFill>
                <a:latin typeface="+mj-lt"/>
              </a:rPr>
              <a:t>•	Thời gian bổ sung khi hết hàng (có trọng số): 3.6 giờ</a:t>
            </a:r>
          </a:p>
          <a:p>
            <a:r>
              <a:rPr lang="vi-VN" dirty="0">
                <a:solidFill>
                  <a:schemeClr val="bg1"/>
                </a:solidFill>
                <a:latin typeface="+mj-lt"/>
              </a:rPr>
              <a:t>•	Thời gian chu kỳ trung bình: 62.4 giờ </a:t>
            </a:r>
          </a:p>
          <a:p>
            <a:r>
              <a:rPr lang="vi-VN" dirty="0">
                <a:solidFill>
                  <a:schemeClr val="bg1"/>
                </a:solidFill>
                <a:latin typeface="+mj-lt"/>
              </a:rPr>
              <a:t>Kết quả phân tích thời gian:</a:t>
            </a:r>
          </a:p>
          <a:p>
            <a:r>
              <a:rPr lang="vi-VN" dirty="0">
                <a:solidFill>
                  <a:schemeClr val="bg1"/>
                </a:solidFill>
                <a:latin typeface="+mj-lt"/>
              </a:rPr>
              <a:t>•	Tổng thời gian xử lý: 42.5 giờ</a:t>
            </a:r>
          </a:p>
          <a:p>
            <a:r>
              <a:rPr lang="vi-VN" dirty="0">
                <a:solidFill>
                  <a:schemeClr val="bg1"/>
                </a:solidFill>
                <a:latin typeface="+mj-lt"/>
              </a:rPr>
              <a:t>•	Tổng thời gian chờ: 16.3 giờ</a:t>
            </a:r>
          </a:p>
          <a:p>
            <a:r>
              <a:rPr lang="vi-VN" dirty="0">
                <a:solidFill>
                  <a:schemeClr val="bg1"/>
                </a:solidFill>
                <a:latin typeface="+mj-lt"/>
              </a:rPr>
              <a:t>•	Tổng thời gian chu kỳ: 62.4 giờ</a:t>
            </a:r>
          </a:p>
          <a:p>
            <a:r>
              <a:rPr lang="vi-VN" dirty="0">
                <a:solidFill>
                  <a:schemeClr val="bg1"/>
                </a:solidFill>
                <a:latin typeface="+mj-lt"/>
              </a:rPr>
              <a:t>•	Hiệu suất thời gian: 42.5/62.4 = 68.1% </a:t>
            </a:r>
          </a:p>
        </p:txBody>
      </p:sp>
    </p:spTree>
    <p:extLst>
      <p:ext uri="{BB962C8B-B14F-4D97-AF65-F5344CB8AC3E}">
        <p14:creationId xmlns:p14="http://schemas.microsoft.com/office/powerpoint/2010/main" val="20736543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35E9-E049-939A-BBF4-AB3CA0A57A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334FB2-67F5-9A0E-9A67-649ECE21AB87}"/>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2D565AAE-84A3-A0EA-605A-034D72084C7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CABA53D-1159-22B9-7FA0-111510BA9DC6}"/>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chi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736E6EB5-15C2-C958-2D79-3F45B34FCB50}"/>
              </a:ext>
            </a:extLst>
          </p:cNvPr>
          <p:cNvGraphicFramePr>
            <a:graphicFrameLocks noGrp="1"/>
          </p:cNvGraphicFramePr>
          <p:nvPr>
            <p:extLst>
              <p:ext uri="{D42A27DB-BD31-4B8C-83A1-F6EECF244321}">
                <p14:modId xmlns:p14="http://schemas.microsoft.com/office/powerpoint/2010/main" val="70949445"/>
              </p:ext>
            </p:extLst>
          </p:nvPr>
        </p:nvGraphicFramePr>
        <p:xfrm>
          <a:off x="838200" y="1830243"/>
          <a:ext cx="10547133" cy="2779937"/>
        </p:xfrm>
        <a:graphic>
          <a:graphicData uri="http://schemas.openxmlformats.org/drawingml/2006/table">
            <a:tbl>
              <a:tblPr firstRow="1" firstCol="1" bandRow="1">
                <a:tableStyleId>{5C22544A-7EE6-4342-B048-85BDC9FD1C3A}</a:tableStyleId>
              </a:tblPr>
              <a:tblGrid>
                <a:gridCol w="3515711">
                  <a:extLst>
                    <a:ext uri="{9D8B030D-6E8A-4147-A177-3AD203B41FA5}">
                      <a16:colId xmlns:a16="http://schemas.microsoft.com/office/drawing/2014/main" val="1074344112"/>
                    </a:ext>
                  </a:extLst>
                </a:gridCol>
                <a:gridCol w="3515711">
                  <a:extLst>
                    <a:ext uri="{9D8B030D-6E8A-4147-A177-3AD203B41FA5}">
                      <a16:colId xmlns:a16="http://schemas.microsoft.com/office/drawing/2014/main" val="999803302"/>
                    </a:ext>
                  </a:extLst>
                </a:gridCol>
                <a:gridCol w="3515711">
                  <a:extLst>
                    <a:ext uri="{9D8B030D-6E8A-4147-A177-3AD203B41FA5}">
                      <a16:colId xmlns:a16="http://schemas.microsoft.com/office/drawing/2014/main" val="3834697545"/>
                    </a:ext>
                  </a:extLst>
                </a:gridCol>
              </a:tblGrid>
              <a:tr h="530141">
                <a:tc>
                  <a:txBody>
                    <a:bodyPr/>
                    <a:lstStyle/>
                    <a:p>
                      <a:pPr marL="0" marR="0">
                        <a:lnSpc>
                          <a:spcPct val="115000"/>
                        </a:lnSpc>
                        <a:spcAft>
                          <a:spcPts val="800"/>
                        </a:spcAft>
                        <a:buNone/>
                      </a:pPr>
                      <a:r>
                        <a:rPr lang="en-US" sz="1800" kern="100">
                          <a:effectLst/>
                        </a:rPr>
                        <a:t>Bộ phận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14023" marB="114023"/>
                </a:tc>
                <a:tc>
                  <a:txBody>
                    <a:bodyPr/>
                    <a:lstStyle/>
                    <a:p>
                      <a:pPr marL="0" marR="0">
                        <a:lnSpc>
                          <a:spcPct val="115000"/>
                        </a:lnSpc>
                        <a:spcAft>
                          <a:spcPts val="800"/>
                        </a:spcAft>
                        <a:buNone/>
                      </a:pPr>
                      <a:r>
                        <a:rPr lang="en-US" sz="1800" kern="100" dirty="0">
                          <a:effectLst/>
                        </a:rPr>
                        <a:t>Chi </a:t>
                      </a:r>
                      <a:r>
                        <a:rPr lang="en-US" sz="1800" kern="100" dirty="0" err="1">
                          <a:effectLst/>
                        </a:rPr>
                        <a:t>phí</a:t>
                      </a:r>
                      <a:r>
                        <a:rPr lang="en-US" sz="1800" kern="100" dirty="0">
                          <a:effectLst/>
                        </a:rPr>
                        <a:t> </a:t>
                      </a:r>
                      <a:r>
                        <a:rPr lang="en-US" sz="1800" kern="100" dirty="0" err="1">
                          <a:effectLst/>
                        </a:rPr>
                        <a:t>các</a:t>
                      </a:r>
                      <a:r>
                        <a:rPr lang="en-US" sz="1800" kern="100" dirty="0">
                          <a:effectLst/>
                        </a:rPr>
                        <a:t> </a:t>
                      </a:r>
                      <a:r>
                        <a:rPr lang="en-US" sz="1800" kern="100" dirty="0" err="1">
                          <a:effectLst/>
                        </a:rPr>
                        <a:t>hoạt</a:t>
                      </a:r>
                      <a:r>
                        <a:rPr lang="en-US" sz="1800" kern="100" dirty="0">
                          <a:effectLst/>
                        </a:rPr>
                        <a:t> </a:t>
                      </a:r>
                      <a:r>
                        <a:rPr lang="en-US" sz="1800" kern="100" dirty="0" err="1">
                          <a:effectLst/>
                        </a:rPr>
                        <a:t>động</a:t>
                      </a:r>
                      <a:r>
                        <a:rPr lang="en-US" sz="1800" kern="100" dirty="0">
                          <a:effectLst/>
                        </a:rPr>
                        <a:t> (EUR)</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14023" marB="114023"/>
                </a:tc>
                <a:tc>
                  <a:txBody>
                    <a:bodyPr/>
                    <a:lstStyle/>
                    <a:p>
                      <a:pPr marL="0" marR="0">
                        <a:lnSpc>
                          <a:spcPct val="115000"/>
                        </a:lnSpc>
                        <a:spcAft>
                          <a:spcPts val="800"/>
                        </a:spcAft>
                        <a:buNone/>
                      </a:pPr>
                      <a:r>
                        <a:rPr lang="en-US" sz="1800" kern="100">
                          <a:effectLst/>
                        </a:rPr>
                        <a:t>Tổng chi phí (EUR)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14023" marB="114023"/>
                </a:tc>
                <a:extLst>
                  <a:ext uri="{0D108BD9-81ED-4DB2-BD59-A6C34878D82A}">
                    <a16:rowId xmlns:a16="http://schemas.microsoft.com/office/drawing/2014/main" val="3475972568"/>
                  </a:ext>
                </a:extLst>
              </a:tr>
              <a:tr h="562449">
                <a:tc>
                  <a:txBody>
                    <a:bodyPr/>
                    <a:lstStyle/>
                    <a:p>
                      <a:pPr marL="0" marR="0">
                        <a:lnSpc>
                          <a:spcPct val="115000"/>
                        </a:lnSpc>
                        <a:spcAft>
                          <a:spcPts val="800"/>
                        </a:spcAft>
                        <a:buNone/>
                      </a:pPr>
                      <a:r>
                        <a:rPr lang="en-US" sz="1800" kern="100">
                          <a:effectLst/>
                        </a:rPr>
                        <a:t>Khách hàng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50+100+75+30+80+120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455</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extLst>
                  <a:ext uri="{0D108BD9-81ED-4DB2-BD59-A6C34878D82A}">
                    <a16:rowId xmlns:a16="http://schemas.microsoft.com/office/drawing/2014/main" val="3100817984"/>
                  </a:ext>
                </a:extLst>
              </a:tr>
              <a:tr h="562449">
                <a:tc>
                  <a:txBody>
                    <a:bodyPr/>
                    <a:lstStyle/>
                    <a:p>
                      <a:pPr marL="0" marR="0">
                        <a:lnSpc>
                          <a:spcPct val="115000"/>
                        </a:lnSpc>
                        <a:spcAft>
                          <a:spcPts val="800"/>
                        </a:spcAft>
                        <a:buNone/>
                      </a:pPr>
                      <a:r>
                        <a:rPr lang="en-US" sz="1800" kern="100">
                          <a:effectLst/>
                        </a:rPr>
                        <a:t>Bán hàng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75+100+110+150+80+60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575</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extLst>
                  <a:ext uri="{0D108BD9-81ED-4DB2-BD59-A6C34878D82A}">
                    <a16:rowId xmlns:a16="http://schemas.microsoft.com/office/drawing/2014/main" val="3681118089"/>
                  </a:ext>
                </a:extLst>
              </a:tr>
              <a:tr h="562449">
                <a:tc>
                  <a:txBody>
                    <a:bodyPr/>
                    <a:lstStyle/>
                    <a:p>
                      <a:pPr marL="0" marR="0">
                        <a:lnSpc>
                          <a:spcPct val="115000"/>
                        </a:lnSpc>
                        <a:spcAft>
                          <a:spcPts val="800"/>
                        </a:spcAft>
                        <a:buNone/>
                      </a:pPr>
                      <a:r>
                        <a:rPr lang="en-US" sz="1800" kern="100">
                          <a:effectLst/>
                        </a:rPr>
                        <a:t>Kho hàng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80+100+70+60+50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360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extLst>
                  <a:ext uri="{0D108BD9-81ED-4DB2-BD59-A6C34878D82A}">
                    <a16:rowId xmlns:a16="http://schemas.microsoft.com/office/drawing/2014/main" val="4071967386"/>
                  </a:ext>
                </a:extLst>
              </a:tr>
              <a:tr h="562449">
                <a:tc>
                  <a:txBody>
                    <a:bodyPr/>
                    <a:lstStyle/>
                    <a:p>
                      <a:pPr marL="0" marR="0">
                        <a:lnSpc>
                          <a:spcPct val="115000"/>
                        </a:lnSpc>
                        <a:spcAft>
                          <a:spcPts val="800"/>
                        </a:spcAft>
                        <a:buNone/>
                      </a:pPr>
                      <a:r>
                        <a:rPr lang="en-US" sz="1800" kern="100">
                          <a:effectLst/>
                        </a:rPr>
                        <a:t>Vận chuyển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a:effectLst/>
                        </a:rPr>
                        <a:t>70+50+120+60+40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tc>
                  <a:txBody>
                    <a:bodyPr/>
                    <a:lstStyle/>
                    <a:p>
                      <a:pPr marL="0" marR="0">
                        <a:lnSpc>
                          <a:spcPct val="115000"/>
                        </a:lnSpc>
                        <a:spcAft>
                          <a:spcPts val="800"/>
                        </a:spcAft>
                        <a:buNone/>
                      </a:pPr>
                      <a:r>
                        <a:rPr lang="en-US" sz="1800" kern="100" dirty="0">
                          <a:effectLst/>
                        </a:rPr>
                        <a:t>340</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14023" marR="114023" marT="130176" marB="130176" anchor="b"/>
                </a:tc>
                <a:extLst>
                  <a:ext uri="{0D108BD9-81ED-4DB2-BD59-A6C34878D82A}">
                    <a16:rowId xmlns:a16="http://schemas.microsoft.com/office/drawing/2014/main" val="2943258602"/>
                  </a:ext>
                </a:extLst>
              </a:tr>
            </a:tbl>
          </a:graphicData>
        </a:graphic>
      </p:graphicFrame>
      <p:sp>
        <p:nvSpPr>
          <p:cNvPr id="12" name="TextBox 11">
            <a:extLst>
              <a:ext uri="{FF2B5EF4-FFF2-40B4-BE49-F238E27FC236}">
                <a16:creationId xmlns:a16="http://schemas.microsoft.com/office/drawing/2014/main" id="{0BC6E4A9-5258-205D-37C8-83C311B7F46C}"/>
              </a:ext>
            </a:extLst>
          </p:cNvPr>
          <p:cNvSpPr txBox="1"/>
          <p:nvPr/>
        </p:nvSpPr>
        <p:spPr>
          <a:xfrm>
            <a:off x="2060841" y="5269533"/>
            <a:ext cx="8527518" cy="646331"/>
          </a:xfrm>
          <a:prstGeom prst="rect">
            <a:avLst/>
          </a:prstGeom>
          <a:noFill/>
        </p:spPr>
        <p:txBody>
          <a:bodyPr wrap="square">
            <a:spAutoFit/>
          </a:bodyPr>
          <a:lstStyle/>
          <a:p>
            <a:r>
              <a:rPr lang="vi-VN" dirty="0">
                <a:solidFill>
                  <a:schemeClr val="bg1"/>
                </a:solidFill>
              </a:rPr>
              <a:t>Tổng chi phí cơ bản = Khách hàng + Bán hàng + Kho hàng + Vận chuyển</a:t>
            </a:r>
          </a:p>
          <a:p>
            <a:r>
              <a:rPr lang="vi-VN" dirty="0">
                <a:solidFill>
                  <a:schemeClr val="bg1"/>
                </a:solidFill>
              </a:rPr>
              <a:t>= 455 + 575 + 360 + 340 = 1,730 EUR </a:t>
            </a:r>
          </a:p>
        </p:txBody>
      </p:sp>
    </p:spTree>
    <p:extLst>
      <p:ext uri="{BB962C8B-B14F-4D97-AF65-F5344CB8AC3E}">
        <p14:creationId xmlns:p14="http://schemas.microsoft.com/office/powerpoint/2010/main" val="2115843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677C3-CE21-E901-A14C-1E11CA512D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3579FEA-4F22-8689-2CC0-4A8583F200AB}"/>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8A5EEA7F-34A5-977B-CBEE-DE5E02BD08E8}"/>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C12036A-7820-3DDC-EBAA-B77293C84F6B}"/>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chi </a:t>
            </a:r>
            <a:r>
              <a:rPr lang="en-US" sz="2800" spc="-100" dirty="0" err="1">
                <a:solidFill>
                  <a:srgbClr val="FFFFFF"/>
                </a:solidFill>
                <a:latin typeface="Times New Roman" panose="02020603050405020304" pitchFamily="18" charset="0"/>
                <a:cs typeface="Times New Roman" panose="02020603050405020304" pitchFamily="18" charset="0"/>
              </a:rPr>
              <a:t>phí</a:t>
            </a:r>
            <a:endParaRPr lang="en-US"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67906CD-6DD8-3CF0-8853-3A569C83E845}"/>
              </a:ext>
            </a:extLst>
          </p:cNvPr>
          <p:cNvSpPr txBox="1"/>
          <p:nvPr/>
        </p:nvSpPr>
        <p:spPr>
          <a:xfrm>
            <a:off x="762000" y="1648962"/>
            <a:ext cx="6326036" cy="923330"/>
          </a:xfrm>
          <a:prstGeom prst="rect">
            <a:avLst/>
          </a:prstGeom>
          <a:noFill/>
        </p:spPr>
        <p:txBody>
          <a:bodyPr wrap="square">
            <a:spAutoFit/>
          </a:bodyPr>
          <a:lstStyle/>
          <a:p>
            <a:r>
              <a:rPr lang="vi-VN" dirty="0">
                <a:solidFill>
                  <a:schemeClr val="bg1"/>
                </a:solidFill>
                <a:latin typeface="+mj-lt"/>
              </a:rPr>
              <a:t>Xác suất tại cổng "Kiểm tra tồn kho":</a:t>
            </a:r>
          </a:p>
          <a:p>
            <a:r>
              <a:rPr lang="vi-VN" dirty="0">
                <a:solidFill>
                  <a:schemeClr val="bg1"/>
                </a:solidFill>
                <a:latin typeface="+mj-lt"/>
              </a:rPr>
              <a:t>•	85% Có hàng: Quy trình bình thường</a:t>
            </a:r>
          </a:p>
          <a:p>
            <a:r>
              <a:rPr lang="vi-VN" dirty="0">
                <a:solidFill>
                  <a:schemeClr val="bg1"/>
                </a:solidFill>
                <a:latin typeface="+mj-lt"/>
              </a:rPr>
              <a:t>•	15% Hết hàng: Cần thêm hoạt động bổ sung</a:t>
            </a:r>
          </a:p>
        </p:txBody>
      </p:sp>
      <p:graphicFrame>
        <p:nvGraphicFramePr>
          <p:cNvPr id="4" name="Table 3">
            <a:extLst>
              <a:ext uri="{FF2B5EF4-FFF2-40B4-BE49-F238E27FC236}">
                <a16:creationId xmlns:a16="http://schemas.microsoft.com/office/drawing/2014/main" id="{2AA8F2B5-AD82-3AB5-1F14-FFC8D3ECF814}"/>
              </a:ext>
            </a:extLst>
          </p:cNvPr>
          <p:cNvGraphicFramePr>
            <a:graphicFrameLocks noGrp="1"/>
          </p:cNvGraphicFramePr>
          <p:nvPr>
            <p:extLst>
              <p:ext uri="{D42A27DB-BD31-4B8C-83A1-F6EECF244321}">
                <p14:modId xmlns:p14="http://schemas.microsoft.com/office/powerpoint/2010/main" val="1971516946"/>
              </p:ext>
            </p:extLst>
          </p:nvPr>
        </p:nvGraphicFramePr>
        <p:xfrm>
          <a:off x="2514600" y="2894806"/>
          <a:ext cx="6384924" cy="1619010"/>
        </p:xfrm>
        <a:graphic>
          <a:graphicData uri="http://schemas.openxmlformats.org/drawingml/2006/table">
            <a:tbl>
              <a:tblPr firstRow="1" firstCol="1" bandRow="1">
                <a:tableStyleId>{5C22544A-7EE6-4342-B048-85BDC9FD1C3A}</a:tableStyleId>
              </a:tblPr>
              <a:tblGrid>
                <a:gridCol w="2128308">
                  <a:extLst>
                    <a:ext uri="{9D8B030D-6E8A-4147-A177-3AD203B41FA5}">
                      <a16:colId xmlns:a16="http://schemas.microsoft.com/office/drawing/2014/main" val="4096775525"/>
                    </a:ext>
                  </a:extLst>
                </a:gridCol>
                <a:gridCol w="2128308">
                  <a:extLst>
                    <a:ext uri="{9D8B030D-6E8A-4147-A177-3AD203B41FA5}">
                      <a16:colId xmlns:a16="http://schemas.microsoft.com/office/drawing/2014/main" val="3512335650"/>
                    </a:ext>
                  </a:extLst>
                </a:gridCol>
                <a:gridCol w="2128308">
                  <a:extLst>
                    <a:ext uri="{9D8B030D-6E8A-4147-A177-3AD203B41FA5}">
                      <a16:colId xmlns:a16="http://schemas.microsoft.com/office/drawing/2014/main" val="722107343"/>
                    </a:ext>
                  </a:extLst>
                </a:gridCol>
              </a:tblGrid>
              <a:tr h="332879">
                <a:tc>
                  <a:txBody>
                    <a:bodyPr/>
                    <a:lstStyle/>
                    <a:p>
                      <a:pPr marL="0" marR="0">
                        <a:lnSpc>
                          <a:spcPct val="115000"/>
                        </a:lnSpc>
                        <a:spcAft>
                          <a:spcPts val="800"/>
                        </a:spcAft>
                        <a:buNone/>
                      </a:pPr>
                      <a:r>
                        <a:rPr lang="en-US" sz="1200" kern="100">
                          <a:effectLst/>
                        </a:rPr>
                        <a:t>Hoạt động bổ sung</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200" kern="100">
                          <a:effectLst/>
                        </a:rPr>
                        <a:t>Chi phí (EUR)</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tc>
                  <a:txBody>
                    <a:bodyPr/>
                    <a:lstStyle/>
                    <a:p>
                      <a:pPr marL="0" marR="0">
                        <a:lnSpc>
                          <a:spcPct val="115000"/>
                        </a:lnSpc>
                        <a:spcAft>
                          <a:spcPts val="800"/>
                        </a:spcAft>
                        <a:buNone/>
                      </a:pPr>
                      <a:r>
                        <a:rPr lang="en-US" sz="1200" kern="100">
                          <a:effectLst/>
                        </a:rPr>
                        <a:t>Mô tả</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69026" marB="69026"/>
                </a:tc>
                <a:extLst>
                  <a:ext uri="{0D108BD9-81ED-4DB2-BD59-A6C34878D82A}">
                    <a16:rowId xmlns:a16="http://schemas.microsoft.com/office/drawing/2014/main" val="1685100331"/>
                  </a:ext>
                </a:extLst>
              </a:tr>
              <a:tr h="558825">
                <a:tc>
                  <a:txBody>
                    <a:bodyPr/>
                    <a:lstStyle/>
                    <a:p>
                      <a:pPr marL="0" marR="0">
                        <a:lnSpc>
                          <a:spcPct val="115000"/>
                        </a:lnSpc>
                        <a:spcAft>
                          <a:spcPts val="800"/>
                        </a:spcAft>
                        <a:buNone/>
                      </a:pPr>
                      <a:r>
                        <a:rPr lang="en-US" sz="1200" kern="100">
                          <a:effectLst/>
                        </a:rPr>
                        <a:t>Liên hệ nhà cung cấp</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200" kern="100">
                          <a:effectLst/>
                        </a:rPr>
                        <a:t>40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200" kern="100">
                          <a:effectLst/>
                        </a:rPr>
                        <a:t>Chi phí nhân sự + điện thoại/email</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extLst>
                  <a:ext uri="{0D108BD9-81ED-4DB2-BD59-A6C34878D82A}">
                    <a16:rowId xmlns:a16="http://schemas.microsoft.com/office/drawing/2014/main" val="846822787"/>
                  </a:ext>
                </a:extLst>
              </a:tr>
              <a:tr h="352437">
                <a:tc>
                  <a:txBody>
                    <a:bodyPr/>
                    <a:lstStyle/>
                    <a:p>
                      <a:pPr marL="0" marR="0">
                        <a:lnSpc>
                          <a:spcPct val="115000"/>
                        </a:lnSpc>
                        <a:spcAft>
                          <a:spcPts val="800"/>
                        </a:spcAft>
                        <a:buNone/>
                      </a:pPr>
                      <a:r>
                        <a:rPr lang="en-US" sz="1200" kern="100">
                          <a:effectLst/>
                        </a:rPr>
                        <a:t>Xử lý đơn hàng khẩn cấp</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200" kern="100">
                          <a:effectLst/>
                        </a:rPr>
                        <a:t>50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200" kern="100">
                          <a:effectLst/>
                        </a:rPr>
                        <a:t>Phí gia tăng cho urgent order</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extLst>
                  <a:ext uri="{0D108BD9-81ED-4DB2-BD59-A6C34878D82A}">
                    <a16:rowId xmlns:a16="http://schemas.microsoft.com/office/drawing/2014/main" val="3013445558"/>
                  </a:ext>
                </a:extLst>
              </a:tr>
              <a:tr h="352437">
                <a:tc>
                  <a:txBody>
                    <a:bodyPr/>
                    <a:lstStyle/>
                    <a:p>
                      <a:pPr marL="0" marR="0">
                        <a:lnSpc>
                          <a:spcPct val="115000"/>
                        </a:lnSpc>
                        <a:spcAft>
                          <a:spcPts val="800"/>
                        </a:spcAft>
                        <a:buNone/>
                      </a:pPr>
                      <a:r>
                        <a:rPr lang="en-US" sz="1200" kern="100">
                          <a:effectLst/>
                        </a:rPr>
                        <a:t>Chi phí lưu kho tạm thời</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200" kern="100">
                          <a:effectLst/>
                        </a:rPr>
                        <a:t>30</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tc>
                  <a:txBody>
                    <a:bodyPr/>
                    <a:lstStyle/>
                    <a:p>
                      <a:pPr marL="0" marR="0">
                        <a:lnSpc>
                          <a:spcPct val="115000"/>
                        </a:lnSpc>
                        <a:spcAft>
                          <a:spcPts val="800"/>
                        </a:spcAft>
                        <a:buNone/>
                      </a:pPr>
                      <a:r>
                        <a:rPr lang="en-US" sz="1200" kern="100" dirty="0" err="1">
                          <a:effectLst/>
                        </a:rPr>
                        <a:t>Phí</a:t>
                      </a:r>
                      <a:r>
                        <a:rPr lang="en-US" sz="1200" kern="100" dirty="0">
                          <a:effectLst/>
                        </a:rPr>
                        <a:t> storage </a:t>
                      </a:r>
                      <a:r>
                        <a:rPr lang="en-US" sz="1200" kern="100" dirty="0" err="1">
                          <a:effectLst/>
                        </a:rPr>
                        <a:t>chờ</a:t>
                      </a:r>
                      <a:r>
                        <a:rPr lang="en-US" sz="1200" kern="100" dirty="0">
                          <a:effectLst/>
                        </a:rPr>
                        <a:t> </a:t>
                      </a:r>
                      <a:r>
                        <a:rPr lang="en-US" sz="1200" kern="100" dirty="0" err="1">
                          <a:effectLst/>
                        </a:rPr>
                        <a:t>hàng</a:t>
                      </a:r>
                      <a:r>
                        <a:rPr lang="en-US" sz="1200" kern="100" dirty="0">
                          <a:effectLst/>
                        </a:rPr>
                        <a:t> </a:t>
                      </a:r>
                      <a:r>
                        <a:rPr lang="en-US" sz="1200" kern="100" dirty="0" err="1">
                          <a:effectLst/>
                        </a:rPr>
                        <a:t>về</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026" marR="69026" marT="78805" marB="78805" anchor="b"/>
                </a:tc>
                <a:extLst>
                  <a:ext uri="{0D108BD9-81ED-4DB2-BD59-A6C34878D82A}">
                    <a16:rowId xmlns:a16="http://schemas.microsoft.com/office/drawing/2014/main" val="3591814716"/>
                  </a:ext>
                </a:extLst>
              </a:tr>
            </a:tbl>
          </a:graphicData>
        </a:graphic>
      </p:graphicFrame>
      <p:sp>
        <p:nvSpPr>
          <p:cNvPr id="5" name="TextBox 4">
            <a:extLst>
              <a:ext uri="{FF2B5EF4-FFF2-40B4-BE49-F238E27FC236}">
                <a16:creationId xmlns:a16="http://schemas.microsoft.com/office/drawing/2014/main" id="{BA1149FD-38CB-5950-0D6D-DE8F9FD893A4}"/>
              </a:ext>
            </a:extLst>
          </p:cNvPr>
          <p:cNvSpPr txBox="1"/>
          <p:nvPr/>
        </p:nvSpPr>
        <p:spPr>
          <a:xfrm>
            <a:off x="914400" y="4809587"/>
            <a:ext cx="7772400" cy="2031325"/>
          </a:xfrm>
          <a:prstGeom prst="rect">
            <a:avLst/>
          </a:prstGeom>
          <a:noFill/>
        </p:spPr>
        <p:txBody>
          <a:bodyPr wrap="square">
            <a:spAutoFit/>
          </a:bodyPr>
          <a:lstStyle/>
          <a:p>
            <a:r>
              <a:rPr lang="vi-VN" dirty="0">
                <a:solidFill>
                  <a:schemeClr val="bg1"/>
                </a:solidFill>
                <a:latin typeface="+mj-lt"/>
              </a:rPr>
              <a:t>Tổng chi phí bổ sung: 40 + 50 + 30 = 120 EUR</a:t>
            </a:r>
          </a:p>
          <a:p>
            <a:r>
              <a:rPr lang="vi-VN" dirty="0">
                <a:solidFill>
                  <a:schemeClr val="bg1"/>
                </a:solidFill>
                <a:latin typeface="+mj-lt"/>
              </a:rPr>
              <a:t>Chi phí bổ sung = Chi phí bổ sung × Xác suất hết hàng</a:t>
            </a:r>
          </a:p>
          <a:p>
            <a:r>
              <a:rPr lang="vi-VN" dirty="0">
                <a:solidFill>
                  <a:schemeClr val="bg1"/>
                </a:solidFill>
                <a:latin typeface="+mj-lt"/>
              </a:rPr>
              <a:t>= 120 EUR × 0.15 = 18 EUR </a:t>
            </a:r>
            <a:endParaRPr lang="en-US" dirty="0">
              <a:solidFill>
                <a:schemeClr val="bg1"/>
              </a:solidFill>
              <a:latin typeface="+mj-lt"/>
            </a:endParaRPr>
          </a:p>
          <a:p>
            <a:endParaRPr lang="en-US" dirty="0">
              <a:solidFill>
                <a:schemeClr val="bg1"/>
              </a:solidFill>
              <a:latin typeface="+mj-lt"/>
            </a:endParaRPr>
          </a:p>
          <a:p>
            <a:r>
              <a:rPr lang="vi-VN" dirty="0">
                <a:solidFill>
                  <a:schemeClr val="bg1"/>
                </a:solidFill>
                <a:latin typeface="+mj-lt"/>
              </a:rPr>
              <a:t>Tổng chi phí trung bình = Chi phí cơ bản + Chi phí bổ sung có trọng số</a:t>
            </a:r>
          </a:p>
          <a:p>
            <a:r>
              <a:rPr lang="vi-VN" dirty="0">
                <a:solidFill>
                  <a:schemeClr val="bg1"/>
                </a:solidFill>
                <a:latin typeface="+mj-lt"/>
              </a:rPr>
              <a:t>= 1,730 EUR + 18 EUR = 1,748 EUR </a:t>
            </a:r>
          </a:p>
          <a:p>
            <a:endParaRPr lang="vi-VN" dirty="0">
              <a:solidFill>
                <a:schemeClr val="bg1"/>
              </a:solidFill>
              <a:latin typeface="+mj-lt"/>
            </a:endParaRPr>
          </a:p>
        </p:txBody>
      </p:sp>
    </p:spTree>
    <p:extLst>
      <p:ext uri="{BB962C8B-B14F-4D97-AF65-F5344CB8AC3E}">
        <p14:creationId xmlns:p14="http://schemas.microsoft.com/office/powerpoint/2010/main" val="574882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DF5C1-5DA0-2F68-C3F9-F4E3CCE9BD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DA2C3B-C177-9B1B-A7B7-1307A0558856}"/>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F17D84A8-EBE3-26E8-E06C-D8E82B485619}"/>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7E14296-636D-580E-36CA-68333D5AF7F2}"/>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Phân</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tích</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chất</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lượng</a:t>
            </a:r>
            <a:endParaRPr lang="en-US" sz="2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FA1B892-4651-EB75-2660-5F173DF15E71}"/>
              </a:ext>
            </a:extLst>
          </p:cNvPr>
          <p:cNvGraphicFramePr>
            <a:graphicFrameLocks noGrp="1"/>
          </p:cNvGraphicFramePr>
          <p:nvPr>
            <p:extLst>
              <p:ext uri="{D42A27DB-BD31-4B8C-83A1-F6EECF244321}">
                <p14:modId xmlns:p14="http://schemas.microsoft.com/office/powerpoint/2010/main" val="1376025957"/>
              </p:ext>
            </p:extLst>
          </p:nvPr>
        </p:nvGraphicFramePr>
        <p:xfrm>
          <a:off x="2823328" y="1790829"/>
          <a:ext cx="8145522" cy="4809199"/>
        </p:xfrm>
        <a:graphic>
          <a:graphicData uri="http://schemas.openxmlformats.org/drawingml/2006/table">
            <a:tbl>
              <a:tblPr firstRow="1" firstCol="1" bandRow="1">
                <a:tableStyleId>{5C22544A-7EE6-4342-B048-85BDC9FD1C3A}</a:tableStyleId>
              </a:tblPr>
              <a:tblGrid>
                <a:gridCol w="2715174">
                  <a:extLst>
                    <a:ext uri="{9D8B030D-6E8A-4147-A177-3AD203B41FA5}">
                      <a16:colId xmlns:a16="http://schemas.microsoft.com/office/drawing/2014/main" val="1264762555"/>
                    </a:ext>
                  </a:extLst>
                </a:gridCol>
                <a:gridCol w="2715174">
                  <a:extLst>
                    <a:ext uri="{9D8B030D-6E8A-4147-A177-3AD203B41FA5}">
                      <a16:colId xmlns:a16="http://schemas.microsoft.com/office/drawing/2014/main" val="3748003015"/>
                    </a:ext>
                  </a:extLst>
                </a:gridCol>
                <a:gridCol w="2715174">
                  <a:extLst>
                    <a:ext uri="{9D8B030D-6E8A-4147-A177-3AD203B41FA5}">
                      <a16:colId xmlns:a16="http://schemas.microsoft.com/office/drawing/2014/main" val="577206660"/>
                    </a:ext>
                  </a:extLst>
                </a:gridCol>
              </a:tblGrid>
              <a:tr h="512294">
                <a:tc>
                  <a:txBody>
                    <a:bodyPr/>
                    <a:lstStyle/>
                    <a:p>
                      <a:pPr marL="0" marR="0">
                        <a:lnSpc>
                          <a:spcPct val="115000"/>
                        </a:lnSpc>
                        <a:spcAft>
                          <a:spcPts val="800"/>
                        </a:spcAft>
                        <a:buNone/>
                      </a:pPr>
                      <a:r>
                        <a:rPr lang="en-US" sz="1800" kern="100">
                          <a:effectLst/>
                        </a:rPr>
                        <a:t>Chỉ số</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05797" marB="105797"/>
                </a:tc>
                <a:tc>
                  <a:txBody>
                    <a:bodyPr/>
                    <a:lstStyle/>
                    <a:p>
                      <a:pPr marL="0" marR="0">
                        <a:lnSpc>
                          <a:spcPct val="115000"/>
                        </a:lnSpc>
                        <a:spcAft>
                          <a:spcPts val="800"/>
                        </a:spcAft>
                        <a:buNone/>
                      </a:pPr>
                      <a:r>
                        <a:rPr lang="en-US" sz="1800" kern="100">
                          <a:effectLst/>
                        </a:rPr>
                        <a:t>Mô tả</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05797" marB="105797"/>
                </a:tc>
                <a:tc>
                  <a:txBody>
                    <a:bodyPr/>
                    <a:lstStyle/>
                    <a:p>
                      <a:pPr marL="0" marR="0">
                        <a:lnSpc>
                          <a:spcPct val="115000"/>
                        </a:lnSpc>
                        <a:spcAft>
                          <a:spcPts val="800"/>
                        </a:spcAft>
                        <a:buNone/>
                      </a:pPr>
                      <a:r>
                        <a:rPr lang="en-US" sz="1800" kern="100">
                          <a:effectLst/>
                        </a:rPr>
                        <a:t>Giá trị ước tính</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05797" marB="105797"/>
                </a:tc>
                <a:extLst>
                  <a:ext uri="{0D108BD9-81ED-4DB2-BD59-A6C34878D82A}">
                    <a16:rowId xmlns:a16="http://schemas.microsoft.com/office/drawing/2014/main" val="3583297321"/>
                  </a:ext>
                </a:extLst>
              </a:tr>
              <a:tr h="859381">
                <a:tc>
                  <a:txBody>
                    <a:bodyPr/>
                    <a:lstStyle/>
                    <a:p>
                      <a:pPr marL="0" marR="0">
                        <a:lnSpc>
                          <a:spcPct val="115000"/>
                        </a:lnSpc>
                        <a:spcAft>
                          <a:spcPts val="800"/>
                        </a:spcAft>
                        <a:buNone/>
                      </a:pPr>
                      <a:r>
                        <a:rPr lang="en-US" sz="1800" kern="100">
                          <a:effectLst/>
                        </a:rPr>
                        <a:t>Tỷ lệ chuyển đổi khách hàng</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Tỷ lệ khách hàng đồng ý mua sau khi nhận báo giá</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90%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extLst>
                  <a:ext uri="{0D108BD9-81ED-4DB2-BD59-A6C34878D82A}">
                    <a16:rowId xmlns:a16="http://schemas.microsoft.com/office/drawing/2014/main" val="57435080"/>
                  </a:ext>
                </a:extLst>
              </a:tr>
              <a:tr h="859381">
                <a:tc>
                  <a:txBody>
                    <a:bodyPr/>
                    <a:lstStyle/>
                    <a:p>
                      <a:pPr marL="0" marR="0">
                        <a:lnSpc>
                          <a:spcPct val="115000"/>
                        </a:lnSpc>
                        <a:spcAft>
                          <a:spcPts val="800"/>
                        </a:spcAft>
                        <a:buNone/>
                      </a:pPr>
                      <a:r>
                        <a:rPr lang="en-US" sz="1800" kern="100">
                          <a:effectLst/>
                        </a:rPr>
                        <a:t>Tỷ lệ có hàng sẵn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Tỷ lệ đơn hàng có thể xuất kho ngay</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85%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extLst>
                  <a:ext uri="{0D108BD9-81ED-4DB2-BD59-A6C34878D82A}">
                    <a16:rowId xmlns:a16="http://schemas.microsoft.com/office/drawing/2014/main" val="1865456046"/>
                  </a:ext>
                </a:extLst>
              </a:tr>
              <a:tr h="859381">
                <a:tc>
                  <a:txBody>
                    <a:bodyPr/>
                    <a:lstStyle/>
                    <a:p>
                      <a:pPr marL="0" marR="0">
                        <a:lnSpc>
                          <a:spcPct val="115000"/>
                        </a:lnSpc>
                        <a:spcAft>
                          <a:spcPts val="800"/>
                        </a:spcAft>
                        <a:buNone/>
                      </a:pPr>
                      <a:r>
                        <a:rPr lang="en-US" sz="1800" kern="100">
                          <a:effectLst/>
                        </a:rPr>
                        <a:t>Thời gian giao hàng đúng hẹn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Tỷ lệ đơn hàng được giao đúng thời gian cam kết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92%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extLst>
                  <a:ext uri="{0D108BD9-81ED-4DB2-BD59-A6C34878D82A}">
                    <a16:rowId xmlns:a16="http://schemas.microsoft.com/office/drawing/2014/main" val="2450590130"/>
                  </a:ext>
                </a:extLst>
              </a:tr>
              <a:tr h="859381">
                <a:tc>
                  <a:txBody>
                    <a:bodyPr/>
                    <a:lstStyle/>
                    <a:p>
                      <a:pPr marL="0" marR="0">
                        <a:lnSpc>
                          <a:spcPct val="115000"/>
                        </a:lnSpc>
                        <a:spcAft>
                          <a:spcPts val="800"/>
                        </a:spcAft>
                        <a:buNone/>
                      </a:pPr>
                      <a:r>
                        <a:rPr lang="en-US" sz="1800" kern="100">
                          <a:effectLst/>
                        </a:rPr>
                        <a:t>Độ chính xác đơn hàng</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Tỷ lệ đơn hàng không có lỗi về sản phẩm/số lượng</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95%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extLst>
                  <a:ext uri="{0D108BD9-81ED-4DB2-BD59-A6C34878D82A}">
                    <a16:rowId xmlns:a16="http://schemas.microsoft.com/office/drawing/2014/main" val="3934015330"/>
                  </a:ext>
                </a:extLst>
              </a:tr>
              <a:tr h="859381">
                <a:tc>
                  <a:txBody>
                    <a:bodyPr/>
                    <a:lstStyle/>
                    <a:p>
                      <a:pPr marL="0" marR="0">
                        <a:lnSpc>
                          <a:spcPct val="115000"/>
                        </a:lnSpc>
                        <a:spcAft>
                          <a:spcPts val="800"/>
                        </a:spcAft>
                        <a:buNone/>
                      </a:pPr>
                      <a:r>
                        <a:rPr lang="en-US" sz="1800" kern="100">
                          <a:effectLst/>
                        </a:rPr>
                        <a:t>Mức độ hài lòng khách hàng</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a:effectLst/>
                        </a:rPr>
                        <a:t>Điểm đánh giá trung bình về trải nghiệm mua hàng</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tc>
                  <a:txBody>
                    <a:bodyPr/>
                    <a:lstStyle/>
                    <a:p>
                      <a:pPr marL="0" marR="0">
                        <a:lnSpc>
                          <a:spcPct val="115000"/>
                        </a:lnSpc>
                        <a:spcAft>
                          <a:spcPts val="800"/>
                        </a:spcAft>
                        <a:buNone/>
                      </a:pPr>
                      <a:r>
                        <a:rPr lang="en-US" sz="1800" kern="100" dirty="0">
                          <a:effectLst/>
                        </a:rPr>
                        <a:t>8.6/10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05797" marR="105797" marT="120784" marB="120784" anchor="b"/>
                </a:tc>
                <a:extLst>
                  <a:ext uri="{0D108BD9-81ED-4DB2-BD59-A6C34878D82A}">
                    <a16:rowId xmlns:a16="http://schemas.microsoft.com/office/drawing/2014/main" val="1563203988"/>
                  </a:ext>
                </a:extLst>
              </a:tr>
            </a:tbl>
          </a:graphicData>
        </a:graphic>
      </p:graphicFrame>
    </p:spTree>
    <p:extLst>
      <p:ext uri="{BB962C8B-B14F-4D97-AF65-F5344CB8AC3E}">
        <p14:creationId xmlns:p14="http://schemas.microsoft.com/office/powerpoint/2010/main" val="3443230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23FC-2C83-5DC9-1603-2FC31789C26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12AD659-C62B-8C29-54A7-D3BA25906FA2}"/>
              </a:ext>
            </a:extLst>
          </p:cNvPr>
          <p:cNvSpPr/>
          <p:nvPr/>
        </p:nvSpPr>
        <p:spPr>
          <a:xfrm>
            <a:off x="571499" y="819149"/>
            <a:ext cx="11430000" cy="28575"/>
          </a:xfrm>
          <a:custGeom>
            <a:avLst/>
            <a:gdLst/>
            <a:ahLst/>
            <a:cxnLst/>
            <a:rect l="l" t="t" r="r" b="b"/>
            <a:pathLst>
              <a:path w="11430000" h="28575">
                <a:moveTo>
                  <a:pt x="11429999" y="28574"/>
                </a:moveTo>
                <a:lnTo>
                  <a:pt x="0" y="28574"/>
                </a:lnTo>
                <a:lnTo>
                  <a:pt x="0" y="0"/>
                </a:lnTo>
                <a:lnTo>
                  <a:pt x="11429999" y="0"/>
                </a:lnTo>
                <a:lnTo>
                  <a:pt x="11429999" y="28574"/>
                </a:lnTo>
                <a:close/>
              </a:path>
            </a:pathLst>
          </a:custGeom>
          <a:solidFill>
            <a:srgbClr val="FFFFFF">
              <a:alpha val="30198"/>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5EF7A1C3-5573-0DFB-042E-F2AB3392946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80" dirty="0">
                <a:latin typeface="Times New Roman" panose="02020603050405020304" pitchFamily="18" charset="0"/>
                <a:cs typeface="Times New Roman" panose="02020603050405020304" pitchFamily="18" charset="0"/>
              </a:rPr>
              <a:t>PHÂN TÍCH ĐỊNH LƯỢNG</a:t>
            </a:r>
            <a:endParaRPr sz="23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1C3479B-F491-AEC9-68AE-54B2A305791D}"/>
              </a:ext>
            </a:extLst>
          </p:cNvPr>
          <p:cNvSpPr txBox="1"/>
          <p:nvPr/>
        </p:nvSpPr>
        <p:spPr>
          <a:xfrm>
            <a:off x="457200" y="1031163"/>
            <a:ext cx="6324108" cy="523220"/>
          </a:xfrm>
          <a:prstGeom prst="rect">
            <a:avLst/>
          </a:prstGeom>
          <a:noFill/>
        </p:spPr>
        <p:txBody>
          <a:bodyPr wrap="square">
            <a:spAutoFit/>
          </a:bodyPr>
          <a:lstStyle/>
          <a:p>
            <a:pPr marL="12700">
              <a:lnSpc>
                <a:spcPct val="100000"/>
              </a:lnSpc>
              <a:spcBef>
                <a:spcPts val="1045"/>
              </a:spcBef>
            </a:pPr>
            <a:r>
              <a:rPr lang="en-US" sz="2800" spc="-100" dirty="0" err="1">
                <a:solidFill>
                  <a:srgbClr val="FFFFFF"/>
                </a:solidFill>
                <a:latin typeface="Times New Roman" panose="02020603050405020304" pitchFamily="18" charset="0"/>
                <a:cs typeface="Times New Roman" panose="02020603050405020304" pitchFamily="18" charset="0"/>
              </a:rPr>
              <a:t>Cơ</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hội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cải</a:t>
            </a:r>
            <a:r>
              <a:rPr lang="en-US" sz="2800" spc="-100" dirty="0">
                <a:solidFill>
                  <a:srgbClr val="FFFFFF"/>
                </a:solidFill>
                <a:latin typeface="Times New Roman" panose="02020603050405020304" pitchFamily="18" charset="0"/>
                <a:cs typeface="Times New Roman" panose="02020603050405020304" pitchFamily="18" charset="0"/>
              </a:rPr>
              <a:t> </a:t>
            </a:r>
            <a:r>
              <a:rPr lang="en-US" sz="2800" spc="-100" dirty="0" err="1">
                <a:solidFill>
                  <a:srgbClr val="FFFFFF"/>
                </a:solidFill>
                <a:latin typeface="Times New Roman" panose="02020603050405020304" pitchFamily="18" charset="0"/>
                <a:cs typeface="Times New Roman" panose="02020603050405020304" pitchFamily="18" charset="0"/>
              </a:rPr>
              <a:t>tiến</a:t>
            </a:r>
            <a:endParaRPr lang="en-US"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1D19488-2BB2-FDB7-EA9C-5C744AF42458}"/>
              </a:ext>
            </a:extLst>
          </p:cNvPr>
          <p:cNvSpPr txBox="1"/>
          <p:nvPr/>
        </p:nvSpPr>
        <p:spPr>
          <a:xfrm>
            <a:off x="457200" y="1675606"/>
            <a:ext cx="10972800" cy="3416320"/>
          </a:xfrm>
          <a:prstGeom prst="rect">
            <a:avLst/>
          </a:prstGeom>
          <a:noFill/>
        </p:spPr>
        <p:txBody>
          <a:bodyPr wrap="square">
            <a:spAutoFit/>
          </a:bodyPr>
          <a:lstStyle/>
          <a:p>
            <a:r>
              <a:rPr lang="vi-VN" dirty="0">
                <a:solidFill>
                  <a:schemeClr val="bg1"/>
                </a:solidFill>
                <a:latin typeface="+mj-lt"/>
              </a:rPr>
              <a:t>Tối ưu thời gian:</a:t>
            </a:r>
          </a:p>
          <a:p>
            <a:r>
              <a:rPr lang="vi-VN" dirty="0">
                <a:solidFill>
                  <a:schemeClr val="bg1"/>
                </a:solidFill>
                <a:latin typeface="+mj-lt"/>
              </a:rPr>
              <a:t>•	Tự động hóa xử lý đơn hàng: Giảm thời gian từ 3 xuống 1.5 giờ</a:t>
            </a:r>
          </a:p>
          <a:p>
            <a:r>
              <a:rPr lang="vi-VN" dirty="0">
                <a:solidFill>
                  <a:schemeClr val="bg1"/>
                </a:solidFill>
                <a:latin typeface="+mj-lt"/>
              </a:rPr>
              <a:t>•	Tối ưu hóa quy trình kho: Giảm thời gian chuẩn bị hàng từ 3 xuống 2 giờ</a:t>
            </a:r>
          </a:p>
          <a:p>
            <a:r>
              <a:rPr lang="vi-VN" dirty="0">
                <a:solidFill>
                  <a:schemeClr val="bg1"/>
                </a:solidFill>
                <a:latin typeface="+mj-lt"/>
              </a:rPr>
              <a:t>Giảm chi phí:</a:t>
            </a:r>
          </a:p>
          <a:p>
            <a:r>
              <a:rPr lang="vi-VN" dirty="0">
                <a:solidFill>
                  <a:schemeClr val="bg1"/>
                </a:solidFill>
                <a:latin typeface="+mj-lt"/>
              </a:rPr>
              <a:t>•	</a:t>
            </a:r>
            <a:r>
              <a:rPr lang="vi-VN" dirty="0" err="1">
                <a:solidFill>
                  <a:schemeClr val="bg1"/>
                </a:solidFill>
                <a:latin typeface="+mj-lt"/>
              </a:rPr>
              <a:t>Inventory</a:t>
            </a:r>
            <a:r>
              <a:rPr lang="vi-VN" dirty="0">
                <a:solidFill>
                  <a:schemeClr val="bg1"/>
                </a:solidFill>
                <a:latin typeface="+mj-lt"/>
              </a:rPr>
              <a:t> </a:t>
            </a:r>
            <a:r>
              <a:rPr lang="vi-VN" dirty="0" err="1">
                <a:solidFill>
                  <a:schemeClr val="bg1"/>
                </a:solidFill>
                <a:latin typeface="+mj-lt"/>
              </a:rPr>
              <a:t>management</a:t>
            </a:r>
            <a:r>
              <a:rPr lang="vi-VN" dirty="0">
                <a:solidFill>
                  <a:schemeClr val="bg1"/>
                </a:solidFill>
                <a:latin typeface="+mj-lt"/>
              </a:rPr>
              <a:t> </a:t>
            </a:r>
            <a:r>
              <a:rPr lang="vi-VN" dirty="0" err="1">
                <a:solidFill>
                  <a:schemeClr val="bg1"/>
                </a:solidFill>
                <a:latin typeface="+mj-lt"/>
              </a:rPr>
              <a:t>system</a:t>
            </a:r>
            <a:r>
              <a:rPr lang="vi-VN" dirty="0">
                <a:solidFill>
                  <a:schemeClr val="bg1"/>
                </a:solidFill>
                <a:latin typeface="+mj-lt"/>
              </a:rPr>
              <a:t>: Tăng tỷ lệ có hàng sẵn lên 92%</a:t>
            </a:r>
          </a:p>
          <a:p>
            <a:r>
              <a:rPr lang="vi-VN" dirty="0">
                <a:solidFill>
                  <a:schemeClr val="bg1"/>
                </a:solidFill>
                <a:latin typeface="+mj-lt"/>
              </a:rPr>
              <a:t>•	</a:t>
            </a:r>
            <a:r>
              <a:rPr lang="vi-VN" dirty="0" err="1">
                <a:solidFill>
                  <a:schemeClr val="bg1"/>
                </a:solidFill>
                <a:latin typeface="+mj-lt"/>
              </a:rPr>
              <a:t>Bulk</a:t>
            </a:r>
            <a:r>
              <a:rPr lang="vi-VN" dirty="0">
                <a:solidFill>
                  <a:schemeClr val="bg1"/>
                </a:solidFill>
                <a:latin typeface="+mj-lt"/>
              </a:rPr>
              <a:t> </a:t>
            </a:r>
            <a:r>
              <a:rPr lang="vi-VN" dirty="0" err="1">
                <a:solidFill>
                  <a:schemeClr val="bg1"/>
                </a:solidFill>
                <a:latin typeface="+mj-lt"/>
              </a:rPr>
              <a:t>shipping</a:t>
            </a:r>
            <a:r>
              <a:rPr lang="vi-VN" dirty="0">
                <a:solidFill>
                  <a:schemeClr val="bg1"/>
                </a:solidFill>
                <a:latin typeface="+mj-lt"/>
              </a:rPr>
              <a:t>: Giảm 15% chi phí vận chuyển thông qua gộp chuyến</a:t>
            </a:r>
          </a:p>
          <a:p>
            <a:r>
              <a:rPr lang="vi-VN" dirty="0">
                <a:solidFill>
                  <a:schemeClr val="bg1"/>
                </a:solidFill>
                <a:latin typeface="+mj-lt"/>
              </a:rPr>
              <a:t>•	</a:t>
            </a:r>
            <a:r>
              <a:rPr lang="vi-VN" dirty="0" err="1">
                <a:solidFill>
                  <a:schemeClr val="bg1"/>
                </a:solidFill>
                <a:latin typeface="+mj-lt"/>
              </a:rPr>
              <a:t>Process</a:t>
            </a:r>
            <a:r>
              <a:rPr lang="vi-VN" dirty="0">
                <a:solidFill>
                  <a:schemeClr val="bg1"/>
                </a:solidFill>
                <a:latin typeface="+mj-lt"/>
              </a:rPr>
              <a:t> </a:t>
            </a:r>
            <a:r>
              <a:rPr lang="vi-VN" dirty="0" err="1">
                <a:solidFill>
                  <a:schemeClr val="bg1"/>
                </a:solidFill>
                <a:latin typeface="+mj-lt"/>
              </a:rPr>
              <a:t>automation</a:t>
            </a:r>
            <a:r>
              <a:rPr lang="vi-VN" dirty="0">
                <a:solidFill>
                  <a:schemeClr val="bg1"/>
                </a:solidFill>
                <a:latin typeface="+mj-lt"/>
              </a:rPr>
              <a:t>: Giảm 25% chi phí nhân sự trong xử lý đơn hàng</a:t>
            </a:r>
          </a:p>
          <a:p>
            <a:r>
              <a:rPr lang="vi-VN" dirty="0">
                <a:solidFill>
                  <a:schemeClr val="bg1"/>
                </a:solidFill>
                <a:latin typeface="+mj-lt"/>
              </a:rPr>
              <a:t>Nâng cao chất lượng:</a:t>
            </a:r>
          </a:p>
          <a:p>
            <a:r>
              <a:rPr lang="vi-VN" dirty="0">
                <a:solidFill>
                  <a:schemeClr val="bg1"/>
                </a:solidFill>
                <a:latin typeface="+mj-lt"/>
              </a:rPr>
              <a:t>•	CRM </a:t>
            </a:r>
            <a:r>
              <a:rPr lang="vi-VN" dirty="0" err="1">
                <a:solidFill>
                  <a:schemeClr val="bg1"/>
                </a:solidFill>
                <a:latin typeface="+mj-lt"/>
              </a:rPr>
              <a:t>integration</a:t>
            </a:r>
            <a:r>
              <a:rPr lang="vi-VN" dirty="0">
                <a:solidFill>
                  <a:schemeClr val="bg1"/>
                </a:solidFill>
                <a:latin typeface="+mj-lt"/>
              </a:rPr>
              <a:t>: Tăng tỷ lệ chuyển đổi khách hàng lên 94%</a:t>
            </a:r>
          </a:p>
          <a:p>
            <a:r>
              <a:rPr lang="vi-VN" dirty="0">
                <a:solidFill>
                  <a:schemeClr val="bg1"/>
                </a:solidFill>
                <a:latin typeface="+mj-lt"/>
              </a:rPr>
              <a:t>•	</a:t>
            </a:r>
            <a:r>
              <a:rPr lang="vi-VN" dirty="0" err="1">
                <a:solidFill>
                  <a:schemeClr val="bg1"/>
                </a:solidFill>
                <a:latin typeface="+mj-lt"/>
              </a:rPr>
              <a:t>Real-time</a:t>
            </a:r>
            <a:r>
              <a:rPr lang="vi-VN" dirty="0">
                <a:solidFill>
                  <a:schemeClr val="bg1"/>
                </a:solidFill>
                <a:latin typeface="+mj-lt"/>
              </a:rPr>
              <a:t> </a:t>
            </a:r>
            <a:r>
              <a:rPr lang="vi-VN" dirty="0" err="1">
                <a:solidFill>
                  <a:schemeClr val="bg1"/>
                </a:solidFill>
                <a:latin typeface="+mj-lt"/>
              </a:rPr>
              <a:t>tracking</a:t>
            </a:r>
            <a:r>
              <a:rPr lang="vi-VN" dirty="0">
                <a:solidFill>
                  <a:schemeClr val="bg1"/>
                </a:solidFill>
                <a:latin typeface="+mj-lt"/>
              </a:rPr>
              <a:t>: Cải thiện thời gian giao hàng đúng hẹn lên 96%</a:t>
            </a:r>
          </a:p>
          <a:p>
            <a:r>
              <a:rPr lang="vi-VN" dirty="0">
                <a:solidFill>
                  <a:schemeClr val="bg1"/>
                </a:solidFill>
                <a:latin typeface="+mj-lt"/>
              </a:rPr>
              <a:t>•	</a:t>
            </a:r>
            <a:r>
              <a:rPr lang="vi-VN" dirty="0" err="1">
                <a:solidFill>
                  <a:schemeClr val="bg1"/>
                </a:solidFill>
                <a:latin typeface="+mj-lt"/>
              </a:rPr>
              <a:t>Quality</a:t>
            </a:r>
            <a:r>
              <a:rPr lang="vi-VN" dirty="0">
                <a:solidFill>
                  <a:schemeClr val="bg1"/>
                </a:solidFill>
                <a:latin typeface="+mj-lt"/>
              </a:rPr>
              <a:t> </a:t>
            </a:r>
            <a:r>
              <a:rPr lang="vi-VN" dirty="0" err="1">
                <a:solidFill>
                  <a:schemeClr val="bg1"/>
                </a:solidFill>
                <a:latin typeface="+mj-lt"/>
              </a:rPr>
              <a:t>control</a:t>
            </a:r>
            <a:r>
              <a:rPr lang="vi-VN" dirty="0">
                <a:solidFill>
                  <a:schemeClr val="bg1"/>
                </a:solidFill>
                <a:latin typeface="+mj-lt"/>
              </a:rPr>
              <a:t> </a:t>
            </a:r>
            <a:r>
              <a:rPr lang="vi-VN" dirty="0" err="1">
                <a:solidFill>
                  <a:schemeClr val="bg1"/>
                </a:solidFill>
                <a:latin typeface="+mj-lt"/>
              </a:rPr>
              <a:t>automation</a:t>
            </a:r>
            <a:r>
              <a:rPr lang="vi-VN" dirty="0">
                <a:solidFill>
                  <a:schemeClr val="bg1"/>
                </a:solidFill>
                <a:latin typeface="+mj-lt"/>
              </a:rPr>
              <a:t>: Tăng độ chính xác đơn hàng lên 98%</a:t>
            </a:r>
          </a:p>
          <a:p>
            <a:endParaRPr lang="vi-VN" dirty="0">
              <a:solidFill>
                <a:schemeClr val="bg1"/>
              </a:solidFill>
              <a:latin typeface="+mj-lt"/>
            </a:endParaRPr>
          </a:p>
        </p:txBody>
      </p:sp>
    </p:spTree>
    <p:extLst>
      <p:ext uri="{BB962C8B-B14F-4D97-AF65-F5344CB8AC3E}">
        <p14:creationId xmlns:p14="http://schemas.microsoft.com/office/powerpoint/2010/main" val="1117444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B503-05BB-952E-8825-85FCC2310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88595-8C42-182C-28E0-D57B7B4AA4CB}"/>
              </a:ext>
            </a:extLst>
          </p:cNvPr>
          <p:cNvSpPr>
            <a:spLocks noGrp="1"/>
          </p:cNvSpPr>
          <p:nvPr>
            <p:ph type="title"/>
          </p:nvPr>
        </p:nvSpPr>
        <p:spPr>
          <a:xfrm>
            <a:off x="749300" y="2920374"/>
            <a:ext cx="11150600" cy="1015663"/>
          </a:xfrm>
        </p:spPr>
        <p:txBody>
          <a:bodyPr/>
          <a:lstStyle/>
          <a:p>
            <a:pPr algn="ctr"/>
            <a:r>
              <a:rPr lang="en-US" sz="6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93465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533</TotalTime>
  <Words>3623</Words>
  <Application>Microsoft Office PowerPoint</Application>
  <PresentationFormat>Custom</PresentationFormat>
  <Paragraphs>714</Paragraphs>
  <Slides>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Arial Nova</vt:lpstr>
      <vt:lpstr>Comic Sans MS</vt:lpstr>
      <vt:lpstr>Roboto</vt:lpstr>
      <vt:lpstr>Times New Roman</vt:lpstr>
      <vt:lpstr>Office Theme</vt:lpstr>
      <vt:lpstr>TÌM HIỂU HỆ THỐNG QUY TRÌNH NGHIỆP VỤ CỦA CÔNG TY BOSCH</vt:lpstr>
      <vt:lpstr>Mục lục</vt:lpstr>
      <vt:lpstr>Tổng quan về Bosch</vt:lpstr>
      <vt:lpstr>PHÂN LOẠI QUY TRÌNH</vt:lpstr>
      <vt:lpstr>Kiến trúc quy trình</vt:lpstr>
      <vt:lpstr>Mô hình hóa và phân tích quy trình quản lý chất lượng nhà cung cấp</vt:lpstr>
      <vt:lpstr>PHƯƠNG PHÁP KHẢO SÁT QUY TRÌNH</vt:lpstr>
      <vt:lpstr>PHƯƠNG PHÁP KHẢO SÁT QUY TRÌNH</vt:lpstr>
      <vt:lpstr>PHƯƠNG PHÁP KHẢO SÁT QUY TRÌNH</vt:lpstr>
      <vt:lpstr>Mô hình hóa</vt:lpstr>
      <vt:lpstr>PHÂN TÍCH ĐỊNH TÍNH</vt:lpstr>
      <vt:lpstr>PHÂN TÍCH ĐỊNH TÍNH</vt:lpstr>
      <vt:lpstr>PHÂN TÍCH ĐỊNH LƯỢNG</vt:lpstr>
      <vt:lpstr>PHÂN TÍCH ĐỊNH LƯỢNG</vt:lpstr>
      <vt:lpstr>PHÂN TÍCH ĐỊNH LƯỢNG</vt:lpstr>
      <vt:lpstr>PHÂN TÍCH ĐỊNH LƯỢNG</vt:lpstr>
      <vt:lpstr>PHÂN TÍCH ĐỊNH LƯỢNG</vt:lpstr>
      <vt:lpstr>PHÂN TÍCH ĐỊNH LƯỢNG</vt:lpstr>
      <vt:lpstr>PHÂN TÍCH ĐỊNH LƯỢNG</vt:lpstr>
      <vt:lpstr>PHÂN TÍCH ĐỊNH LƯỢNG</vt:lpstr>
      <vt:lpstr>CƠ HỘI CẢI TIẾN</vt:lpstr>
      <vt:lpstr>Mô hình hóa và phân tích quy trình bán hàng và giao hàng</vt:lpstr>
      <vt:lpstr>PHƯƠNG PHÁP KHẢO SÁT QUY TRÌNH</vt:lpstr>
      <vt:lpstr>PHƯƠNG PHÁP KHẢO SÁT QUY TRÌNH</vt:lpstr>
      <vt:lpstr>PHƯƠNG PHÁP KHẢO SÁT QUY TRÌNH</vt:lpstr>
      <vt:lpstr>Mô hình hóa</vt:lpstr>
      <vt:lpstr>PHÂN TÍCH ĐỊNH TÍNH</vt:lpstr>
      <vt:lpstr>PHÂN TÍCH ĐỊNH TÍNH</vt:lpstr>
      <vt:lpstr>PHÂN TÍCH ĐỊNH LƯỢNG</vt:lpstr>
      <vt:lpstr>PHÂN TÍCH ĐỊNH LƯỢNG</vt:lpstr>
      <vt:lpstr>PHÂN TÍCH ĐỊNH LƯỢNG</vt:lpstr>
      <vt:lpstr>PHÂN TÍCH ĐỊNH LƯỢNG</vt:lpstr>
      <vt:lpstr>PHÂN TÍCH ĐỊNH LƯỢNG</vt:lpstr>
      <vt:lpstr>PHÂN TÍCH ĐỊNH LƯỢNG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Đặng Kiến Tường</cp:lastModifiedBy>
  <cp:revision>34</cp:revision>
  <dcterms:created xsi:type="dcterms:W3CDTF">2025-07-31T17:16:28Z</dcterms:created>
  <dcterms:modified xsi:type="dcterms:W3CDTF">2025-08-02T09:22:55Z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2025-07-31T00:00:00Z</vt:filetime>
  </property>
  <property fmtid="{D5CDD505-2E9C-101B-9397-08002B2CF9AE}" pid="3" name="Producer">
    <vt:lpwstr>pypdf</vt:lpwstr>
  </property>
  <property fmtid="{D5CDD505-2E9C-101B-9397-08002B2CF9AE}" pid="4" name="LastSaved">
    <vt:filetime>2025-07-31T00:00:00Z</vt:filetime>
  </property>
</Properties>
</file>