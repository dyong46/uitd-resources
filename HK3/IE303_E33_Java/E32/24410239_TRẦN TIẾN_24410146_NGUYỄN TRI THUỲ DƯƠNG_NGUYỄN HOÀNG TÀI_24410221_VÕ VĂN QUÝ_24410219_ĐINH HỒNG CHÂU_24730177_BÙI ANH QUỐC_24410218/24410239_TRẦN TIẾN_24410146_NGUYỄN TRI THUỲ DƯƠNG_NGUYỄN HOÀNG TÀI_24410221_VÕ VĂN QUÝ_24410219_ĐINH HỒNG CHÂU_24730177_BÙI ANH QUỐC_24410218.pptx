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Josefin Sa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oT7ibLKoLvBF/PbWntm7zGVSR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JosefinSans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efi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1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7712489" y="964795"/>
            <a:ext cx="9909336" cy="8384323"/>
            <a:chOff x="0" y="-72433"/>
            <a:chExt cx="13212448" cy="11179098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0" y="1868256"/>
              <a:ext cx="13212448" cy="189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HỆ THỐNG QUẢN TRỊ QUY TRÌNH NGHIỆP VỤ</a:t>
              </a:r>
              <a:endParaRPr/>
            </a:p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300" u="none" cap="none" strike="noStrike">
                <a:solidFill>
                  <a:srgbClr val="F7B4A7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indent="0" lvl="0" marL="0" marR="0" rtl="0"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GVHD: ThS. Hà Lê Hoài Trung</a:t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72433"/>
              <a:ext cx="13212448" cy="607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2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TRƯỜNG: ĐH CNTT - ĐHQG TP.HCM</a:t>
              </a: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4894047"/>
              <a:ext cx="13212448" cy="621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Nhóm sinh viên thực hiện:</a:t>
              </a:r>
              <a:endParaRPr/>
            </a:p>
            <a:p>
              <a:pPr indent="-275675" lvl="1" marL="55135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553"/>
                <a:buFont typeface="Arial"/>
                <a:buChar char="•"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Trần Tiến – 24410239</a:t>
              </a:r>
              <a:endParaRPr/>
            </a:p>
            <a:p>
              <a:pPr indent="-275675" lvl="1" marL="55135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553"/>
                <a:buFont typeface="Arial"/>
                <a:buChar char="•"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Nguyễn Tri Thủy Dương – 24410146</a:t>
              </a:r>
              <a:endParaRPr/>
            </a:p>
            <a:p>
              <a:pPr indent="-275675" lvl="1" marL="55135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553"/>
                <a:buFont typeface="Arial"/>
                <a:buChar char="•"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Nguyễn Hoàng Tài – 24410221</a:t>
              </a:r>
              <a:endParaRPr/>
            </a:p>
            <a:p>
              <a:pPr indent="-275675" lvl="1" marL="55135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553"/>
                <a:buFont typeface="Arial"/>
                <a:buChar char="•"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Võ Văn Quý – 24410219</a:t>
              </a:r>
              <a:endParaRPr/>
            </a:p>
            <a:p>
              <a:pPr indent="-275675" lvl="1" marL="55135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553"/>
                <a:buFont typeface="Arial"/>
                <a:buChar char="•"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Đinh Hồng Châu – 24730177</a:t>
              </a:r>
              <a:endParaRPr/>
            </a:p>
            <a:p>
              <a:pPr indent="-275675" lvl="1" marL="55135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553"/>
                <a:buFont typeface="Arial"/>
                <a:buChar char="•"/>
              </a:pPr>
              <a:r>
                <a:rPr b="0" i="0" lang="en-US" sz="2553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Bùi Anh Quốc – 24410218</a:t>
              </a:r>
              <a:endParaRPr/>
            </a:p>
            <a:p>
              <a:pPr indent="0" lvl="0" marL="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3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Công ty Cổ Phần Thương Mại - Dịch Vụ Phong Vũ</a:t>
              </a:r>
              <a:endParaRPr/>
            </a:p>
            <a:p>
              <a:pPr indent="0" lvl="0" marL="0" marR="0" rtl="0" algn="l">
                <a:lnSpc>
                  <a:spcPct val="14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3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Lĩnh vực: Bán lẻ các sản phẩm công nghệ thông tin</a:t>
              </a:r>
              <a:endParaRPr/>
            </a:p>
            <a:p>
              <a:pPr indent="0" lvl="0" marL="0" marR="0" rtl="0" algn="l">
                <a:lnSpc>
                  <a:spcPct val="21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3" u="none" cap="none" strike="noStrike">
                <a:solidFill>
                  <a:srgbClr val="F7B4A7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182834" y="-1921745"/>
            <a:ext cx="6755642" cy="4114800"/>
          </a:xfrm>
          <a:custGeom>
            <a:rect b="b" l="l" r="r" t="t"/>
            <a:pathLst>
              <a:path extrusionOk="0" h="4114800" w="6755642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6303834" y="1790711"/>
            <a:ext cx="1194327" cy="2586142"/>
          </a:xfrm>
          <a:custGeom>
            <a:rect b="b" l="l" r="r" t="t"/>
            <a:pathLst>
              <a:path extrusionOk="0" h="2586142" w="1194327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flipH="1">
            <a:off x="2095190" y="2021154"/>
            <a:ext cx="5357753" cy="5591583"/>
          </a:xfrm>
          <a:custGeom>
            <a:rect b="b" l="l" r="r" t="t"/>
            <a:pathLst>
              <a:path extrusionOk="0" h="5591583" w="535775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-947148" y="1264426"/>
            <a:ext cx="3144039" cy="2440918"/>
          </a:xfrm>
          <a:custGeom>
            <a:rect b="b" l="l" r="r" t="t"/>
            <a:pathLst>
              <a:path extrusionOk="0" h="2440918" w="3144039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624872" y="5005800"/>
            <a:ext cx="1894295" cy="4252500"/>
          </a:xfrm>
          <a:custGeom>
            <a:rect b="b" l="l" r="r" t="t"/>
            <a:pathLst>
              <a:path extrusionOk="0" h="4252500" w="1894295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4011803" y="7612736"/>
            <a:ext cx="3486358" cy="4114800"/>
          </a:xfrm>
          <a:custGeom>
            <a:rect b="b" l="l" r="r" t="t"/>
            <a:pathLst>
              <a:path extrusionOk="0" h="4114800" w="3486358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-1233930" y="6532494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-356092" y="7180478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2" y="0"/>
                </a:lnTo>
                <a:lnTo>
                  <a:pt x="3175102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557426" y="7786256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1948438">
            <a:off x="15568259" y="7108423"/>
            <a:ext cx="2790932" cy="4299755"/>
          </a:xfrm>
          <a:custGeom>
            <a:rect b="b" l="l" r="r" t="t"/>
            <a:pathLst>
              <a:path extrusionOk="0" h="4299755" w="2790932">
                <a:moveTo>
                  <a:pt x="0" y="0"/>
                </a:moveTo>
                <a:lnTo>
                  <a:pt x="2790932" y="0"/>
                </a:lnTo>
                <a:lnTo>
                  <a:pt x="2790932" y="4299754"/>
                </a:lnTo>
                <a:lnTo>
                  <a:pt x="0" y="4299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" name="Google Shape;102;p2"/>
          <p:cNvGrpSpPr/>
          <p:nvPr/>
        </p:nvGrpSpPr>
        <p:grpSpPr>
          <a:xfrm>
            <a:off x="4715091" y="1014413"/>
            <a:ext cx="12248634" cy="7067061"/>
            <a:chOff x="0" y="-19050"/>
            <a:chExt cx="16331512" cy="9422749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0" y="-19050"/>
              <a:ext cx="14568016" cy="742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Công ty Cổ Phần Thương Mại - Dịch Vụ Phong Vũ</a:t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2101696"/>
              <a:ext cx="16331512" cy="730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THÀNH LẬP NĂM 1997 TẠI TP.HCM TỪ MỘT CỬA HÀNG NHỎ KINH DOANH MÁY TÍNH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ĐẾN NĂM 2018, HỢP TÁC CÙNG TEKSHOP ĐỂ HIỆN ĐẠI HÓA HỆ THỐNG PHÂN PHỐI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NGÀNH NGHỀ CHÍNH: BÁN LẺ THIẾT BỊ CÔNG NGHỆ, LINH KIỆN, THIẾT BỊ GAMING, THIẾT BỊ VĂN PHÒNG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HỆ THỐNG SHOWROOM PHỦ KHẮP TOÀN QUỐC, HƠN 36 CHI NHÁNH TÍNH ĐẾN NĂM 2025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ĐỐI TÁC CHIẾN LƯỢC: DELL, HP, ASUS, APPLE, MSI, SAMSUNG, LOGITECH...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TẦM NHÌN: TRỞ THÀNH NHÀ BÁN LẺ ĐA KÊNH HÀNG ĐẦU TẠI VIỆT NAM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MÔ HÌNH KINH DOANH: OMNI-CHANNEL KẾT HỢP ONLINE (WEBSITE PHONGVU.VN) VÀ OFFLINE (SHOWROOM)</a:t>
              </a:r>
              <a:endParaRPr/>
            </a:p>
            <a:p>
              <a:pPr indent="0" lvl="0" marL="0" marR="0" rtl="0" algn="l">
                <a:lnSpc>
                  <a:spcPct val="1980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468478" y="474301"/>
            <a:ext cx="3867584" cy="1473365"/>
          </a:xfrm>
          <a:custGeom>
            <a:rect b="b" l="l" r="r" t="t"/>
            <a:pathLst>
              <a:path extrusionOk="0" h="1473365" w="3867584">
                <a:moveTo>
                  <a:pt x="0" y="0"/>
                </a:moveTo>
                <a:lnTo>
                  <a:pt x="3867585" y="0"/>
                </a:lnTo>
                <a:lnTo>
                  <a:pt x="3867585" y="1473366"/>
                </a:lnTo>
                <a:lnTo>
                  <a:pt x="0" y="1473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2"/>
          <p:cNvGrpSpPr/>
          <p:nvPr/>
        </p:nvGrpSpPr>
        <p:grpSpPr>
          <a:xfrm>
            <a:off x="379531" y="2099397"/>
            <a:ext cx="4045479" cy="2125952"/>
            <a:chOff x="0" y="-9525"/>
            <a:chExt cx="5393973" cy="2834603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0" y="-9525"/>
              <a:ext cx="4811525" cy="282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765628"/>
              <a:ext cx="5393973" cy="205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78672" lvl="1" marL="157343" marR="0" rtl="0" algn="l">
                <a:lnSpc>
                  <a:spcPct val="165109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728"/>
                <a:buFont typeface="Arial"/>
                <a:buChar char="•"/>
              </a:pPr>
              <a:r>
                <a:rPr b="0" i="0" lang="en-US" sz="728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ĐỊA CHỈ TRỤ SỞ CHÍNH:</a:t>
              </a:r>
              <a:endParaRPr/>
            </a:p>
            <a:p>
              <a:pPr indent="-78672" lvl="1" marL="157343" marR="0" rtl="0" algn="l">
                <a:lnSpc>
                  <a:spcPct val="165109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728"/>
                <a:buFont typeface="Arial"/>
                <a:buChar char="•"/>
              </a:pPr>
              <a:r>
                <a:rPr b="0" i="0" lang="en-US" sz="728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TẦNG 5, SỐ 117-119-121 NGUYỄN DU, PHƯỜNG BẾN THÀNH, THÀNH PHỐ HỒ CHÍ MINH</a:t>
              </a:r>
              <a:endParaRPr/>
            </a:p>
            <a:p>
              <a:pPr indent="-78672" lvl="1" marL="157343" marR="0" rtl="0" algn="l">
                <a:lnSpc>
                  <a:spcPct val="165109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728"/>
                <a:buFont typeface="Arial"/>
                <a:buChar char="•"/>
              </a:pPr>
              <a:r>
                <a:rPr b="0" i="0" lang="en-US" sz="728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VĂN PHÒNG ĐIỀU HÀNH MIỀN BẮC:</a:t>
              </a:r>
              <a:endParaRPr/>
            </a:p>
            <a:p>
              <a:pPr indent="-78672" lvl="1" marL="157343" marR="0" rtl="0" algn="l">
                <a:lnSpc>
                  <a:spcPct val="165109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728"/>
                <a:buFont typeface="Arial"/>
                <a:buChar char="•"/>
              </a:pPr>
              <a:r>
                <a:rPr b="0" i="0" lang="en-US" sz="728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TẦNG 2, SỐ 47 PHỐ THÁI HÀ, PHƯỜNG TRUNG LIỆT, QUẬN ĐỐNG ĐA, THÀNH PHỐ HÀ NỘI</a:t>
              </a:r>
              <a:endParaRPr/>
            </a:p>
            <a:p>
              <a:pPr indent="-78672" lvl="1" marL="157343" marR="0" rtl="0" algn="l">
                <a:lnSpc>
                  <a:spcPct val="165109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728"/>
                <a:buFont typeface="Arial"/>
                <a:buChar char="•"/>
              </a:pPr>
              <a:r>
                <a:rPr b="0" i="0" lang="en-US" sz="728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VĂN PHÒNG ĐIỀU HÀNH MIỀN NAM:</a:t>
              </a:r>
              <a:endParaRPr/>
            </a:p>
            <a:p>
              <a:pPr indent="-78672" lvl="1" marL="157343" marR="0" rtl="0" algn="l">
                <a:lnSpc>
                  <a:spcPct val="165109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728"/>
                <a:buFont typeface="Arial"/>
                <a:buChar char="•"/>
              </a:pPr>
              <a:r>
                <a:rPr b="0" i="0" lang="en-US" sz="728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677/2A ĐIỆN BIÊN PHỦ, PHƯỜNG 25 , QUẬN BÌNH THẠNH , TP. HỒ CHÍ MINH</a:t>
              </a:r>
              <a:endParaRPr/>
            </a:p>
            <a:p>
              <a:pPr indent="0" lvl="0" marL="0" marR="0" rtl="0" algn="l">
                <a:lnSpc>
                  <a:spcPct val="1982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2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DDD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2384862" y="2212292"/>
            <a:ext cx="5131837" cy="4114800"/>
          </a:xfrm>
          <a:custGeom>
            <a:rect b="b" l="l" r="r" t="t"/>
            <a:pathLst>
              <a:path extrusionOk="0" h="4114800" w="5131837">
                <a:moveTo>
                  <a:pt x="0" y="0"/>
                </a:moveTo>
                <a:lnTo>
                  <a:pt x="5131836" y="0"/>
                </a:lnTo>
                <a:lnTo>
                  <a:pt x="51318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3"/>
          <p:cNvGrpSpPr/>
          <p:nvPr/>
        </p:nvGrpSpPr>
        <p:grpSpPr>
          <a:xfrm>
            <a:off x="247569" y="1256030"/>
            <a:ext cx="12282928" cy="7650909"/>
            <a:chOff x="0" y="633095"/>
            <a:chExt cx="16377237" cy="10201212"/>
          </a:xfrm>
        </p:grpSpPr>
        <p:sp>
          <p:nvSpPr>
            <p:cNvPr id="115" name="Google Shape;115;p3"/>
            <p:cNvSpPr txBox="1"/>
            <p:nvPr/>
          </p:nvSpPr>
          <p:spPr>
            <a:xfrm>
              <a:off x="0" y="633095"/>
              <a:ext cx="16377237" cy="835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99" u="none" cap="none" strike="noStrike">
                  <a:solidFill>
                    <a:srgbClr val="31356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CƠ CẤU TỔ CHỨC DOANH NGHIỆP</a:t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0" y="2689620"/>
              <a:ext cx="15690984" cy="8144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13055" lvl="1" marL="62611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Arial"/>
                <a:buChar char="•"/>
              </a:pPr>
              <a:r>
                <a:rPr b="1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Cấu trúc tổ chức chia thành 2 khối lớn:</a:t>
              </a:r>
              <a:endParaRPr/>
            </a:p>
            <a:p>
              <a:pPr indent="-417407" lvl="2" marL="125222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Josefin Sans"/>
                <a:buAutoNum type="alphaLcPeriod"/>
              </a:pPr>
              <a:r>
                <a:rPr b="1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Khối cửa hàng: </a:t>
              </a:r>
              <a:r>
                <a:rPr b="0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tập trung vào vận hành trực tiếp với khách hàng</a:t>
              </a:r>
              <a:endParaRPr/>
            </a:p>
            <a:p>
              <a:pPr indent="-469583" lvl="3" marL="1878332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Arial"/>
                <a:buChar char="￭"/>
              </a:pPr>
              <a:r>
                <a:rPr b="0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Bán hàng, kho, kỹ thuật, thu ngân, CSKH</a:t>
              </a:r>
              <a:endParaRPr/>
            </a:p>
            <a:p>
              <a:pPr indent="-417407" lvl="2" marL="125222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Josefin Sans"/>
                <a:buAutoNum type="alphaLcPeriod"/>
              </a:pPr>
              <a:r>
                <a:rPr b="1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Khối văn phòng:</a:t>
              </a:r>
              <a:r>
                <a:rPr b="0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chịu trách nhiệm chiến lược, vận hành nội bộ</a:t>
              </a:r>
              <a:endParaRPr/>
            </a:p>
            <a:p>
              <a:pPr indent="-469583" lvl="3" marL="1878332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Arial"/>
                <a:buChar char="￭"/>
              </a:pPr>
              <a:r>
                <a:rPr b="0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Gồm các phòng ban như: Kinh doanh, Marketing, Website, ERP, Tài chính, Nhân sự, IT</a:t>
              </a:r>
              <a:endParaRPr/>
            </a:p>
            <a:p>
              <a:pPr indent="-313055" lvl="1" marL="62611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Arial"/>
                <a:buChar char="•"/>
              </a:pPr>
              <a:r>
                <a:rPr b="0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Hội đồng Quản trị và Ban Tổng Giám đốc giữ vai trò điều hành chiến lược và kiểm soát</a:t>
              </a:r>
              <a:endParaRPr/>
            </a:p>
            <a:p>
              <a:pPr indent="-313055" lvl="1" marL="62611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900"/>
                <a:buFont typeface="Arial"/>
                <a:buChar char="•"/>
              </a:pPr>
              <a:r>
                <a:rPr b="0" i="0" lang="en-US" sz="29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Phối hợp giữa các phòng ban đảm bảo tính liên kết và hiệu quả hoạt động doanh nghiệp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9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-1030430"/>
            <a:ext cx="4597438" cy="2842053"/>
          </a:xfrm>
          <a:custGeom>
            <a:rect b="b" l="l" r="r" t="t"/>
            <a:pathLst>
              <a:path extrusionOk="0" h="2842053" w="4597438">
                <a:moveTo>
                  <a:pt x="0" y="0"/>
                </a:moveTo>
                <a:lnTo>
                  <a:pt x="4597438" y="0"/>
                </a:lnTo>
                <a:lnTo>
                  <a:pt x="4597438" y="2842053"/>
                </a:lnTo>
                <a:lnTo>
                  <a:pt x="0" y="2842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 flipH="1">
            <a:off x="10551837" y="390596"/>
            <a:ext cx="2076668" cy="1276207"/>
          </a:xfrm>
          <a:custGeom>
            <a:rect b="b" l="l" r="r" t="t"/>
            <a:pathLst>
              <a:path extrusionOk="0" h="1276207" w="2076668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13138681" y="-2303177"/>
            <a:ext cx="3837986" cy="4114800"/>
          </a:xfrm>
          <a:custGeom>
            <a:rect b="b" l="l" r="r" t="t"/>
            <a:pathLst>
              <a:path extrusionOk="0" h="4114800" w="3837986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/>
          <p:nvPr/>
        </p:nvSpPr>
        <p:spPr>
          <a:xfrm>
            <a:off x="4968747" y="-3779960"/>
            <a:ext cx="5357753" cy="5591583"/>
          </a:xfrm>
          <a:custGeom>
            <a:rect b="b" l="l" r="r" t="t"/>
            <a:pathLst>
              <a:path extrusionOk="0" h="5591583" w="535775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4"/>
          <p:cNvSpPr/>
          <p:nvPr/>
        </p:nvSpPr>
        <p:spPr>
          <a:xfrm>
            <a:off x="10080510" y="285094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2" y="0"/>
                </a:lnTo>
                <a:lnTo>
                  <a:pt x="6812102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 txBox="1"/>
          <p:nvPr/>
        </p:nvSpPr>
        <p:spPr>
          <a:xfrm>
            <a:off x="402302" y="2080627"/>
            <a:ext cx="9132891" cy="143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KIẾN TRÚC HỆ THỐNG QUY TRÌNH NGHIỆP VỤ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402302" y="3912827"/>
            <a:ext cx="7928095" cy="5332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Hệ thống quy trình nghiệp vụ được chia làm 3 nhóm chính:</a:t>
            </a:r>
            <a:endParaRPr/>
          </a:p>
          <a:p>
            <a:pPr indent="-291463" lvl="1" marL="582927" marR="0" rtl="0" algn="l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Clr>
                <a:srgbClr val="2B4B82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Quản lý: Kế hoạch bán hàng, chiến dịch marketing, KPI, ngân sách</a:t>
            </a:r>
            <a:endParaRPr/>
          </a:p>
          <a:p>
            <a:pPr indent="-291463" lvl="1" marL="582927" marR="0" rtl="0" algn="l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Clr>
                <a:srgbClr val="2B4B82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Lõi: Bán hàng online, xử lý đơn, tồn kho, fulfillment, CSKH</a:t>
            </a:r>
            <a:endParaRPr/>
          </a:p>
          <a:p>
            <a:pPr indent="-291463" lvl="1" marL="582927" marR="0" rtl="0" algn="l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Clr>
                <a:srgbClr val="2B4B82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Hỗ trợ: IT Helpdesk, tuyển dụng, kế toán, quản lý NCC, quản trị hệ thống</a:t>
            </a:r>
            <a:endParaRPr/>
          </a:p>
          <a:p>
            <a:pPr indent="0" lvl="0" marL="0" marR="0" rtl="0" algn="l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Kiến trúc quy trình được thể hiện qua sơ đồ tổng thể giúp đảm bảo hoạt động xuyên suốt</a:t>
            </a:r>
            <a:endParaRPr/>
          </a:p>
          <a:p>
            <a:pPr indent="0" lvl="0" marL="0" marR="0" rtl="0" algn="l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DDD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3303694" y="1150814"/>
            <a:ext cx="13738998" cy="609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1 – BÁN HÀNG ONLINE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3686137" y="4816052"/>
            <a:ext cx="2401669" cy="25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cần, khách có thể gửi yêu cầu tư vấn → chuyển đến bộ phận CSKH hỗ trợ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369298" y="4811860"/>
            <a:ext cx="2459408" cy="25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Bắt đầu khi khách hàng truy cập vào website hoặc app Phong Vũ để tìm kiếm sản phẩm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6636967" y="4816052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Khi đặt hàng, CSKH xác minh thông tin người nhận, thời gian, địa chỉ giao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9545281" y="4634118"/>
            <a:ext cx="2680634" cy="3386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Kế toán kiểm tra phương thức thanh toán: nếu là COD → duyệt nhanh, nếu online → hệ thống theo dõi trạng thái giao dịch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2520827" y="4816052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Sau khi xác nhận, đơn hàng chuyển sang kho để đóng gói sản phẩm</a:t>
            </a:r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>
            <a:off x="1500880" y="2803923"/>
            <a:ext cx="12249651" cy="650107"/>
            <a:chOff x="0" y="-85725"/>
            <a:chExt cx="16332868" cy="866810"/>
          </a:xfrm>
        </p:grpSpPr>
        <p:sp>
          <p:nvSpPr>
            <p:cNvPr id="139" name="Google Shape;139;p5"/>
            <p:cNvSpPr txBox="1"/>
            <p:nvPr/>
          </p:nvSpPr>
          <p:spPr>
            <a:xfrm>
              <a:off x="0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1</a:t>
              </a:r>
              <a:endParaRPr/>
            </a:p>
          </p:txBody>
        </p:sp>
        <p:sp>
          <p:nvSpPr>
            <p:cNvPr id="140" name="Google Shape;140;p5"/>
            <p:cNvSpPr txBox="1"/>
            <p:nvPr/>
          </p:nvSpPr>
          <p:spPr>
            <a:xfrm>
              <a:off x="3997228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2</a:t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7798615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3</a:t>
              </a: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11943045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4</a:t>
              </a: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15630048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5</a:t>
              </a:r>
              <a:endParaRPr/>
            </a:p>
          </p:txBody>
        </p:sp>
        <p:cxnSp>
          <p:nvCxnSpPr>
            <p:cNvPr id="144" name="Google Shape;144;p5"/>
            <p:cNvCxnSpPr/>
            <p:nvPr/>
          </p:nvCxnSpPr>
          <p:spPr>
            <a:xfrm>
              <a:off x="702820" y="345423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5"/>
            <p:cNvCxnSpPr/>
            <p:nvPr/>
          </p:nvCxnSpPr>
          <p:spPr>
            <a:xfrm>
              <a:off x="4715212" y="334328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5"/>
            <p:cNvCxnSpPr/>
            <p:nvPr/>
          </p:nvCxnSpPr>
          <p:spPr>
            <a:xfrm>
              <a:off x="8719046" y="334328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5"/>
            <p:cNvCxnSpPr/>
            <p:nvPr/>
          </p:nvCxnSpPr>
          <p:spPr>
            <a:xfrm>
              <a:off x="12546645" y="334328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8" name="Google Shape;148;p5"/>
          <p:cNvGrpSpPr/>
          <p:nvPr/>
        </p:nvGrpSpPr>
        <p:grpSpPr>
          <a:xfrm>
            <a:off x="13750531" y="2803923"/>
            <a:ext cx="2941337" cy="648969"/>
            <a:chOff x="0" y="-85725"/>
            <a:chExt cx="3921784" cy="865292"/>
          </a:xfrm>
        </p:grpSpPr>
        <p:sp>
          <p:nvSpPr>
            <p:cNvPr id="149" name="Google Shape;149;p5"/>
            <p:cNvSpPr txBox="1"/>
            <p:nvPr/>
          </p:nvSpPr>
          <p:spPr>
            <a:xfrm>
              <a:off x="3230246" y="-85725"/>
              <a:ext cx="691538" cy="865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6</a:t>
              </a:r>
              <a:endParaRPr/>
            </a:p>
          </p:txBody>
        </p:sp>
        <p:cxnSp>
          <p:nvCxnSpPr>
            <p:cNvPr id="150" name="Google Shape;150;p5"/>
            <p:cNvCxnSpPr/>
            <p:nvPr/>
          </p:nvCxnSpPr>
          <p:spPr>
            <a:xfrm>
              <a:off x="0" y="362065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1" name="Google Shape;151;p5"/>
          <p:cNvSpPr txBox="1"/>
          <p:nvPr/>
        </p:nvSpPr>
        <p:spPr>
          <a:xfrm>
            <a:off x="15427910" y="4816052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Giao hàng đến khách, cập nhật trạng thái đơn hàng là hoàn tất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896" y="0"/>
            <a:ext cx="3297798" cy="3321958"/>
          </a:xfrm>
          <a:custGeom>
            <a:rect b="b" l="l" r="r" t="t"/>
            <a:pathLst>
              <a:path extrusionOk="0" h="3321958" w="3297798">
                <a:moveTo>
                  <a:pt x="0" y="0"/>
                </a:moveTo>
                <a:lnTo>
                  <a:pt x="3297798" y="0"/>
                </a:lnTo>
                <a:lnTo>
                  <a:pt x="3297798" y="3321958"/>
                </a:lnTo>
                <a:lnTo>
                  <a:pt x="0" y="3321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7482581" y="1260141"/>
            <a:ext cx="10435867" cy="7109435"/>
          </a:xfrm>
          <a:custGeom>
            <a:rect b="b" l="l" r="r" t="t"/>
            <a:pathLst>
              <a:path extrusionOk="0" h="7109435" w="10435867">
                <a:moveTo>
                  <a:pt x="0" y="0"/>
                </a:moveTo>
                <a:lnTo>
                  <a:pt x="10435868" y="0"/>
                </a:lnTo>
                <a:lnTo>
                  <a:pt x="10435868" y="7109435"/>
                </a:lnTo>
                <a:lnTo>
                  <a:pt x="0" y="7109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6"/>
          <p:cNvGrpSpPr/>
          <p:nvPr/>
        </p:nvGrpSpPr>
        <p:grpSpPr>
          <a:xfrm>
            <a:off x="313766" y="789931"/>
            <a:ext cx="6917264" cy="8173932"/>
            <a:chOff x="0" y="9525"/>
            <a:chExt cx="9223019" cy="10898576"/>
          </a:xfrm>
        </p:grpSpPr>
        <p:sp>
          <p:nvSpPr>
            <p:cNvPr id="159" name="Google Shape;159;p6"/>
            <p:cNvSpPr txBox="1"/>
            <p:nvPr/>
          </p:nvSpPr>
          <p:spPr>
            <a:xfrm>
              <a:off x="0" y="9525"/>
              <a:ext cx="9223019" cy="470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TÍCH QUY TRÌNH BÁN HÀNG ONLINE</a:t>
              </a: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0" y="863152"/>
              <a:ext cx="8967494" cy="1004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TÁC NHÂN: KHÁCH HÀNG, CSKH, KẾ TOÁN, KHO, GIAO HÀNG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THỜI GIAN XỬ LÝ ĐƠN TRUNG BÌNH: 81 PHÚT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CHI PHÍ XỬ LÝ TRUNG BÌNH: ~73.300 VNĐ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ƯU ĐIỂM: HỖ TRỢ ĐA KÊNH, QUY TRÌNH XỬ LÝ TỰ ĐỘNG HÓA MỘT PHẦN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NHƯỢC ĐIỂM: VẪN PHỤ THUỘC XÁC NHẬN THỦ CÔNG TỪ CSKH, IN PHIẾU, DÁN NHÃN THỦ CÔNG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LÃNG PHÍ CHÍNH: THỜI GIAN CHỜ XÁC NHẬN, XỬ LÝ LẶP, THAO TÁC GIẤY TỜ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HIỆU SUẤT ĐẠT: 80.15%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0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161" name="Google Shape;161;p6"/>
          <p:cNvSpPr txBox="1"/>
          <p:nvPr/>
        </p:nvSpPr>
        <p:spPr>
          <a:xfrm>
            <a:off x="9230036" y="8675589"/>
            <a:ext cx="7165867" cy="5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BPMN Quy trình mua hàng online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1578925" y="9175936"/>
            <a:ext cx="2645731" cy="1625922"/>
          </a:xfrm>
          <a:custGeom>
            <a:rect b="b" l="l" r="r" t="t"/>
            <a:pathLst>
              <a:path extrusionOk="0" h="1625922" w="2645731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6"/>
          <p:cNvSpPr/>
          <p:nvPr/>
        </p:nvSpPr>
        <p:spPr>
          <a:xfrm flipH="1">
            <a:off x="14876473" y="8567871"/>
            <a:ext cx="4597438" cy="2842053"/>
          </a:xfrm>
          <a:custGeom>
            <a:rect b="b" l="l" r="r" t="t"/>
            <a:pathLst>
              <a:path extrusionOk="0" h="2842053" w="4597438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DDD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/>
        </p:nvSpPr>
        <p:spPr>
          <a:xfrm>
            <a:off x="3303694" y="1150814"/>
            <a:ext cx="13738998" cy="609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2 – QUẢN LÝ TỒN KHO &amp; FULFILLMENT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4762675" y="4776334"/>
            <a:ext cx="2401669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Kho in báo cáo tồn kho từ hệ thống ERP → kiểm kê thực tế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844286" y="4776334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Kích hoạt kiểm kê kho định kỳ (tháng/quý) hoặc kiểm kê đột xuất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8119039" y="4862735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số liệu lệch: lập biên bản chênh lệch, trình lên Ban giám đốc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12035772" y="4867998"/>
            <a:ext cx="2486812" cy="2113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6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Sau phê duyệt → kế toán cập nhật số liệu hệ thống</a:t>
            </a:r>
            <a:endParaRPr/>
          </a:p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16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15475084" y="4776334"/>
            <a:ext cx="2459408" cy="296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Hỗ trợ các nghiệp vụ fulfillment: nhập hàng, xuất hàng, điều chuyển nội bộ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174" name="Google Shape;174;p7"/>
          <p:cNvGrpSpPr/>
          <p:nvPr/>
        </p:nvGrpSpPr>
        <p:grpSpPr>
          <a:xfrm>
            <a:off x="1654795" y="2904272"/>
            <a:ext cx="15387897" cy="805902"/>
            <a:chOff x="0" y="-95250"/>
            <a:chExt cx="20517196" cy="1074535"/>
          </a:xfrm>
        </p:grpSpPr>
        <p:sp>
          <p:nvSpPr>
            <p:cNvPr id="175" name="Google Shape;175;p7"/>
            <p:cNvSpPr txBox="1"/>
            <p:nvPr/>
          </p:nvSpPr>
          <p:spPr>
            <a:xfrm>
              <a:off x="0" y="-95250"/>
              <a:ext cx="882876" cy="1074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28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1</a:t>
              </a:r>
              <a:endParaRPr/>
            </a:p>
          </p:txBody>
        </p:sp>
        <p:sp>
          <p:nvSpPr>
            <p:cNvPr id="176" name="Google Shape;176;p7"/>
            <p:cNvSpPr txBox="1"/>
            <p:nvPr/>
          </p:nvSpPr>
          <p:spPr>
            <a:xfrm>
              <a:off x="5021281" y="-95250"/>
              <a:ext cx="882876" cy="1074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28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2</a:t>
              </a:r>
              <a:endParaRPr/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9796547" y="-95250"/>
              <a:ext cx="882876" cy="1074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28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3</a:t>
              </a:r>
              <a:endParaRPr/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15002741" y="-95250"/>
              <a:ext cx="882876" cy="1074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28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4</a:t>
              </a:r>
              <a:endParaRPr/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19634320" y="-95250"/>
              <a:ext cx="882876" cy="1074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28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5</a:t>
              </a:r>
              <a:endParaRPr/>
            </a:p>
          </p:txBody>
        </p:sp>
        <p:cxnSp>
          <p:nvCxnSpPr>
            <p:cNvPr id="180" name="Google Shape;180;p7"/>
            <p:cNvCxnSpPr/>
            <p:nvPr/>
          </p:nvCxnSpPr>
          <p:spPr>
            <a:xfrm>
              <a:off x="882876" y="454823"/>
              <a:ext cx="3873342" cy="0"/>
            </a:xfrm>
            <a:prstGeom prst="straightConnector1">
              <a:avLst/>
            </a:prstGeom>
            <a:noFill/>
            <a:ln cap="flat" cmpd="sng" w="41800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5923205" y="454823"/>
              <a:ext cx="3873342" cy="0"/>
            </a:xfrm>
            <a:prstGeom prst="straightConnector1">
              <a:avLst/>
            </a:prstGeom>
            <a:noFill/>
            <a:ln cap="flat" cmpd="sng" w="41800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10952784" y="454823"/>
              <a:ext cx="3873342" cy="0"/>
            </a:xfrm>
            <a:prstGeom prst="straightConnector1">
              <a:avLst/>
            </a:prstGeom>
            <a:noFill/>
            <a:ln cap="flat" cmpd="sng" w="41800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15760978" y="454823"/>
              <a:ext cx="3873342" cy="0"/>
            </a:xfrm>
            <a:prstGeom prst="straightConnector1">
              <a:avLst/>
            </a:prstGeom>
            <a:noFill/>
            <a:ln cap="flat" cmpd="sng" w="41800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4" name="Google Shape;184;p7"/>
          <p:cNvSpPr/>
          <p:nvPr/>
        </p:nvSpPr>
        <p:spPr>
          <a:xfrm>
            <a:off x="5896" y="0"/>
            <a:ext cx="3297798" cy="3321958"/>
          </a:xfrm>
          <a:custGeom>
            <a:rect b="b" l="l" r="r" t="t"/>
            <a:pathLst>
              <a:path extrusionOk="0" h="3321958" w="3297798">
                <a:moveTo>
                  <a:pt x="0" y="0"/>
                </a:moveTo>
                <a:lnTo>
                  <a:pt x="3297798" y="0"/>
                </a:lnTo>
                <a:lnTo>
                  <a:pt x="3297798" y="3321958"/>
                </a:lnTo>
                <a:lnTo>
                  <a:pt x="0" y="3321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9230036" y="8675589"/>
            <a:ext cx="7165867" cy="995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BPMN Quản lý tồn kho &amp; Fulfillment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578925" y="9175936"/>
            <a:ext cx="2645731" cy="1625922"/>
          </a:xfrm>
          <a:custGeom>
            <a:rect b="b" l="l" r="r" t="t"/>
            <a:pathLst>
              <a:path extrusionOk="0" h="1625922" w="2645731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8"/>
          <p:cNvSpPr/>
          <p:nvPr/>
        </p:nvSpPr>
        <p:spPr>
          <a:xfrm flipH="1">
            <a:off x="14876473" y="8567871"/>
            <a:ext cx="4597438" cy="2842053"/>
          </a:xfrm>
          <a:custGeom>
            <a:rect b="b" l="l" r="r" t="t"/>
            <a:pathLst>
              <a:path extrusionOk="0" h="2842053" w="4597438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8"/>
          <p:cNvSpPr/>
          <p:nvPr/>
        </p:nvSpPr>
        <p:spPr>
          <a:xfrm>
            <a:off x="9144000" y="1797884"/>
            <a:ext cx="7141807" cy="6150881"/>
          </a:xfrm>
          <a:custGeom>
            <a:rect b="b" l="l" r="r" t="t"/>
            <a:pathLst>
              <a:path extrusionOk="0" h="6150881" w="7141807">
                <a:moveTo>
                  <a:pt x="0" y="0"/>
                </a:moveTo>
                <a:lnTo>
                  <a:pt x="7141807" y="0"/>
                </a:lnTo>
                <a:lnTo>
                  <a:pt x="7141807" y="6150881"/>
                </a:lnTo>
                <a:lnTo>
                  <a:pt x="0" y="615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p8"/>
          <p:cNvGrpSpPr/>
          <p:nvPr/>
        </p:nvGrpSpPr>
        <p:grpSpPr>
          <a:xfrm>
            <a:off x="313766" y="566110"/>
            <a:ext cx="6917264" cy="8621574"/>
            <a:chOff x="0" y="9525"/>
            <a:chExt cx="9223019" cy="11495432"/>
          </a:xfrm>
        </p:grpSpPr>
        <p:sp>
          <p:nvSpPr>
            <p:cNvPr id="194" name="Google Shape;194;p8"/>
            <p:cNvSpPr txBox="1"/>
            <p:nvPr/>
          </p:nvSpPr>
          <p:spPr>
            <a:xfrm>
              <a:off x="0" y="9525"/>
              <a:ext cx="9223019" cy="470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Quy trình BPMN Quản lý tồn kho &amp; Fulfillment</a:t>
              </a:r>
              <a:endParaRPr/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0" y="863152"/>
              <a:ext cx="8967494" cy="1064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TỔNG THỜI GIAN THỰC HIỆN: 12.1 GIỜ/LƯỢT KIỂM KÊ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HIỆU SUẤT XỬ LÝ ĐẠT 100% (NẾU KHÔNG CÓ CHỜ PHÊ DUYỆT)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CHI PHÍ NHÂN CÔNG: ~618.125 VNĐ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Josefin Sans"/>
                <a:buAutoNum type="arabicPeriod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ƯU ĐIỂM: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QUẢN LÝ KHO CHÍNH XÁC, PHẢN ÁNH ĐÚNG TÌNH TRẠNG HÀNG HÓA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DỮ LIỆU ĐƯỢC CẬP NHẬT KỊP THỜI VÀ LƯU TRỮ MINH BẠCH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Josefin Sans"/>
                <a:buAutoNum type="arabicPeriod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HẠN CHẾ: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THỜI GIAN CHỜ PHÊ DUYỆT VẪN TỒN TẠI</a:t>
              </a:r>
              <a:endParaRPr/>
            </a:p>
            <a:p>
              <a:pPr indent="-248284" lvl="1" marL="496571" marR="0" rtl="0" algn="l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300"/>
                <a:buFont typeface="Arial"/>
                <a:buChar char="•"/>
              </a:pPr>
              <a:r>
                <a:rPr b="0" i="0" lang="en-US" sz="23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QUY TRÌNH IN PHIẾU VÀ ĐỐI CHIẾU THỦ CÔNG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00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B4A7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/>
        </p:nvSpPr>
        <p:spPr>
          <a:xfrm>
            <a:off x="946160" y="948415"/>
            <a:ext cx="10353297" cy="142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5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3 – QUẢN LÝ CHIẾN DỊCH MARKETING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2443088" y="-1095217"/>
            <a:ext cx="6414740" cy="6631780"/>
          </a:xfrm>
          <a:custGeom>
            <a:rect b="b" l="l" r="r" t="t"/>
            <a:pathLst>
              <a:path extrusionOk="0" h="6631780" w="641474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9"/>
          <p:cNvSpPr txBox="1"/>
          <p:nvPr/>
        </p:nvSpPr>
        <p:spPr>
          <a:xfrm>
            <a:off x="6988543" y="3025407"/>
            <a:ext cx="4310914" cy="843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F4C0F"/>
                </a:solidFill>
                <a:latin typeface="Josefin Sans"/>
                <a:ea typeface="Josefin Sans"/>
                <a:cs typeface="Josefin Sans"/>
                <a:sym typeface="Josefin Sans"/>
              </a:rPr>
              <a:t>Phân tích khách hàng mục tiêu, hành vi, kênh tiếp cận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1113861" y="3034932"/>
            <a:ext cx="3781333" cy="1962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F4C0F"/>
                </a:solidFill>
                <a:latin typeface="Josefin Sans"/>
                <a:ea typeface="Josefin Sans"/>
                <a:cs typeface="Josefin Sans"/>
                <a:sym typeface="Josefin Sans"/>
              </a:rPr>
              <a:t>Xác định mục tiêu SMART (ví dụ: tăng doanh số dòng laptop gaming 15%)</a:t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6950443" y="5269650"/>
            <a:ext cx="4310914" cy="168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F4C0F"/>
                </a:solidFill>
                <a:latin typeface="Josefin Sans"/>
                <a:ea typeface="Josefin Sans"/>
                <a:cs typeface="Josefin Sans"/>
                <a:sym typeface="Josefin Sans"/>
              </a:rPr>
              <a:t>Lập ngân sách, kế hoạch nội dung, lựa chọn kênh truyền thông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AF4C0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849070" y="6401775"/>
            <a:ext cx="4046123" cy="168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F4C0F"/>
                </a:solidFill>
                <a:latin typeface="Josefin Sans"/>
                <a:ea typeface="Josefin Sans"/>
                <a:cs typeface="Josefin Sans"/>
                <a:sym typeface="Josefin Sans"/>
              </a:rPr>
              <a:t>Triển khai chiến dịch trên đa nền tảng: website, social, sàn TMĐT, TikTok...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AF4C0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6950443" y="8016950"/>
            <a:ext cx="4310914" cy="168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F4C0F"/>
                </a:solidFill>
                <a:latin typeface="Josefin Sans"/>
                <a:ea typeface="Josefin Sans"/>
                <a:cs typeface="Josefin Sans"/>
                <a:sym typeface="Josefin Sans"/>
              </a:rPr>
              <a:t>Theo dõi KPIs (CPC, CTR, CPA, ROAS...), tối ưu và lập báo cáo sau chiến dịch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AF4C0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207" name="Google Shape;207;p9"/>
          <p:cNvCxnSpPr/>
          <p:nvPr/>
        </p:nvCxnSpPr>
        <p:spPr>
          <a:xfrm flipH="1" rot="10800000">
            <a:off x="4895194" y="3480636"/>
            <a:ext cx="2093350" cy="762930"/>
          </a:xfrm>
          <a:prstGeom prst="straightConnector1">
            <a:avLst/>
          </a:prstGeom>
          <a:noFill/>
          <a:ln cap="flat" cmpd="sng" w="38100">
            <a:solidFill>
              <a:srgbClr val="0CC0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9"/>
          <p:cNvCxnSpPr/>
          <p:nvPr/>
        </p:nvCxnSpPr>
        <p:spPr>
          <a:xfrm rot="10800000">
            <a:off x="9252355" y="3753839"/>
            <a:ext cx="815972" cy="1521569"/>
          </a:xfrm>
          <a:prstGeom prst="straightConnector1">
            <a:avLst/>
          </a:prstGeom>
          <a:noFill/>
          <a:ln cap="flat" cmpd="sng" w="38100">
            <a:solidFill>
              <a:srgbClr val="0CC0DF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09" name="Google Shape;209;p9"/>
          <p:cNvCxnSpPr/>
          <p:nvPr/>
        </p:nvCxnSpPr>
        <p:spPr>
          <a:xfrm flipH="1" rot="10800000">
            <a:off x="4895194" y="5911880"/>
            <a:ext cx="2055250" cy="1364158"/>
          </a:xfrm>
          <a:prstGeom prst="straightConnector1">
            <a:avLst/>
          </a:prstGeom>
          <a:noFill/>
          <a:ln cap="flat" cmpd="sng" w="38100">
            <a:solidFill>
              <a:srgbClr val="0CC0DF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10" name="Google Shape;210;p9"/>
          <p:cNvCxnSpPr/>
          <p:nvPr/>
        </p:nvCxnSpPr>
        <p:spPr>
          <a:xfrm>
            <a:off x="2872132" y="8083625"/>
            <a:ext cx="4078311" cy="635032"/>
          </a:xfrm>
          <a:prstGeom prst="straightConnector1">
            <a:avLst/>
          </a:prstGeom>
          <a:noFill/>
          <a:ln cap="flat" cmpd="sng" w="38100">
            <a:solidFill>
              <a:srgbClr val="0CC0DF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A6A6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79586" y="182375"/>
            <a:ext cx="10994441" cy="7943483"/>
          </a:xfrm>
          <a:custGeom>
            <a:rect b="b" l="l" r="r" t="t"/>
            <a:pathLst>
              <a:path extrusionOk="0" h="7943483" w="10994441">
                <a:moveTo>
                  <a:pt x="0" y="0"/>
                </a:moveTo>
                <a:lnTo>
                  <a:pt x="10994440" y="0"/>
                </a:lnTo>
                <a:lnTo>
                  <a:pt x="10994440" y="7943483"/>
                </a:lnTo>
                <a:lnTo>
                  <a:pt x="0" y="7943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6" name="Google Shape;216;p10"/>
          <p:cNvGrpSpPr/>
          <p:nvPr/>
        </p:nvGrpSpPr>
        <p:grpSpPr>
          <a:xfrm>
            <a:off x="11074026" y="2011178"/>
            <a:ext cx="7213974" cy="6379016"/>
            <a:chOff x="0" y="0"/>
            <a:chExt cx="9618632" cy="8505354"/>
          </a:xfrm>
        </p:grpSpPr>
        <p:sp>
          <p:nvSpPr>
            <p:cNvPr id="217" name="Google Shape;217;p10"/>
            <p:cNvSpPr txBox="1"/>
            <p:nvPr/>
          </p:nvSpPr>
          <p:spPr>
            <a:xfrm>
              <a:off x="0" y="0"/>
              <a:ext cx="9618632" cy="1295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TÍCH CHIẾN DỊCH MARKETING</a:t>
              </a:r>
              <a:endParaRPr/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0" y="2036035"/>
              <a:ext cx="9618632" cy="6469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87353" lvl="1" marL="37470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•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CHU KỲ: 17–34 NGÀY/CHIẾN DỊCH</a:t>
              </a:r>
              <a:endParaRPr/>
            </a:p>
            <a:p>
              <a:pPr indent="-187353" lvl="1" marL="37470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•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HIỆU SUẤT THỜI GIAN TRUNG BÌNH: 72.5%</a:t>
              </a:r>
              <a:endParaRPr/>
            </a:p>
            <a:p>
              <a:pPr indent="-187353" lvl="1" marL="37470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•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CHI PHÍ NHÂN CÔNG ƯỚC TÍNH: ~31 TRIỆU VNĐ/CHIẾN DỊCH</a:t>
              </a:r>
              <a:endParaRPr/>
            </a:p>
            <a:p>
              <a:pPr indent="-187353" lvl="1" marL="37470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•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ƯU ĐIỂM:</a:t>
              </a:r>
              <a:endParaRPr/>
            </a:p>
            <a:p>
              <a:pPr indent="-249803" lvl="2" marL="74941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⚬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TĂNG NHẬN DIỆN THƯƠNG HIỆU VÀ CHUYỂN ĐỔI DOANH SỐ</a:t>
              </a:r>
              <a:endParaRPr/>
            </a:p>
            <a:p>
              <a:pPr indent="-249803" lvl="2" marL="74941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⚬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HỆ THỐNG KPI GIÚP ĐO LƯỜNG HIỆU QUẢ RÕ RÀNG</a:t>
              </a:r>
              <a:endParaRPr/>
            </a:p>
            <a:p>
              <a:pPr indent="-187353" lvl="1" marL="37470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•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HẠN CHẾ:</a:t>
              </a:r>
              <a:endParaRPr/>
            </a:p>
            <a:p>
              <a:pPr indent="-249803" lvl="2" marL="74941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⚬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CHỜ DUYỆT NỘI DUNG VÀ NGÂN SÁCH LÂU</a:t>
              </a:r>
              <a:endParaRPr/>
            </a:p>
            <a:p>
              <a:pPr indent="-249803" lvl="2" marL="74941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1735"/>
                <a:buFont typeface="Arial"/>
                <a:buChar char="⚬"/>
              </a:pPr>
              <a:r>
                <a:rPr b="0" i="0" lang="en-US" sz="17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TÍCH QUÁ SÂU CÁC CHIẾN DỊCH NHỎ GÂY MẤT CÂN BẰNG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35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35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219" name="Google Shape;219;p10"/>
          <p:cNvSpPr txBox="1"/>
          <p:nvPr/>
        </p:nvSpPr>
        <p:spPr>
          <a:xfrm>
            <a:off x="1418722" y="8722393"/>
            <a:ext cx="7165867" cy="995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BPMN Quản lý chiến dịch marketing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15016715" y="8276702"/>
            <a:ext cx="3978481" cy="2488359"/>
          </a:xfrm>
          <a:custGeom>
            <a:rect b="b" l="l" r="r" t="t"/>
            <a:pathLst>
              <a:path extrusionOk="0" h="2488359" w="3978481">
                <a:moveTo>
                  <a:pt x="0" y="0"/>
                </a:moveTo>
                <a:lnTo>
                  <a:pt x="3978481" y="0"/>
                </a:lnTo>
                <a:lnTo>
                  <a:pt x="3978481" y="2488359"/>
                </a:lnTo>
                <a:lnTo>
                  <a:pt x="0" y="2488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DDD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/>
        </p:nvSpPr>
        <p:spPr>
          <a:xfrm>
            <a:off x="3303694" y="1150814"/>
            <a:ext cx="13738998" cy="609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4 – LẬP KẾ HOẠCH BÁN HÀNG</a:t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3686137" y="4816052"/>
            <a:ext cx="2401669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Dự báo nhu cầu bằng mô hình hoặc ước lượng kinh nghiệm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369298" y="4811860"/>
            <a:ext cx="2459408" cy="25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Bắt đầu bằng việc thu thập dữ liệu: doanh thu lịch sử, xu hướng, hàng tồn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6636967" y="4816052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Phân rã chỉ tiêu theo: danh mục, kênh bán, khu vực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9648825" y="4816052"/>
            <a:ext cx="2680634" cy="25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Họp để phối hợp các bộ phận: sản phẩm, tồn kho, marketing, tài chính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12520827" y="4816052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Tổng hợp thành kế hoạch → Ban lãnh đạo phê duyệt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231" name="Google Shape;231;p11"/>
          <p:cNvGrpSpPr/>
          <p:nvPr/>
        </p:nvGrpSpPr>
        <p:grpSpPr>
          <a:xfrm>
            <a:off x="1500880" y="2803923"/>
            <a:ext cx="12249651" cy="650107"/>
            <a:chOff x="0" y="-85725"/>
            <a:chExt cx="16332868" cy="866810"/>
          </a:xfrm>
        </p:grpSpPr>
        <p:sp>
          <p:nvSpPr>
            <p:cNvPr id="232" name="Google Shape;232;p11"/>
            <p:cNvSpPr txBox="1"/>
            <p:nvPr/>
          </p:nvSpPr>
          <p:spPr>
            <a:xfrm>
              <a:off x="0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1</a:t>
              </a:r>
              <a:endParaRPr/>
            </a:p>
          </p:txBody>
        </p:sp>
        <p:sp>
          <p:nvSpPr>
            <p:cNvPr id="233" name="Google Shape;233;p11"/>
            <p:cNvSpPr txBox="1"/>
            <p:nvPr/>
          </p:nvSpPr>
          <p:spPr>
            <a:xfrm>
              <a:off x="3997228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2</a:t>
              </a:r>
              <a:endParaRPr/>
            </a:p>
          </p:txBody>
        </p:sp>
        <p:sp>
          <p:nvSpPr>
            <p:cNvPr id="234" name="Google Shape;234;p11"/>
            <p:cNvSpPr txBox="1"/>
            <p:nvPr/>
          </p:nvSpPr>
          <p:spPr>
            <a:xfrm>
              <a:off x="7798615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3</a:t>
              </a:r>
              <a:endParaRPr/>
            </a:p>
          </p:txBody>
        </p:sp>
        <p:sp>
          <p:nvSpPr>
            <p:cNvPr id="235" name="Google Shape;235;p11"/>
            <p:cNvSpPr txBox="1"/>
            <p:nvPr/>
          </p:nvSpPr>
          <p:spPr>
            <a:xfrm>
              <a:off x="11943045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4</a:t>
              </a:r>
              <a:endParaRPr/>
            </a:p>
          </p:txBody>
        </p:sp>
        <p:sp>
          <p:nvSpPr>
            <p:cNvPr id="236" name="Google Shape;236;p11"/>
            <p:cNvSpPr txBox="1"/>
            <p:nvPr/>
          </p:nvSpPr>
          <p:spPr>
            <a:xfrm>
              <a:off x="15630048" y="-85725"/>
              <a:ext cx="702820" cy="8668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5</a:t>
              </a:r>
              <a:endParaRPr/>
            </a:p>
          </p:txBody>
        </p:sp>
        <p:cxnSp>
          <p:nvCxnSpPr>
            <p:cNvPr id="237" name="Google Shape;237;p11"/>
            <p:cNvCxnSpPr/>
            <p:nvPr/>
          </p:nvCxnSpPr>
          <p:spPr>
            <a:xfrm>
              <a:off x="702820" y="345423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1"/>
            <p:cNvCxnSpPr/>
            <p:nvPr/>
          </p:nvCxnSpPr>
          <p:spPr>
            <a:xfrm>
              <a:off x="4715212" y="334328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11"/>
            <p:cNvCxnSpPr/>
            <p:nvPr/>
          </p:nvCxnSpPr>
          <p:spPr>
            <a:xfrm>
              <a:off x="8719046" y="334328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12546645" y="334328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1" name="Google Shape;241;p11"/>
          <p:cNvGrpSpPr/>
          <p:nvPr/>
        </p:nvGrpSpPr>
        <p:grpSpPr>
          <a:xfrm>
            <a:off x="13750531" y="2803923"/>
            <a:ext cx="2941337" cy="648969"/>
            <a:chOff x="0" y="-85725"/>
            <a:chExt cx="3921784" cy="865292"/>
          </a:xfrm>
        </p:grpSpPr>
        <p:sp>
          <p:nvSpPr>
            <p:cNvPr id="242" name="Google Shape;242;p11"/>
            <p:cNvSpPr txBox="1"/>
            <p:nvPr/>
          </p:nvSpPr>
          <p:spPr>
            <a:xfrm>
              <a:off x="3230246" y="-85725"/>
              <a:ext cx="691538" cy="865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843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6</a:t>
              </a:r>
              <a:endParaRPr/>
            </a:p>
          </p:txBody>
        </p:sp>
        <p:cxnSp>
          <p:nvCxnSpPr>
            <p:cNvPr id="243" name="Google Shape;243;p11"/>
            <p:cNvCxnSpPr/>
            <p:nvPr/>
          </p:nvCxnSpPr>
          <p:spPr>
            <a:xfrm>
              <a:off x="0" y="362065"/>
              <a:ext cx="3083403" cy="0"/>
            </a:xfrm>
            <a:prstGeom prst="straightConnector1">
              <a:avLst/>
            </a:prstGeom>
            <a:noFill/>
            <a:ln cap="flat" cmpd="sng" w="33275">
              <a:solidFill>
                <a:srgbClr val="2B4B8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4" name="Google Shape;244;p11"/>
          <p:cNvSpPr txBox="1"/>
          <p:nvPr/>
        </p:nvSpPr>
        <p:spPr>
          <a:xfrm>
            <a:off x="15427910" y="4816052"/>
            <a:ext cx="2459408" cy="2118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Cập nhật hệ thống và theo dõi điều chỉnh theo tuần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896" y="0"/>
            <a:ext cx="3297798" cy="3321958"/>
          </a:xfrm>
          <a:custGeom>
            <a:rect b="b" l="l" r="r" t="t"/>
            <a:pathLst>
              <a:path extrusionOk="0" h="3321958" w="3297798">
                <a:moveTo>
                  <a:pt x="0" y="0"/>
                </a:moveTo>
                <a:lnTo>
                  <a:pt x="3297798" y="0"/>
                </a:lnTo>
                <a:lnTo>
                  <a:pt x="3297798" y="3321958"/>
                </a:lnTo>
                <a:lnTo>
                  <a:pt x="0" y="3321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10729584" y="8896676"/>
            <a:ext cx="2645731" cy="1625922"/>
          </a:xfrm>
          <a:custGeom>
            <a:rect b="b" l="l" r="r" t="t"/>
            <a:pathLst>
              <a:path extrusionOk="0" h="1625922" w="2645731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2"/>
          <p:cNvSpPr/>
          <p:nvPr/>
        </p:nvSpPr>
        <p:spPr>
          <a:xfrm>
            <a:off x="17095524" y="8494319"/>
            <a:ext cx="1491622" cy="3229890"/>
          </a:xfrm>
          <a:custGeom>
            <a:rect b="b" l="l" r="r" t="t"/>
            <a:pathLst>
              <a:path extrusionOk="0" h="3229890" w="1491622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2"/>
          <p:cNvSpPr/>
          <p:nvPr/>
        </p:nvSpPr>
        <p:spPr>
          <a:xfrm flipH="1">
            <a:off x="-1799649" y="8688237"/>
            <a:ext cx="4597438" cy="2842053"/>
          </a:xfrm>
          <a:custGeom>
            <a:rect b="b" l="l" r="r" t="t"/>
            <a:pathLst>
              <a:path extrusionOk="0" h="2842053" w="4597438">
                <a:moveTo>
                  <a:pt x="4597439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9" y="2842053"/>
                </a:lnTo>
                <a:lnTo>
                  <a:pt x="4597439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2"/>
          <p:cNvSpPr/>
          <p:nvPr/>
        </p:nvSpPr>
        <p:spPr>
          <a:xfrm>
            <a:off x="0" y="497034"/>
            <a:ext cx="12750879" cy="8399642"/>
          </a:xfrm>
          <a:custGeom>
            <a:rect b="b" l="l" r="r" t="t"/>
            <a:pathLst>
              <a:path extrusionOk="0" h="8399642" w="12750879">
                <a:moveTo>
                  <a:pt x="0" y="0"/>
                </a:moveTo>
                <a:lnTo>
                  <a:pt x="12750879" y="0"/>
                </a:lnTo>
                <a:lnTo>
                  <a:pt x="12750879" y="8399642"/>
                </a:lnTo>
                <a:lnTo>
                  <a:pt x="0" y="83996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2"/>
          <p:cNvSpPr txBox="1"/>
          <p:nvPr/>
        </p:nvSpPr>
        <p:spPr>
          <a:xfrm>
            <a:off x="12803285" y="2045876"/>
            <a:ext cx="5484715" cy="491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PHÂN TÍCH KẾ HOẠCH BÁN HÀNG</a:t>
            </a:r>
            <a:endParaRPr/>
          </a:p>
          <a:p>
            <a:pPr indent="-254555" lvl="1" marL="509109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•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Thời gian xử lý: 240 phút/kỳ kế hoạch</a:t>
            </a:r>
            <a:endParaRPr/>
          </a:p>
          <a:p>
            <a:pPr indent="-254555" lvl="1" marL="509109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•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Chi phí nhân sự: ~1.62 triệu/lượt</a:t>
            </a:r>
            <a:endParaRPr/>
          </a:p>
          <a:p>
            <a:pPr indent="-254555" lvl="1" marL="509109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•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Ưu điểm:</a:t>
            </a:r>
            <a:endParaRPr/>
          </a:p>
          <a:p>
            <a:pPr indent="-339406" lvl="2" marL="1018218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⚬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Tăng tỷ lệ đạt KPI bán hàng &gt;90%</a:t>
            </a:r>
            <a:endParaRPr/>
          </a:p>
          <a:p>
            <a:pPr indent="-339406" lvl="2" marL="1018218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⚬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Đồng bộ nhiều bộ phận giúp điều phối tốt hơn</a:t>
            </a:r>
            <a:endParaRPr/>
          </a:p>
          <a:p>
            <a:pPr indent="-254555" lvl="1" marL="509109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•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Hạn chế:</a:t>
            </a:r>
            <a:endParaRPr/>
          </a:p>
          <a:p>
            <a:pPr indent="-339406" lvl="2" marL="1018218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⚬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Chờ duyệt từ cấp quản lý, dễ trễ tiến độ</a:t>
            </a:r>
            <a:endParaRPr/>
          </a:p>
          <a:p>
            <a:pPr indent="-339406" lvl="2" marL="1018218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Clr>
                <a:srgbClr val="94DDDE"/>
              </a:buClr>
              <a:buSzPts val="2358"/>
              <a:buFont typeface="Arial"/>
              <a:buChar char="⚬"/>
            </a:pPr>
            <a:r>
              <a:rPr b="1" i="0" lang="en-US" sz="2358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Phụ thuộc chất lượng forecast và nguồn dữ liệu</a:t>
            </a:r>
            <a:endParaRPr/>
          </a:p>
          <a:p>
            <a:pPr indent="0" lvl="0" marL="0" marR="0" rtl="0" algn="l">
              <a:lnSpc>
                <a:spcPct val="108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58" u="none" cap="none" strike="noStrike">
              <a:solidFill>
                <a:srgbClr val="94DDD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-167506" y="-2387785"/>
            <a:ext cx="3489749" cy="2861594"/>
          </a:xfrm>
          <a:custGeom>
            <a:rect b="b" l="l" r="r" t="t"/>
            <a:pathLst>
              <a:path extrusionOk="0" h="2861594" w="3489749">
                <a:moveTo>
                  <a:pt x="0" y="0"/>
                </a:moveTo>
                <a:lnTo>
                  <a:pt x="3489749" y="0"/>
                </a:lnTo>
                <a:lnTo>
                  <a:pt x="3489749" y="2861593"/>
                </a:lnTo>
                <a:lnTo>
                  <a:pt x="0" y="2861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3"/>
          <p:cNvSpPr/>
          <p:nvPr/>
        </p:nvSpPr>
        <p:spPr>
          <a:xfrm>
            <a:off x="-2476833" y="6656926"/>
            <a:ext cx="4618653" cy="4114800"/>
          </a:xfrm>
          <a:custGeom>
            <a:rect b="b" l="l" r="r" t="t"/>
            <a:pathLst>
              <a:path extrusionOk="0" h="4114800" w="4618653">
                <a:moveTo>
                  <a:pt x="0" y="0"/>
                </a:moveTo>
                <a:lnTo>
                  <a:pt x="4618654" y="0"/>
                </a:lnTo>
                <a:lnTo>
                  <a:pt x="4618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3"/>
          <p:cNvSpPr txBox="1"/>
          <p:nvPr/>
        </p:nvSpPr>
        <p:spPr>
          <a:xfrm>
            <a:off x="2695231" y="2092051"/>
            <a:ext cx="3686751" cy="10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Nhân viên nội bộ gửi yêu cầu hỗ trợ IT qua hệ thống hoặc biểu mẫu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6263324" y="4616993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Helpdesk xác định phạm vi yêu cầu và tính hợp lệ</a:t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11790113" y="1569316"/>
            <a:ext cx="3968562" cy="10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nằm ngoài SLA hoặc ngoài giờ làm việc → thông báo tự động kết thúc quy trình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11997763" y="4616993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yêu cầu hợp lệ → phân loại mức độ ưu tiên (P1, P2, P3)</a:t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11997763" y="6721679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Kiểm tra khả năng hỗ trợ từ xa: nếu được → thực hiện xử lý</a:t>
            </a:r>
            <a:endParaRPr/>
          </a:p>
        </p:txBody>
      </p:sp>
      <p:sp>
        <p:nvSpPr>
          <p:cNvPr id="266" name="Google Shape;266;p13"/>
          <p:cNvSpPr txBox="1"/>
          <p:nvPr/>
        </p:nvSpPr>
        <p:spPr>
          <a:xfrm>
            <a:off x="2695231" y="6540541"/>
            <a:ext cx="3968562" cy="10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không thể xử lý từ xa → chuyển đến bộ phận kỹ thuật chuyên sâu</a:t>
            </a:r>
            <a:endParaRPr/>
          </a:p>
        </p:txBody>
      </p:sp>
      <p:sp>
        <p:nvSpPr>
          <p:cNvPr id="267" name="Google Shape;267;p13"/>
          <p:cNvSpPr txBox="1"/>
          <p:nvPr/>
        </p:nvSpPr>
        <p:spPr>
          <a:xfrm>
            <a:off x="6263324" y="8810029"/>
            <a:ext cx="3968562" cy="10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Sau khi xử lý → cập nhật hệ thống → gửi phản hồi cho nhân viên</a:t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11997763" y="9327388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Gửi khảo sát đánh giá chất lượng dịch vụ</a:t>
            </a:r>
            <a:endParaRPr/>
          </a:p>
        </p:txBody>
      </p:sp>
      <p:cxnSp>
        <p:nvCxnSpPr>
          <p:cNvPr id="269" name="Google Shape;269;p13"/>
          <p:cNvCxnSpPr/>
          <p:nvPr/>
        </p:nvCxnSpPr>
        <p:spPr>
          <a:xfrm flipH="1" rot="10800000">
            <a:off x="6381982" y="2124775"/>
            <a:ext cx="5408131" cy="52273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0" name="Google Shape;270;p13"/>
          <p:cNvCxnSpPr/>
          <p:nvPr/>
        </p:nvCxnSpPr>
        <p:spPr>
          <a:xfrm flipH="1" rot="10800000">
            <a:off x="8247605" y="2642135"/>
            <a:ext cx="5526788" cy="201295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71" name="Google Shape;271;p13"/>
          <p:cNvCxnSpPr/>
          <p:nvPr/>
        </p:nvCxnSpPr>
        <p:spPr>
          <a:xfrm>
            <a:off x="10231886" y="4991315"/>
            <a:ext cx="1765877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2" name="Google Shape;272;p13"/>
          <p:cNvCxnSpPr/>
          <p:nvPr/>
        </p:nvCxnSpPr>
        <p:spPr>
          <a:xfrm>
            <a:off x="13982044" y="5327536"/>
            <a:ext cx="0" cy="143224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3" name="Google Shape;273;p13"/>
          <p:cNvCxnSpPr/>
          <p:nvPr/>
        </p:nvCxnSpPr>
        <p:spPr>
          <a:xfrm>
            <a:off x="6663792" y="7096001"/>
            <a:ext cx="533397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74" name="Google Shape;274;p13"/>
          <p:cNvCxnSpPr/>
          <p:nvPr/>
        </p:nvCxnSpPr>
        <p:spPr>
          <a:xfrm>
            <a:off x="4679512" y="7613360"/>
            <a:ext cx="1583813" cy="175212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5" name="Google Shape;275;p13"/>
          <p:cNvCxnSpPr/>
          <p:nvPr/>
        </p:nvCxnSpPr>
        <p:spPr>
          <a:xfrm>
            <a:off x="10231886" y="9365488"/>
            <a:ext cx="1765877" cy="60320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6" name="Google Shape;276;p13"/>
          <p:cNvSpPr txBox="1"/>
          <p:nvPr/>
        </p:nvSpPr>
        <p:spPr>
          <a:xfrm>
            <a:off x="2695231" y="425905"/>
            <a:ext cx="10403106" cy="613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35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5 – IT HELPDESK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4"/>
          <p:cNvGrpSpPr/>
          <p:nvPr/>
        </p:nvGrpSpPr>
        <p:grpSpPr>
          <a:xfrm>
            <a:off x="1028700" y="7467571"/>
            <a:ext cx="10735751" cy="1949701"/>
            <a:chOff x="0" y="-63500"/>
            <a:chExt cx="14314334" cy="2599601"/>
          </a:xfrm>
        </p:grpSpPr>
        <p:sp>
          <p:nvSpPr>
            <p:cNvPr id="282" name="Google Shape;282;p14"/>
            <p:cNvSpPr txBox="1"/>
            <p:nvPr/>
          </p:nvSpPr>
          <p:spPr>
            <a:xfrm>
              <a:off x="0" y="-63500"/>
              <a:ext cx="14314334" cy="1076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62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0" y="1913422"/>
              <a:ext cx="14314334" cy="622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BPMN QUY TRÌNH IT HELPDESK</a:t>
              </a:r>
              <a:endParaRPr/>
            </a:p>
          </p:txBody>
        </p:sp>
      </p:grpSp>
      <p:sp>
        <p:nvSpPr>
          <p:cNvPr id="284" name="Google Shape;284;p14"/>
          <p:cNvSpPr/>
          <p:nvPr/>
        </p:nvSpPr>
        <p:spPr>
          <a:xfrm rot="2230912">
            <a:off x="16454466" y="8434918"/>
            <a:ext cx="1609668" cy="2479881"/>
          </a:xfrm>
          <a:custGeom>
            <a:rect b="b" l="l" r="r" t="t"/>
            <a:pathLst>
              <a:path extrusionOk="0" h="2479881" w="1609668">
                <a:moveTo>
                  <a:pt x="0" y="0"/>
                </a:moveTo>
                <a:lnTo>
                  <a:pt x="1609668" y="0"/>
                </a:lnTo>
                <a:lnTo>
                  <a:pt x="1609668" y="2479881"/>
                </a:lnTo>
                <a:lnTo>
                  <a:pt x="0" y="2479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4"/>
          <p:cNvSpPr/>
          <p:nvPr/>
        </p:nvSpPr>
        <p:spPr>
          <a:xfrm>
            <a:off x="0" y="0"/>
            <a:ext cx="18288000" cy="8389620"/>
          </a:xfrm>
          <a:custGeom>
            <a:rect b="b" l="l" r="r" t="t"/>
            <a:pathLst>
              <a:path extrusionOk="0" h="8389620" w="18288000">
                <a:moveTo>
                  <a:pt x="0" y="0"/>
                </a:moveTo>
                <a:lnTo>
                  <a:pt x="18288000" y="0"/>
                </a:lnTo>
                <a:lnTo>
                  <a:pt x="18288000" y="8389620"/>
                </a:lnTo>
                <a:lnTo>
                  <a:pt x="0" y="83896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4DDDE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5"/>
          <p:cNvGrpSpPr/>
          <p:nvPr/>
        </p:nvGrpSpPr>
        <p:grpSpPr>
          <a:xfrm>
            <a:off x="305595" y="651042"/>
            <a:ext cx="11438661" cy="8607258"/>
            <a:chOff x="0" y="177588"/>
            <a:chExt cx="15251549" cy="11476344"/>
          </a:xfrm>
        </p:grpSpPr>
        <p:sp>
          <p:nvSpPr>
            <p:cNvPr id="291" name="Google Shape;291;p15"/>
            <p:cNvSpPr txBox="1"/>
            <p:nvPr/>
          </p:nvSpPr>
          <p:spPr>
            <a:xfrm>
              <a:off x="0" y="177588"/>
              <a:ext cx="15251549" cy="2711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3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TÍCH QUY TRÌNH IT HELPDESK</a:t>
              </a:r>
              <a:endParaRPr/>
            </a:p>
          </p:txBody>
        </p:sp>
        <p:sp>
          <p:nvSpPr>
            <p:cNvPr id="292" name="Google Shape;292;p15"/>
            <p:cNvSpPr txBox="1"/>
            <p:nvPr/>
          </p:nvSpPr>
          <p:spPr>
            <a:xfrm>
              <a:off x="0" y="3864687"/>
              <a:ext cx="15251549" cy="7789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1" marL="6477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Thời gian xử lý trung bình: 76 phút/yêu cầu</a:t>
              </a:r>
              <a:endParaRPr/>
            </a:p>
            <a:p>
              <a:pPr indent="-323850" lvl="1" marL="6477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Hiệu suất thời gian đạt: 95%</a:t>
              </a:r>
              <a:endParaRPr/>
            </a:p>
            <a:p>
              <a:pPr indent="-323850" lvl="1" marL="6477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Chi phí trung bình: ~204.000 VNĐ/yêu cầu</a:t>
              </a:r>
              <a:endParaRPr/>
            </a:p>
            <a:p>
              <a:pPr indent="-323850" lvl="1" marL="6477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Ưu điểm:</a:t>
              </a:r>
              <a:endParaRPr/>
            </a:p>
            <a:p>
              <a:pPr indent="-431800" lvl="2" marL="12954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⚬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Có SLA rõ ràng, quy trình phân tuyến tốt</a:t>
              </a:r>
              <a:endParaRPr/>
            </a:p>
            <a:p>
              <a:pPr indent="-431800" lvl="2" marL="12954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⚬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Hỗ trợ linh hoạt từ xa hoặc trực tiếp</a:t>
              </a:r>
              <a:endParaRPr/>
            </a:p>
            <a:p>
              <a:pPr indent="-323850" lvl="1" marL="6477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Hạn chế:</a:t>
              </a:r>
              <a:endParaRPr/>
            </a:p>
            <a:p>
              <a:pPr indent="-431800" lvl="2" marL="12954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3000"/>
                <a:buFont typeface="Arial"/>
                <a:buChar char="⚬"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Vòng lặp yêu cầu bổ sung thông tin gây mất thời gian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Thiếu mẫu chuẩn đầu vào → khó đánh giá chính xác ngay ban đầu</a:t>
              </a:r>
              <a:endParaRPr/>
            </a:p>
          </p:txBody>
        </p:sp>
      </p:grpSp>
      <p:sp>
        <p:nvSpPr>
          <p:cNvPr id="293" name="Google Shape;293;p15"/>
          <p:cNvSpPr/>
          <p:nvPr/>
        </p:nvSpPr>
        <p:spPr>
          <a:xfrm>
            <a:off x="9854137" y="3018272"/>
            <a:ext cx="7411325" cy="4635447"/>
          </a:xfrm>
          <a:custGeom>
            <a:rect b="b" l="l" r="r" t="t"/>
            <a:pathLst>
              <a:path extrusionOk="0" h="4635447" w="7411325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5"/>
          <p:cNvSpPr/>
          <p:nvPr/>
        </p:nvSpPr>
        <p:spPr>
          <a:xfrm>
            <a:off x="8665100" y="8613636"/>
            <a:ext cx="4338720" cy="2713672"/>
          </a:xfrm>
          <a:custGeom>
            <a:rect b="b" l="l" r="r" t="t"/>
            <a:pathLst>
              <a:path extrusionOk="0" h="2713672" w="4338720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5"/>
          <p:cNvSpPr/>
          <p:nvPr/>
        </p:nvSpPr>
        <p:spPr>
          <a:xfrm>
            <a:off x="13976014" y="7483497"/>
            <a:ext cx="3289448" cy="2057400"/>
          </a:xfrm>
          <a:custGeom>
            <a:rect b="b" l="l" r="r" t="t"/>
            <a:pathLst>
              <a:path extrusionOk="0"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5"/>
          <p:cNvSpPr/>
          <p:nvPr/>
        </p:nvSpPr>
        <p:spPr>
          <a:xfrm>
            <a:off x="13320348" y="712171"/>
            <a:ext cx="3289448" cy="2057400"/>
          </a:xfrm>
          <a:custGeom>
            <a:rect b="b" l="l" r="r" t="t"/>
            <a:pathLst>
              <a:path extrusionOk="0"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-167506" y="-2387785"/>
            <a:ext cx="3489749" cy="2861594"/>
          </a:xfrm>
          <a:custGeom>
            <a:rect b="b" l="l" r="r" t="t"/>
            <a:pathLst>
              <a:path extrusionOk="0" h="2861594" w="3489749">
                <a:moveTo>
                  <a:pt x="0" y="0"/>
                </a:moveTo>
                <a:lnTo>
                  <a:pt x="3489749" y="0"/>
                </a:lnTo>
                <a:lnTo>
                  <a:pt x="3489749" y="2861593"/>
                </a:lnTo>
                <a:lnTo>
                  <a:pt x="0" y="2861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16"/>
          <p:cNvSpPr/>
          <p:nvPr/>
        </p:nvSpPr>
        <p:spPr>
          <a:xfrm>
            <a:off x="-2476833" y="6656926"/>
            <a:ext cx="4618653" cy="4114800"/>
          </a:xfrm>
          <a:custGeom>
            <a:rect b="b" l="l" r="r" t="t"/>
            <a:pathLst>
              <a:path extrusionOk="0" h="4114800" w="4618653">
                <a:moveTo>
                  <a:pt x="0" y="0"/>
                </a:moveTo>
                <a:lnTo>
                  <a:pt x="4618654" y="0"/>
                </a:lnTo>
                <a:lnTo>
                  <a:pt x="4618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6"/>
          <p:cNvSpPr txBox="1"/>
          <p:nvPr/>
        </p:nvSpPr>
        <p:spPr>
          <a:xfrm>
            <a:off x="2333106" y="1905538"/>
            <a:ext cx="3686751" cy="1435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Bắt đầu từ việc thu thập nhu cầu nhập hàng từ tồn kho, chiến dịch mới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51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6263324" y="4435855"/>
            <a:ext cx="3968562" cy="10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Đánh giá sơ bộ: hồ sơ pháp lý, điều kiện thương mại, năng lực cung ứng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11790113" y="1388178"/>
            <a:ext cx="3968562" cy="1435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chưa có NCC phù hợp → tìm kiếm từ hội chợ, sàn B2B, chào hàng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51" u="none" cap="none" strike="noStrike">
              <a:solidFill>
                <a:srgbClr val="2B4B8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11997763" y="4616993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Gửi yêu cầu báo giá → đàm phán các điều khoản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11997763" y="6721679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thành công → lập hợp đồng khung hoặc PO đầu tiên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2695231" y="6721679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Thử nghiệm đơn hàng (Pilot Order), QC kiểm tra chất lượng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6263324" y="8991166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Nếu đạt yêu cầu → đưa vào danh sách NCC chính thức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11997763" y="9327388"/>
            <a:ext cx="3968562" cy="71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1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Theo dõi hiệu suất định kỳ: OTIF, tỷ lệ lỗi, phản hồi</a:t>
            </a:r>
            <a:endParaRPr/>
          </a:p>
        </p:txBody>
      </p:sp>
      <p:cxnSp>
        <p:nvCxnSpPr>
          <p:cNvPr id="311" name="Google Shape;311;p16"/>
          <p:cNvCxnSpPr/>
          <p:nvPr/>
        </p:nvCxnSpPr>
        <p:spPr>
          <a:xfrm flipH="1" rot="10800000">
            <a:off x="6019857" y="2124775"/>
            <a:ext cx="5770256" cy="517359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2" name="Google Shape;312;p16"/>
          <p:cNvCxnSpPr/>
          <p:nvPr/>
        </p:nvCxnSpPr>
        <p:spPr>
          <a:xfrm flipH="1" rot="10800000">
            <a:off x="8247605" y="2823272"/>
            <a:ext cx="5526788" cy="1650683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13" name="Google Shape;313;p16"/>
          <p:cNvCxnSpPr/>
          <p:nvPr/>
        </p:nvCxnSpPr>
        <p:spPr>
          <a:xfrm>
            <a:off x="10231886" y="4991315"/>
            <a:ext cx="1765877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4" name="Google Shape;314;p16"/>
          <p:cNvCxnSpPr/>
          <p:nvPr/>
        </p:nvCxnSpPr>
        <p:spPr>
          <a:xfrm>
            <a:off x="13982044" y="5327536"/>
            <a:ext cx="0" cy="143224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5" name="Google Shape;315;p16"/>
          <p:cNvCxnSpPr/>
          <p:nvPr/>
        </p:nvCxnSpPr>
        <p:spPr>
          <a:xfrm>
            <a:off x="6663792" y="7096001"/>
            <a:ext cx="533397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16" name="Google Shape;316;p16"/>
          <p:cNvCxnSpPr/>
          <p:nvPr/>
        </p:nvCxnSpPr>
        <p:spPr>
          <a:xfrm>
            <a:off x="4679512" y="7432222"/>
            <a:ext cx="1583813" cy="193326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7" name="Google Shape;317;p16"/>
          <p:cNvCxnSpPr/>
          <p:nvPr/>
        </p:nvCxnSpPr>
        <p:spPr>
          <a:xfrm>
            <a:off x="10231886" y="9365488"/>
            <a:ext cx="1765877" cy="60320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8" name="Google Shape;318;p16"/>
          <p:cNvSpPr txBox="1"/>
          <p:nvPr/>
        </p:nvSpPr>
        <p:spPr>
          <a:xfrm>
            <a:off x="2695231" y="425905"/>
            <a:ext cx="15126469" cy="613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35" u="none" cap="none" strike="noStrike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 6 – QUẢN LÝ NHÀ CUNG CẤP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17"/>
          <p:cNvGrpSpPr/>
          <p:nvPr/>
        </p:nvGrpSpPr>
        <p:grpSpPr>
          <a:xfrm>
            <a:off x="1028700" y="7467571"/>
            <a:ext cx="10735751" cy="1949701"/>
            <a:chOff x="0" y="-63500"/>
            <a:chExt cx="14314334" cy="2599601"/>
          </a:xfrm>
        </p:grpSpPr>
        <p:sp>
          <p:nvSpPr>
            <p:cNvPr id="324" name="Google Shape;324;p17"/>
            <p:cNvSpPr txBox="1"/>
            <p:nvPr/>
          </p:nvSpPr>
          <p:spPr>
            <a:xfrm>
              <a:off x="0" y="-63500"/>
              <a:ext cx="14314334" cy="1076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62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7"/>
            <p:cNvSpPr txBox="1"/>
            <p:nvPr/>
          </p:nvSpPr>
          <p:spPr>
            <a:xfrm>
              <a:off x="0" y="1913422"/>
              <a:ext cx="14314334" cy="622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BPMN QUẢN LÝ NHÀ CUNG CẤP</a:t>
              </a:r>
              <a:endParaRPr/>
            </a:p>
          </p:txBody>
        </p:sp>
      </p:grpSp>
      <p:sp>
        <p:nvSpPr>
          <p:cNvPr id="326" name="Google Shape;326;p17"/>
          <p:cNvSpPr/>
          <p:nvPr/>
        </p:nvSpPr>
        <p:spPr>
          <a:xfrm rot="2230912">
            <a:off x="16454466" y="8434918"/>
            <a:ext cx="1609668" cy="2479881"/>
          </a:xfrm>
          <a:custGeom>
            <a:rect b="b" l="l" r="r" t="t"/>
            <a:pathLst>
              <a:path extrusionOk="0" h="2479881" w="1609668">
                <a:moveTo>
                  <a:pt x="0" y="0"/>
                </a:moveTo>
                <a:lnTo>
                  <a:pt x="1609668" y="0"/>
                </a:lnTo>
                <a:lnTo>
                  <a:pt x="1609668" y="2479881"/>
                </a:lnTo>
                <a:lnTo>
                  <a:pt x="0" y="2479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17"/>
          <p:cNvSpPr/>
          <p:nvPr/>
        </p:nvSpPr>
        <p:spPr>
          <a:xfrm>
            <a:off x="0" y="0"/>
            <a:ext cx="18288000" cy="5946175"/>
          </a:xfrm>
          <a:custGeom>
            <a:rect b="b" l="l" r="r" t="t"/>
            <a:pathLst>
              <a:path extrusionOk="0" h="5946175" w="18288000">
                <a:moveTo>
                  <a:pt x="0" y="0"/>
                </a:moveTo>
                <a:lnTo>
                  <a:pt x="18288000" y="0"/>
                </a:lnTo>
                <a:lnTo>
                  <a:pt x="18288000" y="5946175"/>
                </a:lnTo>
                <a:lnTo>
                  <a:pt x="0" y="5946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646" l="0" r="0" t="0"/>
            </a:stretch>
          </a:blipFill>
          <a:ln>
            <a:noFill/>
          </a:ln>
        </p:spPr>
      </p:sp>
      <p:sp>
        <p:nvSpPr>
          <p:cNvPr id="328" name="Google Shape;328;p17"/>
          <p:cNvSpPr/>
          <p:nvPr/>
        </p:nvSpPr>
        <p:spPr>
          <a:xfrm>
            <a:off x="8758864" y="6971110"/>
            <a:ext cx="6414740" cy="6631780"/>
          </a:xfrm>
          <a:custGeom>
            <a:rect b="b" l="l" r="r" t="t"/>
            <a:pathLst>
              <a:path extrusionOk="0" h="6631780" w="641474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A6A6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8"/>
          <p:cNvGrpSpPr/>
          <p:nvPr/>
        </p:nvGrpSpPr>
        <p:grpSpPr>
          <a:xfrm>
            <a:off x="1028700" y="1021556"/>
            <a:ext cx="15628259" cy="5072123"/>
            <a:chOff x="0" y="-9525"/>
            <a:chExt cx="20837679" cy="6762831"/>
          </a:xfrm>
        </p:grpSpPr>
        <p:sp>
          <p:nvSpPr>
            <p:cNvPr id="334" name="Google Shape;334;p18"/>
            <p:cNvSpPr txBox="1"/>
            <p:nvPr/>
          </p:nvSpPr>
          <p:spPr>
            <a:xfrm>
              <a:off x="0" y="-9525"/>
              <a:ext cx="20837679" cy="881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306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TÍCH QUY TRÌNH NHÀ CUNG CẤP</a:t>
              </a:r>
              <a:endParaRPr/>
            </a:p>
          </p:txBody>
        </p:sp>
        <p:sp>
          <p:nvSpPr>
            <p:cNvPr id="335" name="Google Shape;335;p18"/>
            <p:cNvSpPr txBox="1"/>
            <p:nvPr/>
          </p:nvSpPr>
          <p:spPr>
            <a:xfrm>
              <a:off x="0" y="1862377"/>
              <a:ext cx="20837679" cy="4890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TỔNG THỜI GIAN XỬ LÝ: ~510 PHÚT/LƯỢT ĐÁNH GIÁ NCC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CHI PHÍ TRUNG BÌNH: ~2.94 TRIỆU VNĐ/LƯỢT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ƯU ĐIỂM: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HỆ THỐNG ĐÁNH GIÁ MINH BẠCH: PILOT ORDER, SCORECARD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TĂNG OTIF TỪ 70% → 92%, GIẢM ĐƠN HÀNG LỖI TỪ 8% → 3%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NHƯỢC ĐIỂM: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PHẢN HỒI CHẬM TỪ NCC, THIẾU CHUẨN HÓA HỒ SƠ</a:t>
              </a:r>
              <a:endParaRPr/>
            </a:p>
            <a:p>
              <a:pPr indent="-252132" lvl="1" marL="504265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B82"/>
                </a:buClr>
                <a:buSzPts val="2335"/>
                <a:buFont typeface="Arial"/>
                <a:buChar char="•"/>
              </a:pPr>
              <a:r>
                <a:rPr b="0" i="0" lang="en-US" sz="2335" u="none" cap="none" strike="noStrike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PHỤ THUỘC ĐÁNH GIÁ CẢM TÍNH NẾU KHÔNG CÓ DỮ LIỆU LỊCH SỬ</a:t>
              </a:r>
              <a:endParaRPr/>
            </a:p>
          </p:txBody>
        </p:sp>
      </p:grpSp>
      <p:sp>
        <p:nvSpPr>
          <p:cNvPr id="336" name="Google Shape;336;p18"/>
          <p:cNvSpPr/>
          <p:nvPr/>
        </p:nvSpPr>
        <p:spPr>
          <a:xfrm>
            <a:off x="15016715" y="8276702"/>
            <a:ext cx="3978481" cy="2488359"/>
          </a:xfrm>
          <a:custGeom>
            <a:rect b="b" l="l" r="r" t="t"/>
            <a:pathLst>
              <a:path extrusionOk="0" h="2488359" w="3978481">
                <a:moveTo>
                  <a:pt x="0" y="0"/>
                </a:moveTo>
                <a:lnTo>
                  <a:pt x="3978481" y="0"/>
                </a:lnTo>
                <a:lnTo>
                  <a:pt x="3978481" y="2488359"/>
                </a:lnTo>
                <a:lnTo>
                  <a:pt x="0" y="2488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18"/>
          <p:cNvSpPr/>
          <p:nvPr/>
        </p:nvSpPr>
        <p:spPr>
          <a:xfrm>
            <a:off x="-104316" y="7226746"/>
            <a:ext cx="3297798" cy="3321958"/>
          </a:xfrm>
          <a:custGeom>
            <a:rect b="b" l="l" r="r" t="t"/>
            <a:pathLst>
              <a:path extrusionOk="0" h="3321958" w="3297798">
                <a:moveTo>
                  <a:pt x="0" y="0"/>
                </a:moveTo>
                <a:lnTo>
                  <a:pt x="3297798" y="0"/>
                </a:lnTo>
                <a:lnTo>
                  <a:pt x="3297798" y="3321958"/>
                </a:lnTo>
                <a:lnTo>
                  <a:pt x="0" y="3321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/>
          <p:nvPr/>
        </p:nvSpPr>
        <p:spPr>
          <a:xfrm>
            <a:off x="-1233930" y="6532494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9"/>
          <p:cNvSpPr/>
          <p:nvPr/>
        </p:nvSpPr>
        <p:spPr>
          <a:xfrm>
            <a:off x="-356092" y="7180478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2" y="0"/>
                </a:lnTo>
                <a:lnTo>
                  <a:pt x="3175102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9"/>
          <p:cNvSpPr/>
          <p:nvPr/>
        </p:nvSpPr>
        <p:spPr>
          <a:xfrm>
            <a:off x="557426" y="7786256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9"/>
          <p:cNvSpPr/>
          <p:nvPr/>
        </p:nvSpPr>
        <p:spPr>
          <a:xfrm rot="1948438">
            <a:off x="15568259" y="7108423"/>
            <a:ext cx="2790932" cy="4299755"/>
          </a:xfrm>
          <a:custGeom>
            <a:rect b="b" l="l" r="r" t="t"/>
            <a:pathLst>
              <a:path extrusionOk="0" h="4299755" w="2790932">
                <a:moveTo>
                  <a:pt x="0" y="0"/>
                </a:moveTo>
                <a:lnTo>
                  <a:pt x="2790932" y="0"/>
                </a:lnTo>
                <a:lnTo>
                  <a:pt x="2790932" y="4299754"/>
                </a:lnTo>
                <a:lnTo>
                  <a:pt x="0" y="4299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6" name="Google Shape;346;p19"/>
          <p:cNvGrpSpPr/>
          <p:nvPr/>
        </p:nvGrpSpPr>
        <p:grpSpPr>
          <a:xfrm>
            <a:off x="4902758" y="746755"/>
            <a:ext cx="10233332" cy="7733813"/>
            <a:chOff x="0" y="-19050"/>
            <a:chExt cx="13644443" cy="10311749"/>
          </a:xfrm>
        </p:grpSpPr>
        <p:sp>
          <p:nvSpPr>
            <p:cNvPr id="347" name="Google Shape;347;p19"/>
            <p:cNvSpPr txBox="1"/>
            <p:nvPr/>
          </p:nvSpPr>
          <p:spPr>
            <a:xfrm>
              <a:off x="0" y="-19050"/>
              <a:ext cx="12171099" cy="2190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TỔNG KẾT HỆ THỐNG QUY TRÌNH PHONG VŨ</a:t>
              </a:r>
              <a:endParaRPr/>
            </a:p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599" u="none" cap="none" strike="noStrike">
                <a:solidFill>
                  <a:srgbClr val="F7B4A7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48" name="Google Shape;348;p19"/>
            <p:cNvSpPr txBox="1"/>
            <p:nvPr/>
          </p:nvSpPr>
          <p:spPr>
            <a:xfrm>
              <a:off x="0" y="3549407"/>
              <a:ext cx="13644443" cy="674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TỔNG CỘNG 6 QUY TRÌNH NGHIỆP VỤ ĐƯỢC MÔ HÌNH HÓA BPMN VÀ PHÂN TÍCH ĐỊNH TÍNH + ĐỊNH LƯỢNG</a:t>
              </a:r>
              <a:endParaRPr/>
            </a:p>
            <a:p>
              <a:pPr indent="0" lvl="0" marL="0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ĐIỂM MẠNH: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PHÂN VAI RÕ RÀNG GIỮA CÁC BỘ PHẬN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CÓ SỰ KẾT NỐI GIỮA CHIẾN LƯỢC – VẬN HÀNH – KHÁCH HÀNG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HỆ THỐNG ERP VÀ WEBSITE LÀ NỀN TẢNG SỐ HÓA HIỆU QUẢ</a:t>
              </a:r>
              <a:endParaRPr/>
            </a:p>
            <a:p>
              <a:pPr indent="0" lvl="0" marL="0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HẠN CHẾ: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MỘT SỐ BƯỚC CÒN THỦ CÔNG, QUY TRÌNH PHÊ DUYỆT CHẬM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THIẾU TÍCH HỢP LIÊN BỘ PHẬN, DỮ LIỆU PHÂN TÁN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TỒN TẠI LÃNG PHÍ: WAITING, OVER-PROCESSING, DELAY</a:t>
              </a:r>
              <a:endParaRPr/>
            </a:p>
            <a:p>
              <a:pPr indent="0" lvl="0" marL="0" marR="0" rtl="0" algn="l">
                <a:lnSpc>
                  <a:spcPct val="1980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349" name="Google Shape;349;p19"/>
          <p:cNvSpPr/>
          <p:nvPr/>
        </p:nvSpPr>
        <p:spPr>
          <a:xfrm>
            <a:off x="468478" y="474301"/>
            <a:ext cx="3867584" cy="1473365"/>
          </a:xfrm>
          <a:custGeom>
            <a:rect b="b" l="l" r="r" t="t"/>
            <a:pathLst>
              <a:path extrusionOk="0" h="1473365" w="3867584">
                <a:moveTo>
                  <a:pt x="0" y="0"/>
                </a:moveTo>
                <a:lnTo>
                  <a:pt x="3867585" y="0"/>
                </a:lnTo>
                <a:lnTo>
                  <a:pt x="3867585" y="1473366"/>
                </a:lnTo>
                <a:lnTo>
                  <a:pt x="0" y="1473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/>
          <p:nvPr/>
        </p:nvSpPr>
        <p:spPr>
          <a:xfrm>
            <a:off x="-1233930" y="6532494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20"/>
          <p:cNvSpPr/>
          <p:nvPr/>
        </p:nvSpPr>
        <p:spPr>
          <a:xfrm>
            <a:off x="-356092" y="7180478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2" y="0"/>
                </a:lnTo>
                <a:lnTo>
                  <a:pt x="3175102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20"/>
          <p:cNvSpPr/>
          <p:nvPr/>
        </p:nvSpPr>
        <p:spPr>
          <a:xfrm>
            <a:off x="557426" y="7786256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20"/>
          <p:cNvSpPr/>
          <p:nvPr/>
        </p:nvSpPr>
        <p:spPr>
          <a:xfrm rot="1948438">
            <a:off x="15568259" y="7108423"/>
            <a:ext cx="2790932" cy="4299755"/>
          </a:xfrm>
          <a:custGeom>
            <a:rect b="b" l="l" r="r" t="t"/>
            <a:pathLst>
              <a:path extrusionOk="0" h="4299755" w="2790932">
                <a:moveTo>
                  <a:pt x="0" y="0"/>
                </a:moveTo>
                <a:lnTo>
                  <a:pt x="2790932" y="0"/>
                </a:lnTo>
                <a:lnTo>
                  <a:pt x="2790932" y="4299754"/>
                </a:lnTo>
                <a:lnTo>
                  <a:pt x="0" y="4299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8" name="Google Shape;358;p20"/>
          <p:cNvGrpSpPr/>
          <p:nvPr/>
        </p:nvGrpSpPr>
        <p:grpSpPr>
          <a:xfrm>
            <a:off x="5107437" y="841222"/>
            <a:ext cx="10233332" cy="7545172"/>
            <a:chOff x="0" y="-19050"/>
            <a:chExt cx="13644443" cy="10060229"/>
          </a:xfrm>
        </p:grpSpPr>
        <p:sp>
          <p:nvSpPr>
            <p:cNvPr id="359" name="Google Shape;359;p20"/>
            <p:cNvSpPr txBox="1"/>
            <p:nvPr/>
          </p:nvSpPr>
          <p:spPr>
            <a:xfrm>
              <a:off x="0" y="-19050"/>
              <a:ext cx="12171099" cy="1466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ĐỀ XUẤT CẢI TIẾN HỆ THỐNG QUY TRÌNH</a:t>
              </a:r>
              <a:endParaRPr/>
            </a:p>
          </p:txBody>
        </p:sp>
        <p:sp>
          <p:nvSpPr>
            <p:cNvPr id="360" name="Google Shape;360;p20"/>
            <p:cNvSpPr txBox="1"/>
            <p:nvPr/>
          </p:nvSpPr>
          <p:spPr>
            <a:xfrm>
              <a:off x="0" y="2825551"/>
              <a:ext cx="13644443" cy="7215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ÁP DỤNG TỰ ĐỘNG HÓA QUY TRÌNH: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SỬ DỤNG HỆ THỐNG PHÊ DUYỆT ONLINE THAY CHO EMAIL THỦ CÔNG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KẾT NỐI LIÊN PHÒNG BAN BẰNG DASHBOARD TÍCH HỢP KPI</a:t>
              </a:r>
              <a:endParaRPr/>
            </a:p>
            <a:p>
              <a:pPr indent="0" lvl="0" marL="0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CHUẨN HÓA FORM ĐẦU VÀO: PHIẾU IT, MẪU ĐÁNH GIÁ NCC, MẪU KẾ HOẠCH BÁN HÀNG</a:t>
              </a:r>
              <a:endParaRPr/>
            </a:p>
            <a:p>
              <a:pPr indent="0" lvl="0" marL="0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TRIỂN KHAI THÊM CÔNG CỤ HỖ TRỢ: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 BI: THEO DÕI KPI REAL-TIME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DAM (DIGITAL ASSET MANAGEMENT): QUẢN LÝ TÀI LIỆU MARKETING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CAMPAIGN MANAGEMENT SYSTEM: KIỂM SOÁT TOÀN BỘ CHIẾN DỊCH</a:t>
              </a:r>
              <a:endParaRPr/>
            </a:p>
          </p:txBody>
        </p:sp>
      </p:grpSp>
      <p:sp>
        <p:nvSpPr>
          <p:cNvPr id="361" name="Google Shape;361;p20"/>
          <p:cNvSpPr/>
          <p:nvPr/>
        </p:nvSpPr>
        <p:spPr>
          <a:xfrm>
            <a:off x="468478" y="474301"/>
            <a:ext cx="3867584" cy="1473365"/>
          </a:xfrm>
          <a:custGeom>
            <a:rect b="b" l="l" r="r" t="t"/>
            <a:pathLst>
              <a:path extrusionOk="0" h="1473365" w="3867584">
                <a:moveTo>
                  <a:pt x="0" y="0"/>
                </a:moveTo>
                <a:lnTo>
                  <a:pt x="3867585" y="0"/>
                </a:lnTo>
                <a:lnTo>
                  <a:pt x="3867585" y="1473366"/>
                </a:lnTo>
                <a:lnTo>
                  <a:pt x="0" y="1473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"/>
          <p:cNvSpPr/>
          <p:nvPr/>
        </p:nvSpPr>
        <p:spPr>
          <a:xfrm>
            <a:off x="-1233930" y="6532494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21"/>
          <p:cNvSpPr/>
          <p:nvPr/>
        </p:nvSpPr>
        <p:spPr>
          <a:xfrm>
            <a:off x="-356092" y="7180478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2" y="0"/>
                </a:lnTo>
                <a:lnTo>
                  <a:pt x="3175102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8" name="Google Shape;368;p21"/>
          <p:cNvSpPr/>
          <p:nvPr/>
        </p:nvSpPr>
        <p:spPr>
          <a:xfrm>
            <a:off x="557426" y="7786256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21"/>
          <p:cNvSpPr/>
          <p:nvPr/>
        </p:nvSpPr>
        <p:spPr>
          <a:xfrm rot="1948438">
            <a:off x="15568259" y="7108423"/>
            <a:ext cx="2790932" cy="4299755"/>
          </a:xfrm>
          <a:custGeom>
            <a:rect b="b" l="l" r="r" t="t"/>
            <a:pathLst>
              <a:path extrusionOk="0" h="4299755" w="2790932">
                <a:moveTo>
                  <a:pt x="0" y="0"/>
                </a:moveTo>
                <a:lnTo>
                  <a:pt x="2790932" y="0"/>
                </a:lnTo>
                <a:lnTo>
                  <a:pt x="2790932" y="4299754"/>
                </a:lnTo>
                <a:lnTo>
                  <a:pt x="0" y="4299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0" name="Google Shape;370;p21"/>
          <p:cNvGrpSpPr/>
          <p:nvPr/>
        </p:nvGrpSpPr>
        <p:grpSpPr>
          <a:xfrm>
            <a:off x="4949991" y="2263767"/>
            <a:ext cx="10233332" cy="5745178"/>
            <a:chOff x="0" y="-19050"/>
            <a:chExt cx="13644443" cy="7660239"/>
          </a:xfrm>
        </p:grpSpPr>
        <p:sp>
          <p:nvSpPr>
            <p:cNvPr id="371" name="Google Shape;371;p21"/>
            <p:cNvSpPr txBox="1"/>
            <p:nvPr/>
          </p:nvSpPr>
          <p:spPr>
            <a:xfrm>
              <a:off x="0" y="-19050"/>
              <a:ext cx="12171099" cy="742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7B4A7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LỢI ÍCH TỪ CẢI TIẾN QUY TRÌNH</a:t>
              </a:r>
              <a:endParaRPr/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0" y="2101696"/>
              <a:ext cx="13644443" cy="55394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RÚT NGẮN THỜI GIAN XỬ LÝ QUY TRÌNH TỪ 10–25%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GIẢM CHI PHÍ VẬN HÀNH DO TIẾT KIỆM THỜI GIAN VÀ NHÂN LỰC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TĂNG SỰ HÀI LÒNG KHÁCH HÀNG, ĐỘ CHÍNH XÁC TRONG GIAO HÀNG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CẢI THIỆN CÁC CHỈ SỐ KPI:</a:t>
              </a:r>
              <a:endParaRPr/>
            </a:p>
            <a:p>
              <a:pPr indent="-287866" lvl="2" marL="8636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ROAS, CTR, CPA, OTIF, AOV, SLA</a:t>
              </a:r>
              <a:endParaRPr/>
            </a:p>
            <a:p>
              <a:pPr indent="-215900" lvl="1" marL="431801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DDDE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TẠO LỢI THẾ CẠNH TRANH TRƯỚC CÁC ĐỐI THỦ LỚN NHƯ CELLPHONES, TGDĐ</a:t>
              </a:r>
              <a:endParaRPr/>
            </a:p>
            <a:p>
              <a:pPr indent="0" lvl="0" marL="0" marR="0" rtl="0" algn="l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373" name="Google Shape;373;p21"/>
          <p:cNvSpPr/>
          <p:nvPr/>
        </p:nvSpPr>
        <p:spPr>
          <a:xfrm>
            <a:off x="468478" y="474301"/>
            <a:ext cx="3867584" cy="1473365"/>
          </a:xfrm>
          <a:custGeom>
            <a:rect b="b" l="l" r="r" t="t"/>
            <a:pathLst>
              <a:path extrusionOk="0" h="1473365" w="3867584">
                <a:moveTo>
                  <a:pt x="0" y="0"/>
                </a:moveTo>
                <a:lnTo>
                  <a:pt x="3867585" y="0"/>
                </a:lnTo>
                <a:lnTo>
                  <a:pt x="3867585" y="1473366"/>
                </a:lnTo>
                <a:lnTo>
                  <a:pt x="0" y="1473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4B82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/>
          <p:nvPr/>
        </p:nvSpPr>
        <p:spPr>
          <a:xfrm>
            <a:off x="-1233930" y="6532494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22"/>
          <p:cNvSpPr/>
          <p:nvPr/>
        </p:nvSpPr>
        <p:spPr>
          <a:xfrm>
            <a:off x="-356092" y="7180478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2" y="0"/>
                </a:lnTo>
                <a:lnTo>
                  <a:pt x="3175102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22"/>
          <p:cNvSpPr/>
          <p:nvPr/>
        </p:nvSpPr>
        <p:spPr>
          <a:xfrm>
            <a:off x="557426" y="7786256"/>
            <a:ext cx="3175101" cy="4197850"/>
          </a:xfrm>
          <a:custGeom>
            <a:rect b="b" l="l" r="r" t="t"/>
            <a:pathLst>
              <a:path extrusionOk="0" h="4197850" w="3175101">
                <a:moveTo>
                  <a:pt x="0" y="0"/>
                </a:moveTo>
                <a:lnTo>
                  <a:pt x="3175101" y="0"/>
                </a:lnTo>
                <a:lnTo>
                  <a:pt x="3175101" y="4197850"/>
                </a:lnTo>
                <a:lnTo>
                  <a:pt x="0" y="4197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2"/>
          <p:cNvSpPr/>
          <p:nvPr/>
        </p:nvSpPr>
        <p:spPr>
          <a:xfrm rot="1948438">
            <a:off x="15568259" y="7108423"/>
            <a:ext cx="2790932" cy="4299755"/>
          </a:xfrm>
          <a:custGeom>
            <a:rect b="b" l="l" r="r" t="t"/>
            <a:pathLst>
              <a:path extrusionOk="0" h="4299755" w="2790932">
                <a:moveTo>
                  <a:pt x="0" y="0"/>
                </a:moveTo>
                <a:lnTo>
                  <a:pt x="2790932" y="0"/>
                </a:lnTo>
                <a:lnTo>
                  <a:pt x="2790932" y="4299754"/>
                </a:lnTo>
                <a:lnTo>
                  <a:pt x="0" y="4299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22"/>
          <p:cNvSpPr txBox="1"/>
          <p:nvPr/>
        </p:nvSpPr>
        <p:spPr>
          <a:xfrm>
            <a:off x="4949991" y="2268529"/>
            <a:ext cx="9128325" cy="7020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7B4A7"/>
                </a:solidFill>
                <a:latin typeface="Josefin Sans"/>
                <a:ea typeface="Josefin Sans"/>
                <a:cs typeface="Josefin Sans"/>
                <a:sym typeface="Josefin Sans"/>
              </a:rPr>
              <a:t>KẾT LUẬN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Hệ thống quy trình nghiệp vụ của Phong Vũ có nền tảng bài bản, mô hình hóa rõ ràng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Tuy nhiên, một số khâu còn hạn chế cần tối ưu bằng công nghệ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Việc cải tiến sẽ giúp doanh nghiệp: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Tăng hiệu suất nội bộ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Giảm chi phí và thời gian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Nâng cao trải nghiệm khách hàng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C0D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CC0DF"/>
                </a:solidFill>
                <a:latin typeface="Josefin Sans"/>
                <a:ea typeface="Josefin Sans"/>
                <a:cs typeface="Josefin Sans"/>
                <a:sym typeface="Josefin Sans"/>
              </a:rPr>
              <a:t>Đây là hướng đi bắt buộc để Phong Vũ giữ vững và phát triển vị thế trên thị trường bán lẻ công nghệ tại Việt Nam</a:t>
            </a:r>
            <a:endParaRPr/>
          </a:p>
          <a:p>
            <a:pPr indent="0" lvl="0" marL="0" marR="0" rtl="0" algn="l">
              <a:lnSpc>
                <a:spcPct val="134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CC0D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468478" y="474301"/>
            <a:ext cx="3867584" cy="1473365"/>
          </a:xfrm>
          <a:custGeom>
            <a:rect b="b" l="l" r="r" t="t"/>
            <a:pathLst>
              <a:path extrusionOk="0" h="1473365" w="3867584">
                <a:moveTo>
                  <a:pt x="0" y="0"/>
                </a:moveTo>
                <a:lnTo>
                  <a:pt x="3867585" y="0"/>
                </a:lnTo>
                <a:lnTo>
                  <a:pt x="3867585" y="1473366"/>
                </a:lnTo>
                <a:lnTo>
                  <a:pt x="0" y="1473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